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FinPath exists because Indian students receive no structured financial education before they start earning. Existing platforms optimise for transactions and investing; none provide a regulatory-grounded, learning-first layer. FinPath combines curriculum, fact-grounded AI and behavioural intelligence to move a student from allowance to wealth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engines, one core. The AI engine answers only from verified regulatory text. The learning engine adapts curriculum to the student's level. The behavioural engine reads spending and nudges. All three read from and write to a shared intelligence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Regulatory documents enter from outside the trust boundary and are chunked, embedded and indexed into the knowledge base. Transaction data enters only through the Sahamati Account Aggregator consent framework. OpenAI is called for embeddings and generation but holds no state. Everything persistent lives in the data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query is vectorised, matched against the FAISS index of chunked regulatory text, and the top-K passages become the only context the LLM is permitted to use. Underneath, the Dynamic Sync Layer watches official portals so a new circular triggers re-indexing rather than leaving the model on stale regulation.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novel contribution is the Hybrid Intelligence Lifecycle. A heuristic rule engine delivers value on day one with no historical data, while quietly building the feature store Phase 2 machine learning needs. Transfer learning from broader consumer cohorts plus synthetic augmentation addresses the student cold-start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guarantees matter. Async FastAPI keeps concurrent AI calls from blocking each other. Supabase gives ACID persistence appropriate for financial records. And transaction data arrives only through the RBI-regulated Account Aggregator consent framework, never by scraping 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compounds outward: the individual student, then the campus through ERP integration, then the wider ecosystem through partnerships and the SEBI Innovation Sandbox pathway. The six-month roadmap ends at sandbox submission, which is the regulatory door to real-world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75488"/>
            <a:ext cx="5120640" cy="566928"/>
          </a:xfrm>
          <a:prstGeom prst="rect">
            <a:avLst/>
          </a:prstGeom>
          <a:noFill/>
          <a:ln/>
        </p:spPr>
        <p:txBody>
          <a:bodyPr wrap="square" lIns="0" tIns="0" rIns="0" bIns="0" rtlCol="0" anchor="ctr"/>
          <a:lstStyle/>
          <a:p>
            <a:pPr indent="0" marL="0">
              <a:buNone/>
            </a:pPr>
            <a:r>
              <a:rPr lang="en-US" sz="3600" b="1" dirty="0">
                <a:solidFill>
                  <a:srgbClr val="12151B"/>
                </a:solidFill>
                <a:latin typeface="Inter" pitchFamily="34" charset="0"/>
                <a:ea typeface="Inter" pitchFamily="34" charset="-122"/>
                <a:cs typeface="Inter" pitchFamily="34" charset="-120"/>
              </a:rPr>
              <a:t>FinPath India</a:t>
            </a:r>
            <a:endParaRPr lang="en-US" sz="3600" dirty="0"/>
          </a:p>
        </p:txBody>
      </p:sp>
      <p:sp>
        <p:nvSpPr>
          <p:cNvPr id="3" name="Text 1"/>
          <p:cNvSpPr/>
          <p:nvPr/>
        </p:nvSpPr>
        <p:spPr>
          <a:xfrm>
            <a:off x="457200" y="1078992"/>
            <a:ext cx="4937760" cy="274320"/>
          </a:xfrm>
          <a:prstGeom prst="rect">
            <a:avLst/>
          </a:prstGeom>
          <a:noFill/>
          <a:ln/>
        </p:spPr>
        <p:txBody>
          <a:bodyPr wrap="square" lIns="0" tIns="0" rIns="0" bIns="0" rtlCol="0" anchor="ctr"/>
          <a:lstStyle/>
          <a:p>
            <a:pPr indent="0" marL="0">
              <a:buNone/>
            </a:pPr>
            <a:r>
              <a:rPr lang="en-US" sz="1350" dirty="0">
                <a:solidFill>
                  <a:srgbClr val="2E7D8F"/>
                </a:solidFill>
                <a:latin typeface="Inter" pitchFamily="34" charset="0"/>
                <a:ea typeface="Inter" pitchFamily="34" charset="-122"/>
                <a:cs typeface="Inter" pitchFamily="34" charset="-120"/>
              </a:rPr>
              <a:t>From Receiving an Allowance to Building Wealth</a:t>
            </a:r>
            <a:endParaRPr lang="en-US" sz="1350" dirty="0"/>
          </a:p>
        </p:txBody>
      </p:sp>
      <p:sp>
        <p:nvSpPr>
          <p:cNvPr id="4" name="Text 2"/>
          <p:cNvSpPr/>
          <p:nvPr/>
        </p:nvSpPr>
        <p:spPr>
          <a:xfrm>
            <a:off x="457200" y="1719072"/>
            <a:ext cx="3657600" cy="182880"/>
          </a:xfrm>
          <a:prstGeom prst="rect">
            <a:avLst/>
          </a:prstGeom>
          <a:noFill/>
          <a:ln/>
        </p:spPr>
        <p:txBody>
          <a:bodyPr wrap="square" lIns="0" tIns="0" rIns="0" bIns="0" rtlCol="0" anchor="ctr"/>
          <a:lstStyle/>
          <a:p>
            <a:pPr indent="0" marL="0">
              <a:buNone/>
            </a:pPr>
            <a:r>
              <a:rPr lang="en-US" sz="800" b="1" spc="140" kern="0" dirty="0">
                <a:solidFill>
                  <a:srgbClr val="9BA3AE"/>
                </a:solidFill>
                <a:latin typeface="Inter" pitchFamily="34" charset="0"/>
                <a:ea typeface="Inter" pitchFamily="34" charset="-122"/>
                <a:cs typeface="Inter" pitchFamily="34" charset="-120"/>
              </a:rPr>
              <a:t>THE GAP</a:t>
            </a:r>
            <a:endParaRPr lang="en-US" sz="800" dirty="0"/>
          </a:p>
        </p:txBody>
      </p:sp>
      <p:sp>
        <p:nvSpPr>
          <p:cNvPr id="5" name="Text 3"/>
          <p:cNvSpPr/>
          <p:nvPr/>
        </p:nvSpPr>
        <p:spPr>
          <a:xfrm>
            <a:off x="457200" y="1993392"/>
            <a:ext cx="4846320" cy="182880"/>
          </a:xfrm>
          <a:prstGeom prst="rect">
            <a:avLst/>
          </a:prstGeom>
          <a:noFill/>
          <a:ln/>
        </p:spPr>
        <p:txBody>
          <a:bodyPr wrap="square" lIns="0" tIns="0" rIns="0" bIns="0" rtlCol="0" anchor="ctr"/>
          <a:lstStyle/>
          <a:p>
            <a:pPr indent="0" marL="0">
              <a:buNone/>
            </a:pPr>
            <a:r>
              <a:rPr lang="en-US" sz="1050" b="1" dirty="0">
                <a:solidFill>
                  <a:srgbClr val="12151B"/>
                </a:solidFill>
                <a:latin typeface="Inter" pitchFamily="34" charset="0"/>
                <a:ea typeface="Inter" pitchFamily="34" charset="-122"/>
                <a:cs typeface="Inter" pitchFamily="34" charset="-120"/>
              </a:rPr>
              <a:t>Financial literacy gap</a:t>
            </a:r>
            <a:endParaRPr lang="en-US" sz="1050" dirty="0"/>
          </a:p>
        </p:txBody>
      </p:sp>
      <p:sp>
        <p:nvSpPr>
          <p:cNvPr id="6" name="Text 4"/>
          <p:cNvSpPr/>
          <p:nvPr/>
        </p:nvSpPr>
        <p:spPr>
          <a:xfrm>
            <a:off x="457200" y="2176272"/>
            <a:ext cx="4846320" cy="274320"/>
          </a:xfrm>
          <a:prstGeom prst="rect">
            <a:avLst/>
          </a:prstGeom>
          <a:noFill/>
          <a:ln/>
        </p:spPr>
        <p:txBody>
          <a:bodyPr wrap="square" lIns="0" tIns="0" rIns="0" bIns="0" rtlCol="0" anchor="ctr"/>
          <a:lstStyle/>
          <a:p>
            <a:pPr indent="0" marL="0">
              <a:buNone/>
            </a:pPr>
            <a:r>
              <a:rPr lang="en-US" sz="900" dirty="0">
                <a:solidFill>
                  <a:srgbClr val="6B7280"/>
                </a:solidFill>
                <a:latin typeface="Inter" pitchFamily="34" charset="0"/>
                <a:ea typeface="Inter" pitchFamily="34" charset="-122"/>
                <a:cs typeface="Inter" pitchFamily="34" charset="-120"/>
              </a:rPr>
              <a:t>73% of Indian youth lack basic financial literacy  ·  NCFE Survey</a:t>
            </a:r>
            <a:endParaRPr lang="en-US" sz="900" dirty="0"/>
          </a:p>
        </p:txBody>
      </p:sp>
      <p:sp>
        <p:nvSpPr>
          <p:cNvPr id="7" name="Text 5"/>
          <p:cNvSpPr/>
          <p:nvPr/>
        </p:nvSpPr>
        <p:spPr>
          <a:xfrm>
            <a:off x="457200" y="2542032"/>
            <a:ext cx="4846320" cy="182880"/>
          </a:xfrm>
          <a:prstGeom prst="rect">
            <a:avLst/>
          </a:prstGeom>
          <a:noFill/>
          <a:ln/>
        </p:spPr>
        <p:txBody>
          <a:bodyPr wrap="square" lIns="0" tIns="0" rIns="0" bIns="0" rtlCol="0" anchor="ctr"/>
          <a:lstStyle/>
          <a:p>
            <a:pPr indent="0" marL="0">
              <a:buNone/>
            </a:pPr>
            <a:r>
              <a:rPr lang="en-US" sz="1050" b="1" dirty="0">
                <a:solidFill>
                  <a:srgbClr val="12151B"/>
                </a:solidFill>
                <a:latin typeface="Inter" pitchFamily="34" charset="0"/>
                <a:ea typeface="Inter" pitchFamily="34" charset="-122"/>
                <a:cs typeface="Inter" pitchFamily="34" charset="-120"/>
              </a:rPr>
              <a:t>Gen-Z behaviour</a:t>
            </a:r>
            <a:endParaRPr lang="en-US" sz="1050" dirty="0"/>
          </a:p>
        </p:txBody>
      </p:sp>
      <p:sp>
        <p:nvSpPr>
          <p:cNvPr id="8" name="Text 6"/>
          <p:cNvSpPr/>
          <p:nvPr/>
        </p:nvSpPr>
        <p:spPr>
          <a:xfrm>
            <a:off x="457200" y="2724912"/>
            <a:ext cx="4846320" cy="274320"/>
          </a:xfrm>
          <a:prstGeom prst="rect">
            <a:avLst/>
          </a:prstGeom>
          <a:noFill/>
          <a:ln/>
        </p:spPr>
        <p:txBody>
          <a:bodyPr wrap="square" lIns="0" tIns="0" rIns="0" bIns="0" rtlCol="0" anchor="ctr"/>
          <a:lstStyle/>
          <a:p>
            <a:pPr indent="0" marL="0">
              <a:buNone/>
            </a:pPr>
            <a:r>
              <a:rPr lang="en-US" sz="900" dirty="0">
                <a:solidFill>
                  <a:srgbClr val="6B7280"/>
                </a:solidFill>
                <a:latin typeface="Inter" pitchFamily="34" charset="0"/>
                <a:ea typeface="Inter" pitchFamily="34" charset="-122"/>
                <a:cs typeface="Inter" pitchFamily="34" charset="-120"/>
              </a:rPr>
              <a:t>1.8% Gen-Z credit card default rate, 2026  ·  RBI Data</a:t>
            </a:r>
            <a:endParaRPr lang="en-US" sz="900" dirty="0"/>
          </a:p>
        </p:txBody>
      </p:sp>
      <p:sp>
        <p:nvSpPr>
          <p:cNvPr id="9" name="Text 7"/>
          <p:cNvSpPr/>
          <p:nvPr/>
        </p:nvSpPr>
        <p:spPr>
          <a:xfrm>
            <a:off x="457200" y="3090672"/>
            <a:ext cx="4846320" cy="182880"/>
          </a:xfrm>
          <a:prstGeom prst="rect">
            <a:avLst/>
          </a:prstGeom>
          <a:noFill/>
          <a:ln/>
        </p:spPr>
        <p:txBody>
          <a:bodyPr wrap="square" lIns="0" tIns="0" rIns="0" bIns="0" rtlCol="0" anchor="ctr"/>
          <a:lstStyle/>
          <a:p>
            <a:pPr indent="0" marL="0">
              <a:buNone/>
            </a:pPr>
            <a:r>
              <a:rPr lang="en-US" sz="1050" b="1" dirty="0">
                <a:solidFill>
                  <a:srgbClr val="12151B"/>
                </a:solidFill>
                <a:latin typeface="Inter" pitchFamily="34" charset="0"/>
                <a:ea typeface="Inter" pitchFamily="34" charset="-122"/>
                <a:cs typeface="Inter" pitchFamily="34" charset="-120"/>
              </a:rPr>
              <a:t>Platform gap</a:t>
            </a:r>
            <a:endParaRPr lang="en-US" sz="1050" dirty="0"/>
          </a:p>
        </p:txBody>
      </p:sp>
      <p:sp>
        <p:nvSpPr>
          <p:cNvPr id="10" name="Text 8"/>
          <p:cNvSpPr/>
          <p:nvPr/>
        </p:nvSpPr>
        <p:spPr>
          <a:xfrm>
            <a:off x="457200" y="3273552"/>
            <a:ext cx="4846320" cy="274320"/>
          </a:xfrm>
          <a:prstGeom prst="rect">
            <a:avLst/>
          </a:prstGeom>
          <a:noFill/>
          <a:ln/>
        </p:spPr>
        <p:txBody>
          <a:bodyPr wrap="square" lIns="0" tIns="0" rIns="0" bIns="0" rtlCol="0" anchor="ctr"/>
          <a:lstStyle/>
          <a:p>
            <a:pPr indent="0" marL="0">
              <a:buNone/>
            </a:pPr>
            <a:r>
              <a:rPr lang="en-US" sz="900" dirty="0">
                <a:solidFill>
                  <a:srgbClr val="6B7280"/>
                </a:solidFill>
                <a:latin typeface="Inter" pitchFamily="34" charset="0"/>
                <a:ea typeface="Inter" pitchFamily="34" charset="-122"/>
                <a:cs typeface="Inter" pitchFamily="34" charset="-120"/>
              </a:rPr>
              <a:t>Existing FinTech is transaction-first — no regulatory-grounded educational layer</a:t>
            </a:r>
            <a:endParaRPr lang="en-US" sz="900" dirty="0"/>
          </a:p>
        </p:txBody>
      </p:sp>
      <p:sp>
        <p:nvSpPr>
          <p:cNvPr id="11" name="Shape 9"/>
          <p:cNvSpPr/>
          <p:nvPr/>
        </p:nvSpPr>
        <p:spPr>
          <a:xfrm>
            <a:off x="457200" y="3877056"/>
            <a:ext cx="4846320" cy="457200"/>
          </a:xfrm>
          <a:prstGeom prst="rect">
            <a:avLst/>
          </a:prstGeom>
          <a:solidFill>
            <a:srgbClr val="F4F6F8"/>
          </a:solidFill>
          <a:ln w="11430">
            <a:solidFill>
              <a:srgbClr val="1B3A5C"/>
            </a:solidFill>
            <a:prstDash val="solid"/>
          </a:ln>
        </p:spPr>
      </p:sp>
      <p:sp>
        <p:nvSpPr>
          <p:cNvPr id="12" name="Text 10"/>
          <p:cNvSpPr/>
          <p:nvPr/>
        </p:nvSpPr>
        <p:spPr>
          <a:xfrm>
            <a:off x="457200" y="3877056"/>
            <a:ext cx="4846320" cy="457200"/>
          </a:xfrm>
          <a:prstGeom prst="rect">
            <a:avLst/>
          </a:prstGeom>
          <a:noFill/>
          <a:ln/>
        </p:spPr>
        <p:txBody>
          <a:bodyPr wrap="square" lIns="508" tIns="508" rIns="508" bIns="508" rtlCol="0" anchor="ctr"/>
          <a:lstStyle/>
          <a:p>
            <a:pPr algn="ctr" indent="0" marL="0">
              <a:buNone/>
            </a:pPr>
            <a:r>
              <a:rPr lang="en-US" sz="900" b="1" dirty="0">
                <a:solidFill>
                  <a:srgbClr val="1B3A5C"/>
                </a:solidFill>
                <a:latin typeface="Inter" pitchFamily="34" charset="0"/>
                <a:ea typeface="Inter" pitchFamily="34" charset="-122"/>
                <a:cs typeface="Inter" pitchFamily="34" charset="-120"/>
              </a:rPr>
              <a:t>FinPath  =  Learning  +  Fact-Grounded AI  +  Behavioral Intelligence</a:t>
            </a:r>
            <a:endParaRPr lang="en-US" sz="900" dirty="0"/>
          </a:p>
        </p:txBody>
      </p:sp>
      <p:sp>
        <p:nvSpPr>
          <p:cNvPr id="13" name="Text 11"/>
          <p:cNvSpPr/>
          <p:nvPr/>
        </p:nvSpPr>
        <p:spPr>
          <a:xfrm>
            <a:off x="5760720" y="512064"/>
            <a:ext cx="3657600" cy="182880"/>
          </a:xfrm>
          <a:prstGeom prst="rect">
            <a:avLst/>
          </a:prstGeom>
          <a:noFill/>
          <a:ln/>
        </p:spPr>
        <p:txBody>
          <a:bodyPr wrap="square" lIns="0" tIns="0" rIns="0" bIns="0" rtlCol="0" anchor="ctr"/>
          <a:lstStyle/>
          <a:p>
            <a:pPr indent="0" marL="0">
              <a:buNone/>
            </a:pPr>
            <a:r>
              <a:rPr lang="en-US" sz="800" b="1" spc="140" kern="0" dirty="0">
                <a:solidFill>
                  <a:srgbClr val="9BA3AE"/>
                </a:solidFill>
                <a:latin typeface="Inter" pitchFamily="34" charset="0"/>
                <a:ea typeface="Inter" pitchFamily="34" charset="-122"/>
                <a:cs typeface="Inter" pitchFamily="34" charset="-120"/>
              </a:rPr>
              <a:t>THE TRANSFORMATION</a:t>
            </a:r>
            <a:endParaRPr lang="en-US" sz="800" dirty="0"/>
          </a:p>
        </p:txBody>
      </p:sp>
      <p:sp>
        <p:nvSpPr>
          <p:cNvPr id="14" name="Shape 12"/>
          <p:cNvSpPr/>
          <p:nvPr/>
        </p:nvSpPr>
        <p:spPr>
          <a:xfrm>
            <a:off x="5760720" y="804672"/>
            <a:ext cx="2926080" cy="457200"/>
          </a:xfrm>
          <a:prstGeom prst="rect">
            <a:avLst/>
          </a:prstGeom>
          <a:solidFill>
            <a:srgbClr val="FFFFFF"/>
          </a:solidFill>
          <a:ln w="9525">
            <a:solidFill>
              <a:srgbClr val="D5DAE1"/>
            </a:solidFill>
            <a:prstDash val="solid"/>
          </a:ln>
        </p:spPr>
      </p:sp>
      <p:sp>
        <p:nvSpPr>
          <p:cNvPr id="15" name="Text 13"/>
          <p:cNvSpPr/>
          <p:nvPr/>
        </p:nvSpPr>
        <p:spPr>
          <a:xfrm>
            <a:off x="5760720" y="804672"/>
            <a:ext cx="2926080" cy="457200"/>
          </a:xfrm>
          <a:prstGeom prst="rect">
            <a:avLst/>
          </a:prstGeom>
          <a:noFill/>
          <a:ln/>
        </p:spPr>
        <p:txBody>
          <a:bodyPr wrap="square" lIns="254" tIns="254" rIns="254" bIns="254" rtlCol="0" anchor="ctr"/>
          <a:lstStyle/>
          <a:p>
            <a:pPr algn="ctr" indent="0" marL="0">
              <a:buNone/>
            </a:pPr>
            <a:r>
              <a:rPr lang="en-US" sz="1000" b="1" spc="80" kern="0" dirty="0">
                <a:solidFill>
                  <a:srgbClr val="2B303A"/>
                </a:solidFill>
                <a:latin typeface="Inter" pitchFamily="34" charset="0"/>
                <a:ea typeface="Inter" pitchFamily="34" charset="-122"/>
                <a:cs typeface="Inter" pitchFamily="34" charset="-120"/>
              </a:rPr>
              <a:t>ALLOWANCE</a:t>
            </a:r>
            <a:endParaRPr lang="en-US" sz="1000" dirty="0"/>
          </a:p>
        </p:txBody>
      </p:sp>
      <p:sp>
        <p:nvSpPr>
          <p:cNvPr id="16" name="Shape 14"/>
          <p:cNvSpPr/>
          <p:nvPr/>
        </p:nvSpPr>
        <p:spPr>
          <a:xfrm>
            <a:off x="7223760" y="1261872"/>
            <a:ext cx="0" cy="256032"/>
          </a:xfrm>
          <a:prstGeom prst="line">
            <a:avLst/>
          </a:prstGeom>
          <a:noFill/>
          <a:ln w="12700">
            <a:solidFill>
              <a:srgbClr val="AEB6C0"/>
            </a:solidFill>
            <a:prstDash val="solid"/>
            <a:tailEnd type="triangle"/>
          </a:ln>
        </p:spPr>
      </p:sp>
      <p:sp>
        <p:nvSpPr>
          <p:cNvPr id="17" name="Shape 15"/>
          <p:cNvSpPr/>
          <p:nvPr/>
        </p:nvSpPr>
        <p:spPr>
          <a:xfrm>
            <a:off x="5760720" y="1517904"/>
            <a:ext cx="2926080" cy="457200"/>
          </a:xfrm>
          <a:prstGeom prst="rect">
            <a:avLst/>
          </a:prstGeom>
          <a:solidFill>
            <a:srgbClr val="FFFFFF"/>
          </a:solidFill>
          <a:ln w="9525">
            <a:solidFill>
              <a:srgbClr val="D5DAE1"/>
            </a:solidFill>
            <a:prstDash val="solid"/>
          </a:ln>
        </p:spPr>
      </p:sp>
      <p:sp>
        <p:nvSpPr>
          <p:cNvPr id="18" name="Text 16"/>
          <p:cNvSpPr/>
          <p:nvPr/>
        </p:nvSpPr>
        <p:spPr>
          <a:xfrm>
            <a:off x="5760720" y="1517904"/>
            <a:ext cx="2926080" cy="457200"/>
          </a:xfrm>
          <a:prstGeom prst="rect">
            <a:avLst/>
          </a:prstGeom>
          <a:noFill/>
          <a:ln/>
        </p:spPr>
        <p:txBody>
          <a:bodyPr wrap="square" lIns="254" tIns="254" rIns="254" bIns="254" rtlCol="0" anchor="ctr"/>
          <a:lstStyle/>
          <a:p>
            <a:pPr algn="ctr" indent="0" marL="0">
              <a:buNone/>
            </a:pPr>
            <a:r>
              <a:rPr lang="en-US" sz="1000" b="1" spc="80" kern="0" dirty="0">
                <a:solidFill>
                  <a:srgbClr val="2B303A"/>
                </a:solidFill>
                <a:latin typeface="Inter" pitchFamily="34" charset="0"/>
                <a:ea typeface="Inter" pitchFamily="34" charset="-122"/>
                <a:cs typeface="Inter" pitchFamily="34" charset="-120"/>
              </a:rPr>
              <a:t>SPENDING</a:t>
            </a:r>
            <a:endParaRPr lang="en-US" sz="1000" dirty="0"/>
          </a:p>
        </p:txBody>
      </p:sp>
      <p:sp>
        <p:nvSpPr>
          <p:cNvPr id="19" name="Shape 17"/>
          <p:cNvSpPr/>
          <p:nvPr/>
        </p:nvSpPr>
        <p:spPr>
          <a:xfrm>
            <a:off x="7223760" y="1975104"/>
            <a:ext cx="0" cy="256032"/>
          </a:xfrm>
          <a:prstGeom prst="line">
            <a:avLst/>
          </a:prstGeom>
          <a:noFill/>
          <a:ln w="12700">
            <a:solidFill>
              <a:srgbClr val="AEB6C0"/>
            </a:solidFill>
            <a:prstDash val="solid"/>
            <a:tailEnd type="triangle"/>
          </a:ln>
        </p:spPr>
      </p:sp>
      <p:sp>
        <p:nvSpPr>
          <p:cNvPr id="20" name="Shape 18"/>
          <p:cNvSpPr/>
          <p:nvPr/>
        </p:nvSpPr>
        <p:spPr>
          <a:xfrm>
            <a:off x="5760720" y="2231136"/>
            <a:ext cx="2926080" cy="457200"/>
          </a:xfrm>
          <a:prstGeom prst="rect">
            <a:avLst/>
          </a:prstGeom>
          <a:solidFill>
            <a:srgbClr val="FFFFFF"/>
          </a:solidFill>
          <a:ln w="9525">
            <a:solidFill>
              <a:srgbClr val="D5DAE1"/>
            </a:solidFill>
            <a:prstDash val="solid"/>
          </a:ln>
        </p:spPr>
      </p:sp>
      <p:sp>
        <p:nvSpPr>
          <p:cNvPr id="21" name="Text 19"/>
          <p:cNvSpPr/>
          <p:nvPr/>
        </p:nvSpPr>
        <p:spPr>
          <a:xfrm>
            <a:off x="5760720" y="2231136"/>
            <a:ext cx="2926080" cy="457200"/>
          </a:xfrm>
          <a:prstGeom prst="rect">
            <a:avLst/>
          </a:prstGeom>
          <a:noFill/>
          <a:ln/>
        </p:spPr>
        <p:txBody>
          <a:bodyPr wrap="square" lIns="254" tIns="254" rIns="254" bIns="254" rtlCol="0" anchor="ctr"/>
          <a:lstStyle/>
          <a:p>
            <a:pPr algn="ctr" indent="0" marL="0">
              <a:buNone/>
            </a:pPr>
            <a:r>
              <a:rPr lang="en-US" sz="1000" b="1" spc="80" kern="0" dirty="0">
                <a:solidFill>
                  <a:srgbClr val="2B303A"/>
                </a:solidFill>
                <a:latin typeface="Inter" pitchFamily="34" charset="0"/>
                <a:ea typeface="Inter" pitchFamily="34" charset="-122"/>
                <a:cs typeface="Inter" pitchFamily="34" charset="-120"/>
              </a:rPr>
              <a:t>FINANCIAL AWARENESS</a:t>
            </a:r>
            <a:endParaRPr lang="en-US" sz="1000" dirty="0"/>
          </a:p>
        </p:txBody>
      </p:sp>
      <p:sp>
        <p:nvSpPr>
          <p:cNvPr id="22" name="Shape 20"/>
          <p:cNvSpPr/>
          <p:nvPr/>
        </p:nvSpPr>
        <p:spPr>
          <a:xfrm>
            <a:off x="7223760" y="2688336"/>
            <a:ext cx="0" cy="256032"/>
          </a:xfrm>
          <a:prstGeom prst="line">
            <a:avLst/>
          </a:prstGeom>
          <a:noFill/>
          <a:ln w="12700">
            <a:solidFill>
              <a:srgbClr val="AEB6C0"/>
            </a:solidFill>
            <a:prstDash val="solid"/>
            <a:tailEnd type="triangle"/>
          </a:ln>
        </p:spPr>
      </p:sp>
      <p:sp>
        <p:nvSpPr>
          <p:cNvPr id="23" name="Shape 21"/>
          <p:cNvSpPr/>
          <p:nvPr/>
        </p:nvSpPr>
        <p:spPr>
          <a:xfrm>
            <a:off x="5760720" y="2944368"/>
            <a:ext cx="2926080" cy="457200"/>
          </a:xfrm>
          <a:prstGeom prst="rect">
            <a:avLst/>
          </a:prstGeom>
          <a:solidFill>
            <a:srgbClr val="FFFFFF"/>
          </a:solidFill>
          <a:ln w="9525">
            <a:solidFill>
              <a:srgbClr val="D5DAE1"/>
            </a:solidFill>
            <a:prstDash val="solid"/>
          </a:ln>
        </p:spPr>
      </p:sp>
      <p:sp>
        <p:nvSpPr>
          <p:cNvPr id="24" name="Text 22"/>
          <p:cNvSpPr/>
          <p:nvPr/>
        </p:nvSpPr>
        <p:spPr>
          <a:xfrm>
            <a:off x="5760720" y="2944368"/>
            <a:ext cx="2926080" cy="457200"/>
          </a:xfrm>
          <a:prstGeom prst="rect">
            <a:avLst/>
          </a:prstGeom>
          <a:noFill/>
          <a:ln/>
        </p:spPr>
        <p:txBody>
          <a:bodyPr wrap="square" lIns="254" tIns="254" rIns="254" bIns="254" rtlCol="0" anchor="ctr"/>
          <a:lstStyle/>
          <a:p>
            <a:pPr algn="ctr" indent="0" marL="0">
              <a:buNone/>
            </a:pPr>
            <a:r>
              <a:rPr lang="en-US" sz="1000" b="1" spc="80" kern="0" dirty="0">
                <a:solidFill>
                  <a:srgbClr val="2B303A"/>
                </a:solidFill>
                <a:latin typeface="Inter" pitchFamily="34" charset="0"/>
                <a:ea typeface="Inter" pitchFamily="34" charset="-122"/>
                <a:cs typeface="Inter" pitchFamily="34" charset="-120"/>
              </a:rPr>
              <a:t>SMART DECISIONS</a:t>
            </a:r>
            <a:endParaRPr lang="en-US" sz="1000" dirty="0"/>
          </a:p>
        </p:txBody>
      </p:sp>
      <p:sp>
        <p:nvSpPr>
          <p:cNvPr id="25" name="Shape 23"/>
          <p:cNvSpPr/>
          <p:nvPr/>
        </p:nvSpPr>
        <p:spPr>
          <a:xfrm>
            <a:off x="7223760" y="3401568"/>
            <a:ext cx="0" cy="256032"/>
          </a:xfrm>
          <a:prstGeom prst="line">
            <a:avLst/>
          </a:prstGeom>
          <a:noFill/>
          <a:ln w="12700">
            <a:solidFill>
              <a:srgbClr val="AEB6C0"/>
            </a:solidFill>
            <a:prstDash val="solid"/>
            <a:tailEnd type="triangle"/>
          </a:ln>
        </p:spPr>
      </p:sp>
      <p:sp>
        <p:nvSpPr>
          <p:cNvPr id="26" name="Shape 24"/>
          <p:cNvSpPr/>
          <p:nvPr/>
        </p:nvSpPr>
        <p:spPr>
          <a:xfrm>
            <a:off x="5760720" y="3657600"/>
            <a:ext cx="2926080" cy="457200"/>
          </a:xfrm>
          <a:prstGeom prst="rect">
            <a:avLst/>
          </a:prstGeom>
          <a:solidFill>
            <a:srgbClr val="EAF1F3"/>
          </a:solidFill>
          <a:ln w="12700">
            <a:solidFill>
              <a:srgbClr val="2E7D8F"/>
            </a:solidFill>
            <a:prstDash val="solid"/>
          </a:ln>
        </p:spPr>
      </p:sp>
      <p:sp>
        <p:nvSpPr>
          <p:cNvPr id="27" name="Text 25"/>
          <p:cNvSpPr/>
          <p:nvPr/>
        </p:nvSpPr>
        <p:spPr>
          <a:xfrm>
            <a:off x="5760720" y="3657600"/>
            <a:ext cx="2926080" cy="457200"/>
          </a:xfrm>
          <a:prstGeom prst="rect">
            <a:avLst/>
          </a:prstGeom>
          <a:noFill/>
          <a:ln/>
        </p:spPr>
        <p:txBody>
          <a:bodyPr wrap="square" lIns="254" tIns="254" rIns="254" bIns="254" rtlCol="0" anchor="ctr"/>
          <a:lstStyle/>
          <a:p>
            <a:pPr algn="ctr" indent="0" marL="0">
              <a:buNone/>
            </a:pPr>
            <a:r>
              <a:rPr lang="en-US" sz="1000" b="1" spc="80" kern="0" dirty="0">
                <a:solidFill>
                  <a:srgbClr val="1B3A5C"/>
                </a:solidFill>
                <a:latin typeface="Inter" pitchFamily="34" charset="0"/>
                <a:ea typeface="Inter" pitchFamily="34" charset="-122"/>
                <a:cs typeface="Inter" pitchFamily="34" charset="-120"/>
              </a:rPr>
              <a:t>WEALTH BUILDING</a:t>
            </a:r>
            <a:endParaRPr lang="en-US" sz="1000" dirty="0"/>
          </a:p>
        </p:txBody>
      </p:sp>
      <p:sp>
        <p:nvSpPr>
          <p:cNvPr id="28" name="Text 26"/>
          <p:cNvSpPr/>
          <p:nvPr/>
        </p:nvSpPr>
        <p:spPr>
          <a:xfrm>
            <a:off x="457200" y="4777740"/>
            <a:ext cx="5486400" cy="201168"/>
          </a:xfrm>
          <a:prstGeom prst="rect">
            <a:avLst/>
          </a:prstGeom>
          <a:noFill/>
          <a:ln/>
        </p:spPr>
        <p:txBody>
          <a:bodyPr wrap="square" lIns="0" tIns="0" rIns="0" bIns="0" rtlCol="0" anchor="ctr"/>
          <a:lstStyle/>
          <a:p>
            <a:pPr indent="0" marL="0">
              <a:buNone/>
            </a:pPr>
            <a:r>
              <a:rPr lang="en-US" sz="800" spc="120" kern="0" dirty="0">
                <a:solidFill>
                  <a:srgbClr val="9BA3AE"/>
                </a:solidFill>
                <a:latin typeface="Inter" pitchFamily="34" charset="0"/>
                <a:ea typeface="Inter" pitchFamily="34" charset="-122"/>
                <a:cs typeface="Inter" pitchFamily="34" charset="-120"/>
              </a:rPr>
              <a:t>FINPATH INDIA  ·  TECHNICAL ARCHITECTURE</a:t>
            </a:r>
            <a:endParaRPr lang="en-US" sz="800" dirty="0"/>
          </a:p>
        </p:txBody>
      </p:sp>
      <p:sp>
        <p:nvSpPr>
          <p:cNvPr id="29" name="Text 27"/>
          <p:cNvSpPr/>
          <p:nvPr/>
        </p:nvSpPr>
        <p:spPr>
          <a:xfrm>
            <a:off x="8138160" y="4777740"/>
            <a:ext cx="548640" cy="201168"/>
          </a:xfrm>
          <a:prstGeom prst="rect">
            <a:avLst/>
          </a:prstGeom>
          <a:noFill/>
          <a:ln/>
        </p:spPr>
        <p:txBody>
          <a:bodyPr wrap="square" lIns="0" tIns="0" rIns="0" bIns="0" rtlCol="0" anchor="ctr"/>
          <a:lstStyle/>
          <a:p>
            <a:pPr algn="r" indent="0" marL="0">
              <a:buNone/>
            </a:pPr>
            <a:r>
              <a:rPr lang="en-US" sz="800" dirty="0">
                <a:solidFill>
                  <a:srgbClr val="9BA3AE"/>
                </a:solidFill>
                <a:latin typeface="Inter" pitchFamily="34" charset="0"/>
                <a:ea typeface="Inter" pitchFamily="34" charset="-122"/>
                <a:cs typeface="Inter"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384048"/>
          </a:xfrm>
          <a:prstGeom prst="rect">
            <a:avLst/>
          </a:prstGeom>
          <a:noFill/>
          <a:ln/>
        </p:spPr>
        <p:txBody>
          <a:bodyPr wrap="square" lIns="0" tIns="0" rIns="0" bIns="0" rtlCol="0" anchor="ctr"/>
          <a:lstStyle/>
          <a:p>
            <a:pPr indent="0" marL="0">
              <a:buNone/>
            </a:pPr>
            <a:r>
              <a:rPr lang="en-US" sz="2400" b="1" dirty="0">
                <a:solidFill>
                  <a:srgbClr val="12151B"/>
                </a:solidFill>
                <a:latin typeface="Inter" pitchFamily="34" charset="0"/>
                <a:ea typeface="Inter" pitchFamily="34" charset="-122"/>
                <a:cs typeface="Inter" pitchFamily="34" charset="-120"/>
              </a:rPr>
              <a:t>A Learning-First Intelligence Ecosystem</a:t>
            </a:r>
            <a:endParaRPr lang="en-US" sz="2400" dirty="0"/>
          </a:p>
        </p:txBody>
      </p:sp>
      <p:sp>
        <p:nvSpPr>
          <p:cNvPr id="3" name="Text 1"/>
          <p:cNvSpPr/>
          <p:nvPr/>
        </p:nvSpPr>
        <p:spPr>
          <a:xfrm>
            <a:off x="457200" y="786384"/>
            <a:ext cx="8229600" cy="237744"/>
          </a:xfrm>
          <a:prstGeom prst="rect">
            <a:avLst/>
          </a:prstGeom>
          <a:noFill/>
          <a:ln/>
        </p:spPr>
        <p:txBody>
          <a:bodyPr wrap="square" lIns="0" tIns="0" rIns="0" bIns="0" rtlCol="0" anchor="ctr"/>
          <a:lstStyle/>
          <a:p>
            <a:pPr indent="0" marL="0">
              <a:buNone/>
            </a:pPr>
            <a:r>
              <a:rPr lang="en-US" sz="1100" dirty="0">
                <a:solidFill>
                  <a:srgbClr val="6B7280"/>
                </a:solidFill>
                <a:latin typeface="Inter" pitchFamily="34" charset="0"/>
                <a:ea typeface="Inter" pitchFamily="34" charset="-122"/>
                <a:cs typeface="Inter" pitchFamily="34" charset="-120"/>
              </a:rPr>
              <a:t>Three engines feeding a single intelligence core</a:t>
            </a:r>
            <a:endParaRPr lang="en-US" sz="1100" dirty="0"/>
          </a:p>
        </p:txBody>
      </p:sp>
      <p:sp>
        <p:nvSpPr>
          <p:cNvPr id="4" name="Shape 2"/>
          <p:cNvSpPr/>
          <p:nvPr/>
        </p:nvSpPr>
        <p:spPr>
          <a:xfrm>
            <a:off x="457200" y="1243584"/>
            <a:ext cx="2651760" cy="2194560"/>
          </a:xfrm>
          <a:prstGeom prst="rect">
            <a:avLst/>
          </a:prstGeom>
          <a:solidFill>
            <a:srgbClr val="FFFFFF"/>
          </a:solidFill>
          <a:ln w="9525">
            <a:solidFill>
              <a:srgbClr val="D5DAE1"/>
            </a:solidFill>
            <a:prstDash val="solid"/>
          </a:ln>
        </p:spPr>
      </p:sp>
      <p:sp>
        <p:nvSpPr>
          <p:cNvPr id="5" name="Shape 3"/>
          <p:cNvSpPr/>
          <p:nvPr/>
        </p:nvSpPr>
        <p:spPr>
          <a:xfrm>
            <a:off x="640080" y="1426464"/>
            <a:ext cx="310896" cy="256032"/>
          </a:xfrm>
          <a:prstGeom prst="rect">
            <a:avLst/>
          </a:prstGeom>
          <a:solidFill>
            <a:srgbClr val="1B3A5C"/>
          </a:solidFill>
          <a:ln w="6350">
            <a:solidFill>
              <a:srgbClr val="1B3A5C"/>
            </a:solidFill>
            <a:prstDash val="solid"/>
          </a:ln>
        </p:spPr>
      </p:sp>
      <p:sp>
        <p:nvSpPr>
          <p:cNvPr id="6" name="Text 4"/>
          <p:cNvSpPr/>
          <p:nvPr/>
        </p:nvSpPr>
        <p:spPr>
          <a:xfrm>
            <a:off x="640080" y="1426464"/>
            <a:ext cx="310896"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01</a:t>
            </a:r>
            <a:endParaRPr lang="en-US" sz="900" dirty="0"/>
          </a:p>
        </p:txBody>
      </p:sp>
      <p:sp>
        <p:nvSpPr>
          <p:cNvPr id="7" name="Text 5"/>
          <p:cNvSpPr/>
          <p:nvPr/>
        </p:nvSpPr>
        <p:spPr>
          <a:xfrm>
            <a:off x="640080" y="1773936"/>
            <a:ext cx="2286000" cy="237744"/>
          </a:xfrm>
          <a:prstGeom prst="rect">
            <a:avLst/>
          </a:prstGeom>
          <a:noFill/>
          <a:ln/>
        </p:spPr>
        <p:txBody>
          <a:bodyPr wrap="square" lIns="0" tIns="0" rIns="0" bIns="0" rtlCol="0" anchor="ctr"/>
          <a:lstStyle/>
          <a:p>
            <a:pPr indent="0" marL="0">
              <a:buNone/>
            </a:pPr>
            <a:r>
              <a:rPr lang="en-US" sz="1300" b="1" dirty="0">
                <a:solidFill>
                  <a:srgbClr val="12151B"/>
                </a:solidFill>
                <a:latin typeface="Inter" pitchFamily="34" charset="0"/>
                <a:ea typeface="Inter" pitchFamily="34" charset="-122"/>
                <a:cs typeface="Inter" pitchFamily="34" charset="-120"/>
              </a:rPr>
              <a:t>Fact-Grounded AI</a:t>
            </a:r>
            <a:endParaRPr lang="en-US" sz="1300" dirty="0"/>
          </a:p>
        </p:txBody>
      </p:sp>
      <p:sp>
        <p:nvSpPr>
          <p:cNvPr id="8" name="Text 6"/>
          <p:cNvSpPr/>
          <p:nvPr/>
        </p:nvSpPr>
        <p:spPr>
          <a:xfrm>
            <a:off x="640080" y="2020824"/>
            <a:ext cx="2286000" cy="182880"/>
          </a:xfrm>
          <a:prstGeom prst="rect">
            <a:avLst/>
          </a:prstGeom>
          <a:noFill/>
          <a:ln/>
        </p:spPr>
        <p:txBody>
          <a:bodyPr wrap="square" lIns="0" tIns="0" rIns="0" bIns="0" rtlCol="0" anchor="ctr"/>
          <a:lstStyle/>
          <a:p>
            <a:pPr indent="0" marL="0">
              <a:buNone/>
            </a:pPr>
            <a:r>
              <a:rPr lang="en-US" sz="750" b="1" spc="110" kern="0" dirty="0">
                <a:solidFill>
                  <a:srgbClr val="2E7D8F"/>
                </a:solidFill>
                <a:latin typeface="Inter" pitchFamily="34" charset="0"/>
                <a:ea typeface="Inter" pitchFamily="34" charset="-122"/>
                <a:cs typeface="Inter" pitchFamily="34" charset="-120"/>
              </a:rPr>
              <a:t>RAG COMPLIANCE FILTER</a:t>
            </a:r>
            <a:endParaRPr lang="en-US" sz="750" dirty="0"/>
          </a:p>
        </p:txBody>
      </p:sp>
      <p:sp>
        <p:nvSpPr>
          <p:cNvPr id="9" name="Text 7"/>
          <p:cNvSpPr/>
          <p:nvPr/>
        </p:nvSpPr>
        <p:spPr>
          <a:xfrm>
            <a:off x="640080" y="2286000"/>
            <a:ext cx="2286000" cy="1060704"/>
          </a:xfrm>
          <a:prstGeom prst="rect">
            <a:avLst/>
          </a:prstGeom>
          <a:noFill/>
          <a:ln/>
        </p:spPr>
        <p:txBody>
          <a:bodyPr wrap="square" lIns="0" tIns="0" rIns="0" bIns="0" rtlCol="0" anchor="t"/>
          <a:lstStyle/>
          <a:p>
            <a:pPr marL="152400" indent="-152400">
              <a:spcAft>
                <a:spcPts val="500"/>
              </a:spcAft>
              <a:buSzPct val="100000"/>
              <a:buChar char="•"/>
            </a:pPr>
            <a:r>
              <a:rPr lang="en-US" sz="850" dirty="0">
                <a:solidFill>
                  <a:srgbClr val="2B303A"/>
                </a:solidFill>
                <a:latin typeface="Inter" pitchFamily="34" charset="0"/>
                <a:ea typeface="Inter" pitchFamily="34" charset="-122"/>
                <a:cs typeface="Inter" pitchFamily="34" charset="-120"/>
              </a:rPr>
              <a:t>RBI / SEBI / NCFE sources only</a:t>
            </a:r>
            <a:endParaRPr lang="en-US" sz="850" dirty="0"/>
          </a:p>
          <a:p>
            <a:pPr marL="152400" indent="-152400">
              <a:spcAft>
                <a:spcPts val="500"/>
              </a:spcAft>
              <a:buSzPct val="100000"/>
              <a:buChar char="•"/>
            </a:pPr>
            <a:r>
              <a:rPr lang="en-US" sz="850" dirty="0">
                <a:solidFill>
                  <a:srgbClr val="2B303A"/>
                </a:solidFill>
                <a:latin typeface="Inter" pitchFamily="34" charset="0"/>
                <a:ea typeface="Inter" pitchFamily="34" charset="-122"/>
                <a:cs typeface="Inter" pitchFamily="34" charset="-120"/>
              </a:rPr>
              <a:t>Semantic chunking preserves definitions</a:t>
            </a:r>
            <a:endParaRPr lang="en-US" sz="850" dirty="0"/>
          </a:p>
          <a:p>
            <a:pPr marL="152400" indent="-152400">
              <a:spcAft>
                <a:spcPts val="500"/>
              </a:spcAft>
              <a:buSzPct val="100000"/>
              <a:buChar char="•"/>
            </a:pPr>
            <a:r>
              <a:rPr lang="en-US" sz="850" dirty="0">
                <a:solidFill>
                  <a:srgbClr val="2B303A"/>
                </a:solidFill>
                <a:latin typeface="Inter" pitchFamily="34" charset="0"/>
                <a:ea typeface="Inter" pitchFamily="34" charset="-122"/>
                <a:cs typeface="Inter" pitchFamily="34" charset="-120"/>
              </a:rPr>
              <a:t>FAISS dense vector search</a:t>
            </a:r>
            <a:endParaRPr lang="en-US" sz="850" dirty="0"/>
          </a:p>
          <a:p>
            <a:pPr marL="152400" indent="-152400">
              <a:spcAft>
                <a:spcPts val="500"/>
              </a:spcAft>
              <a:buSzPct val="100000"/>
              <a:buChar char="•"/>
            </a:pPr>
            <a:r>
              <a:rPr lang="en-US" sz="850" dirty="0">
                <a:solidFill>
                  <a:srgbClr val="2B303A"/>
                </a:solidFill>
                <a:latin typeface="Inter" pitchFamily="34" charset="0"/>
                <a:ea typeface="Inter" pitchFamily="34" charset="-122"/>
                <a:cs typeface="Inter" pitchFamily="34" charset="-120"/>
              </a:rPr>
              <a:t>Grounded generation, no free recall</a:t>
            </a:r>
            <a:endParaRPr lang="en-US" sz="850" dirty="0"/>
          </a:p>
        </p:txBody>
      </p:sp>
      <p:sp>
        <p:nvSpPr>
          <p:cNvPr id="10" name="Shape 8"/>
          <p:cNvSpPr/>
          <p:nvPr/>
        </p:nvSpPr>
        <p:spPr>
          <a:xfrm>
            <a:off x="1783080" y="3438144"/>
            <a:ext cx="0" cy="274320"/>
          </a:xfrm>
          <a:prstGeom prst="line">
            <a:avLst/>
          </a:prstGeom>
          <a:noFill/>
          <a:ln w="12700">
            <a:solidFill>
              <a:srgbClr val="AEB6C0"/>
            </a:solidFill>
            <a:prstDash val="solid"/>
            <a:tailEnd type="triangle"/>
          </a:ln>
        </p:spPr>
      </p:sp>
      <p:sp>
        <p:nvSpPr>
          <p:cNvPr id="11" name="Shape 9"/>
          <p:cNvSpPr/>
          <p:nvPr/>
        </p:nvSpPr>
        <p:spPr>
          <a:xfrm>
            <a:off x="3246120" y="1243584"/>
            <a:ext cx="2651760" cy="2194560"/>
          </a:xfrm>
          <a:prstGeom prst="rect">
            <a:avLst/>
          </a:prstGeom>
          <a:solidFill>
            <a:srgbClr val="FFFFFF"/>
          </a:solidFill>
          <a:ln w="9525">
            <a:solidFill>
              <a:srgbClr val="D5DAE1"/>
            </a:solidFill>
            <a:prstDash val="solid"/>
          </a:ln>
        </p:spPr>
      </p:sp>
      <p:sp>
        <p:nvSpPr>
          <p:cNvPr id="12" name="Shape 10"/>
          <p:cNvSpPr/>
          <p:nvPr/>
        </p:nvSpPr>
        <p:spPr>
          <a:xfrm>
            <a:off x="3429000" y="1426464"/>
            <a:ext cx="310896" cy="256032"/>
          </a:xfrm>
          <a:prstGeom prst="rect">
            <a:avLst/>
          </a:prstGeom>
          <a:solidFill>
            <a:srgbClr val="1B3A5C"/>
          </a:solidFill>
          <a:ln w="6350">
            <a:solidFill>
              <a:srgbClr val="1B3A5C"/>
            </a:solidFill>
            <a:prstDash val="solid"/>
          </a:ln>
        </p:spPr>
      </p:sp>
      <p:sp>
        <p:nvSpPr>
          <p:cNvPr id="13" name="Text 11"/>
          <p:cNvSpPr/>
          <p:nvPr/>
        </p:nvSpPr>
        <p:spPr>
          <a:xfrm>
            <a:off x="3429000" y="1426464"/>
            <a:ext cx="310896"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02</a:t>
            </a:r>
            <a:endParaRPr lang="en-US" sz="900" dirty="0"/>
          </a:p>
        </p:txBody>
      </p:sp>
      <p:sp>
        <p:nvSpPr>
          <p:cNvPr id="14" name="Text 12"/>
          <p:cNvSpPr/>
          <p:nvPr/>
        </p:nvSpPr>
        <p:spPr>
          <a:xfrm>
            <a:off x="3429000" y="1773936"/>
            <a:ext cx="2286000" cy="237744"/>
          </a:xfrm>
          <a:prstGeom prst="rect">
            <a:avLst/>
          </a:prstGeom>
          <a:noFill/>
          <a:ln/>
        </p:spPr>
        <p:txBody>
          <a:bodyPr wrap="square" lIns="0" tIns="0" rIns="0" bIns="0" rtlCol="0" anchor="ctr"/>
          <a:lstStyle/>
          <a:p>
            <a:pPr indent="0" marL="0">
              <a:buNone/>
            </a:pPr>
            <a:r>
              <a:rPr lang="en-US" sz="1300" b="1" dirty="0">
                <a:solidFill>
                  <a:srgbClr val="12151B"/>
                </a:solidFill>
                <a:latin typeface="Inter" pitchFamily="34" charset="0"/>
                <a:ea typeface="Inter" pitchFamily="34" charset="-122"/>
                <a:cs typeface="Inter" pitchFamily="34" charset="-120"/>
              </a:rPr>
              <a:t>Adaptive Learning</a:t>
            </a:r>
            <a:endParaRPr lang="en-US" sz="1300" dirty="0"/>
          </a:p>
        </p:txBody>
      </p:sp>
      <p:sp>
        <p:nvSpPr>
          <p:cNvPr id="15" name="Text 13"/>
          <p:cNvSpPr/>
          <p:nvPr/>
        </p:nvSpPr>
        <p:spPr>
          <a:xfrm>
            <a:off x="3429000" y="2020824"/>
            <a:ext cx="2286000" cy="182880"/>
          </a:xfrm>
          <a:prstGeom prst="rect">
            <a:avLst/>
          </a:prstGeom>
          <a:noFill/>
          <a:ln/>
        </p:spPr>
        <p:txBody>
          <a:bodyPr wrap="square" lIns="0" tIns="0" rIns="0" bIns="0" rtlCol="0" anchor="ctr"/>
          <a:lstStyle/>
          <a:p>
            <a:pPr indent="0" marL="0">
              <a:buNone/>
            </a:pPr>
            <a:r>
              <a:rPr lang="en-US" sz="750" b="1" spc="110" kern="0" dirty="0">
                <a:solidFill>
                  <a:srgbClr val="2E7D8F"/>
                </a:solidFill>
                <a:latin typeface="Inter" pitchFamily="34" charset="0"/>
                <a:ea typeface="Inter" pitchFamily="34" charset="-122"/>
                <a:cs typeface="Inter" pitchFamily="34" charset="-120"/>
              </a:rPr>
              <a:t>LEARNING-FIRST INTERFACE</a:t>
            </a:r>
            <a:endParaRPr lang="en-US" sz="750" dirty="0"/>
          </a:p>
        </p:txBody>
      </p:sp>
      <p:sp>
        <p:nvSpPr>
          <p:cNvPr id="16" name="Text 14"/>
          <p:cNvSpPr/>
          <p:nvPr/>
        </p:nvSpPr>
        <p:spPr>
          <a:xfrm>
            <a:off x="3429000" y="2286000"/>
            <a:ext cx="2286000" cy="1060704"/>
          </a:xfrm>
          <a:prstGeom prst="rect">
            <a:avLst/>
          </a:prstGeom>
          <a:noFill/>
          <a:ln/>
        </p:spPr>
        <p:txBody>
          <a:bodyPr wrap="square" lIns="0" tIns="0" rIns="0" bIns="0" rtlCol="0" anchor="t"/>
          <a:lstStyle/>
          <a:p>
            <a:pPr marL="152400" indent="-152400">
              <a:spcAft>
                <a:spcPts val="500"/>
              </a:spcAft>
              <a:buSzPct val="100000"/>
              <a:buChar char="•"/>
            </a:pPr>
            <a:r>
              <a:rPr lang="en-US" sz="850" dirty="0">
                <a:solidFill>
                  <a:srgbClr val="2B303A"/>
                </a:solidFill>
                <a:latin typeface="Inter" pitchFamily="34" charset="0"/>
                <a:ea typeface="Inter" pitchFamily="34" charset="-122"/>
                <a:cs typeface="Inter" pitchFamily="34" charset="-120"/>
              </a:rPr>
              <a:t>Foundation → Growth → Wealth</a:t>
            </a:r>
            <a:endParaRPr lang="en-US" sz="850" dirty="0"/>
          </a:p>
          <a:p>
            <a:pPr marL="152400" indent="-152400">
              <a:spcAft>
                <a:spcPts val="500"/>
              </a:spcAft>
              <a:buSzPct val="100000"/>
              <a:buChar char="•"/>
            </a:pPr>
            <a:r>
              <a:rPr lang="en-US" sz="850" dirty="0">
                <a:solidFill>
                  <a:srgbClr val="2B303A"/>
                </a:solidFill>
                <a:latin typeface="Inter" pitchFamily="34" charset="0"/>
                <a:ea typeface="Inter" pitchFamily="34" charset="-122"/>
                <a:cs typeface="Inter" pitchFamily="34" charset="-120"/>
              </a:rPr>
              <a:t>NCFE-aligned curriculum modules</a:t>
            </a:r>
            <a:endParaRPr lang="en-US" sz="850" dirty="0"/>
          </a:p>
          <a:p>
            <a:pPr marL="152400" indent="-152400">
              <a:spcAft>
                <a:spcPts val="500"/>
              </a:spcAft>
              <a:buSzPct val="100000"/>
              <a:buChar char="•"/>
            </a:pPr>
            <a:r>
              <a:rPr lang="en-US" sz="850" dirty="0">
                <a:solidFill>
                  <a:srgbClr val="2B303A"/>
                </a:solidFill>
                <a:latin typeface="Inter" pitchFamily="34" charset="0"/>
                <a:ea typeface="Inter" pitchFamily="34" charset="-122"/>
                <a:cs typeface="Inter" pitchFamily="34" charset="-120"/>
              </a:rPr>
              <a:t>Gamified micro-rewards</a:t>
            </a:r>
            <a:endParaRPr lang="en-US" sz="850" dirty="0"/>
          </a:p>
          <a:p>
            <a:pPr marL="152400" indent="-152400">
              <a:spcAft>
                <a:spcPts val="500"/>
              </a:spcAft>
              <a:buSzPct val="100000"/>
              <a:buChar char="•"/>
            </a:pPr>
            <a:r>
              <a:rPr lang="en-US" sz="850" dirty="0">
                <a:solidFill>
                  <a:srgbClr val="2B303A"/>
                </a:solidFill>
                <a:latin typeface="Inter" pitchFamily="34" charset="0"/>
                <a:ea typeface="Inter" pitchFamily="34" charset="-122"/>
                <a:cs typeface="Inter" pitchFamily="34" charset="-120"/>
              </a:rPr>
              <a:t>Mobile-first, UPI-native design</a:t>
            </a:r>
            <a:endParaRPr lang="en-US" sz="850" dirty="0"/>
          </a:p>
        </p:txBody>
      </p:sp>
      <p:sp>
        <p:nvSpPr>
          <p:cNvPr id="17" name="Shape 15"/>
          <p:cNvSpPr/>
          <p:nvPr/>
        </p:nvSpPr>
        <p:spPr>
          <a:xfrm>
            <a:off x="4572000" y="3438144"/>
            <a:ext cx="0" cy="274320"/>
          </a:xfrm>
          <a:prstGeom prst="line">
            <a:avLst/>
          </a:prstGeom>
          <a:noFill/>
          <a:ln w="12700">
            <a:solidFill>
              <a:srgbClr val="AEB6C0"/>
            </a:solidFill>
            <a:prstDash val="solid"/>
            <a:tailEnd type="triangle"/>
          </a:ln>
        </p:spPr>
      </p:sp>
      <p:sp>
        <p:nvSpPr>
          <p:cNvPr id="18" name="Shape 16"/>
          <p:cNvSpPr/>
          <p:nvPr/>
        </p:nvSpPr>
        <p:spPr>
          <a:xfrm>
            <a:off x="6035040" y="1243584"/>
            <a:ext cx="2651760" cy="2194560"/>
          </a:xfrm>
          <a:prstGeom prst="rect">
            <a:avLst/>
          </a:prstGeom>
          <a:solidFill>
            <a:srgbClr val="FFFFFF"/>
          </a:solidFill>
          <a:ln w="9525">
            <a:solidFill>
              <a:srgbClr val="D5DAE1"/>
            </a:solidFill>
            <a:prstDash val="solid"/>
          </a:ln>
        </p:spPr>
      </p:sp>
      <p:sp>
        <p:nvSpPr>
          <p:cNvPr id="19" name="Shape 17"/>
          <p:cNvSpPr/>
          <p:nvPr/>
        </p:nvSpPr>
        <p:spPr>
          <a:xfrm>
            <a:off x="6217920" y="1426464"/>
            <a:ext cx="310896" cy="256032"/>
          </a:xfrm>
          <a:prstGeom prst="rect">
            <a:avLst/>
          </a:prstGeom>
          <a:solidFill>
            <a:srgbClr val="1B3A5C"/>
          </a:solidFill>
          <a:ln w="6350">
            <a:solidFill>
              <a:srgbClr val="1B3A5C"/>
            </a:solidFill>
            <a:prstDash val="solid"/>
          </a:ln>
        </p:spPr>
      </p:sp>
      <p:sp>
        <p:nvSpPr>
          <p:cNvPr id="20" name="Text 18"/>
          <p:cNvSpPr/>
          <p:nvPr/>
        </p:nvSpPr>
        <p:spPr>
          <a:xfrm>
            <a:off x="6217920" y="1426464"/>
            <a:ext cx="310896"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03</a:t>
            </a:r>
            <a:endParaRPr lang="en-US" sz="900" dirty="0"/>
          </a:p>
        </p:txBody>
      </p:sp>
      <p:sp>
        <p:nvSpPr>
          <p:cNvPr id="21" name="Text 19"/>
          <p:cNvSpPr/>
          <p:nvPr/>
        </p:nvSpPr>
        <p:spPr>
          <a:xfrm>
            <a:off x="6217920" y="1773936"/>
            <a:ext cx="2286000" cy="237744"/>
          </a:xfrm>
          <a:prstGeom prst="rect">
            <a:avLst/>
          </a:prstGeom>
          <a:noFill/>
          <a:ln/>
        </p:spPr>
        <p:txBody>
          <a:bodyPr wrap="square" lIns="0" tIns="0" rIns="0" bIns="0" rtlCol="0" anchor="ctr"/>
          <a:lstStyle/>
          <a:p>
            <a:pPr indent="0" marL="0">
              <a:buNone/>
            </a:pPr>
            <a:r>
              <a:rPr lang="en-US" sz="1300" b="1" dirty="0">
                <a:solidFill>
                  <a:srgbClr val="12151B"/>
                </a:solidFill>
                <a:latin typeface="Inter" pitchFamily="34" charset="0"/>
                <a:ea typeface="Inter" pitchFamily="34" charset="-122"/>
                <a:cs typeface="Inter" pitchFamily="34" charset="-120"/>
              </a:rPr>
              <a:t>Behavioral Intelligence</a:t>
            </a:r>
            <a:endParaRPr lang="en-US" sz="1300" dirty="0"/>
          </a:p>
        </p:txBody>
      </p:sp>
      <p:sp>
        <p:nvSpPr>
          <p:cNvPr id="22" name="Text 20"/>
          <p:cNvSpPr/>
          <p:nvPr/>
        </p:nvSpPr>
        <p:spPr>
          <a:xfrm>
            <a:off x="6217920" y="2020824"/>
            <a:ext cx="2286000" cy="182880"/>
          </a:xfrm>
          <a:prstGeom prst="rect">
            <a:avLst/>
          </a:prstGeom>
          <a:noFill/>
          <a:ln/>
        </p:spPr>
        <p:txBody>
          <a:bodyPr wrap="square" lIns="0" tIns="0" rIns="0" bIns="0" rtlCol="0" anchor="ctr"/>
          <a:lstStyle/>
          <a:p>
            <a:pPr indent="0" marL="0">
              <a:buNone/>
            </a:pPr>
            <a:r>
              <a:rPr lang="en-US" sz="750" b="1" spc="110" kern="0" dirty="0">
                <a:solidFill>
                  <a:srgbClr val="2E7D8F"/>
                </a:solidFill>
                <a:latin typeface="Inter" pitchFamily="34" charset="0"/>
                <a:ea typeface="Inter" pitchFamily="34" charset="-122"/>
                <a:cs typeface="Inter" pitchFamily="34" charset="-120"/>
              </a:rPr>
              <a:t>ALGORITHMIC NUDGING</a:t>
            </a:r>
            <a:endParaRPr lang="en-US" sz="750" dirty="0"/>
          </a:p>
        </p:txBody>
      </p:sp>
      <p:sp>
        <p:nvSpPr>
          <p:cNvPr id="23" name="Text 21"/>
          <p:cNvSpPr/>
          <p:nvPr/>
        </p:nvSpPr>
        <p:spPr>
          <a:xfrm>
            <a:off x="6217920" y="2286000"/>
            <a:ext cx="2286000" cy="1060704"/>
          </a:xfrm>
          <a:prstGeom prst="rect">
            <a:avLst/>
          </a:prstGeom>
          <a:noFill/>
          <a:ln/>
        </p:spPr>
        <p:txBody>
          <a:bodyPr wrap="square" lIns="0" tIns="0" rIns="0" bIns="0" rtlCol="0" anchor="t"/>
          <a:lstStyle/>
          <a:p>
            <a:pPr marL="152400" indent="-152400">
              <a:spcAft>
                <a:spcPts val="500"/>
              </a:spcAft>
              <a:buSzPct val="100000"/>
              <a:buChar char="•"/>
            </a:pPr>
            <a:r>
              <a:rPr lang="en-US" sz="850" dirty="0">
                <a:solidFill>
                  <a:srgbClr val="2B303A"/>
                </a:solidFill>
                <a:latin typeface="Inter" pitchFamily="34" charset="0"/>
                <a:ea typeface="Inter" pitchFamily="34" charset="-122"/>
                <a:cs typeface="Inter" pitchFamily="34" charset="-120"/>
              </a:rPr>
              <a:t>MCC transaction categorisation</a:t>
            </a:r>
            <a:endParaRPr lang="en-US" sz="850" dirty="0"/>
          </a:p>
          <a:p>
            <a:pPr marL="152400" indent="-152400">
              <a:spcAft>
                <a:spcPts val="500"/>
              </a:spcAft>
              <a:buSzPct val="100000"/>
              <a:buChar char="•"/>
            </a:pPr>
            <a:r>
              <a:rPr lang="en-US" sz="850" dirty="0">
                <a:solidFill>
                  <a:srgbClr val="2B303A"/>
                </a:solidFill>
                <a:latin typeface="Inter" pitchFamily="34" charset="0"/>
                <a:ea typeface="Inter" pitchFamily="34" charset="-122"/>
                <a:cs typeface="Inter" pitchFamily="34" charset="-120"/>
              </a:rPr>
              <a:t>Smart Rule Engine thresholds</a:t>
            </a:r>
            <a:endParaRPr lang="en-US" sz="850" dirty="0"/>
          </a:p>
          <a:p>
            <a:pPr marL="152400" indent="-152400">
              <a:spcAft>
                <a:spcPts val="500"/>
              </a:spcAft>
              <a:buSzPct val="100000"/>
              <a:buChar char="•"/>
            </a:pPr>
            <a:r>
              <a:rPr lang="en-US" sz="850" dirty="0">
                <a:solidFill>
                  <a:srgbClr val="2B303A"/>
                </a:solidFill>
                <a:latin typeface="Inter" pitchFamily="34" charset="0"/>
                <a:ea typeface="Inter" pitchFamily="34" charset="-122"/>
                <a:cs typeface="Inter" pitchFamily="34" charset="-120"/>
              </a:rPr>
              <a:t>Opportunity-cost nudges</a:t>
            </a:r>
            <a:endParaRPr lang="en-US" sz="850" dirty="0"/>
          </a:p>
          <a:p>
            <a:pPr marL="152400" indent="-152400">
              <a:spcAft>
                <a:spcPts val="500"/>
              </a:spcAft>
              <a:buSzPct val="100000"/>
              <a:buChar char="•"/>
            </a:pPr>
            <a:r>
              <a:rPr lang="en-US" sz="850" dirty="0">
                <a:solidFill>
                  <a:srgbClr val="2B303A"/>
                </a:solidFill>
                <a:latin typeface="Inter" pitchFamily="34" charset="0"/>
                <a:ea typeface="Inter" pitchFamily="34" charset="-122"/>
                <a:cs typeface="Inter" pitchFamily="34" charset="-120"/>
              </a:rPr>
              <a:t>Phase-2 predictive ML</a:t>
            </a:r>
            <a:endParaRPr lang="en-US" sz="850" dirty="0"/>
          </a:p>
        </p:txBody>
      </p:sp>
      <p:sp>
        <p:nvSpPr>
          <p:cNvPr id="24" name="Shape 22"/>
          <p:cNvSpPr/>
          <p:nvPr/>
        </p:nvSpPr>
        <p:spPr>
          <a:xfrm>
            <a:off x="7360920" y="3438144"/>
            <a:ext cx="0" cy="274320"/>
          </a:xfrm>
          <a:prstGeom prst="line">
            <a:avLst/>
          </a:prstGeom>
          <a:noFill/>
          <a:ln w="12700">
            <a:solidFill>
              <a:srgbClr val="AEB6C0"/>
            </a:solidFill>
            <a:prstDash val="solid"/>
            <a:tailEnd type="triangle"/>
          </a:ln>
        </p:spPr>
      </p:sp>
      <p:sp>
        <p:nvSpPr>
          <p:cNvPr id="25" name="Shape 23"/>
          <p:cNvSpPr/>
          <p:nvPr/>
        </p:nvSpPr>
        <p:spPr>
          <a:xfrm>
            <a:off x="457200" y="3712464"/>
            <a:ext cx="8229600" cy="603504"/>
          </a:xfrm>
          <a:prstGeom prst="rect">
            <a:avLst/>
          </a:prstGeom>
          <a:solidFill>
            <a:srgbClr val="F4F6F8"/>
          </a:solidFill>
          <a:ln w="12700">
            <a:solidFill>
              <a:srgbClr val="1B3A5C"/>
            </a:solidFill>
            <a:prstDash val="solid"/>
          </a:ln>
        </p:spPr>
      </p:sp>
      <p:sp>
        <p:nvSpPr>
          <p:cNvPr id="26" name="Text 24"/>
          <p:cNvSpPr/>
          <p:nvPr/>
        </p:nvSpPr>
        <p:spPr>
          <a:xfrm>
            <a:off x="457200" y="3803904"/>
            <a:ext cx="8229600" cy="237744"/>
          </a:xfrm>
          <a:prstGeom prst="rect">
            <a:avLst/>
          </a:prstGeom>
          <a:noFill/>
          <a:ln/>
        </p:spPr>
        <p:txBody>
          <a:bodyPr wrap="square" lIns="0" tIns="0" rIns="0" bIns="0" rtlCol="0" anchor="ctr"/>
          <a:lstStyle/>
          <a:p>
            <a:pPr algn="ctr" indent="0" marL="0">
              <a:buNone/>
            </a:pPr>
            <a:r>
              <a:rPr lang="en-US" sz="1200" b="1" spc="160" kern="0" dirty="0">
                <a:solidFill>
                  <a:srgbClr val="1B3A5C"/>
                </a:solidFill>
                <a:latin typeface="Inter" pitchFamily="34" charset="0"/>
                <a:ea typeface="Inter" pitchFamily="34" charset="-122"/>
                <a:cs typeface="Inter" pitchFamily="34" charset="-120"/>
              </a:rPr>
              <a:t>FINPATH INTELLIGENCE CORE</a:t>
            </a:r>
            <a:endParaRPr lang="en-US" sz="1200" dirty="0"/>
          </a:p>
        </p:txBody>
      </p:sp>
      <p:sp>
        <p:nvSpPr>
          <p:cNvPr id="27" name="Text 25"/>
          <p:cNvSpPr/>
          <p:nvPr/>
        </p:nvSpPr>
        <p:spPr>
          <a:xfrm>
            <a:off x="457200" y="4050792"/>
            <a:ext cx="8229600" cy="201168"/>
          </a:xfrm>
          <a:prstGeom prst="rect">
            <a:avLst/>
          </a:prstGeom>
          <a:noFill/>
          <a:ln/>
        </p:spPr>
        <p:txBody>
          <a:bodyPr wrap="square" lIns="0" tIns="0" rIns="0" bIns="0" rtlCol="0" anchor="ctr"/>
          <a:lstStyle/>
          <a:p>
            <a:pPr algn="ctr" indent="0" marL="0">
              <a:buNone/>
            </a:pPr>
            <a:r>
              <a:rPr lang="en-US" sz="900" dirty="0">
                <a:solidFill>
                  <a:srgbClr val="6B7280"/>
                </a:solidFill>
                <a:latin typeface="Inter" pitchFamily="34" charset="0"/>
                <a:ea typeface="Inter" pitchFamily="34" charset="-122"/>
                <a:cs typeface="Inter" pitchFamily="34" charset="-120"/>
              </a:rPr>
              <a:t>Shared user model  ·  knowledge state  ·  behavioural feature store</a:t>
            </a:r>
            <a:endParaRPr lang="en-US" sz="900" dirty="0"/>
          </a:p>
        </p:txBody>
      </p:sp>
      <p:sp>
        <p:nvSpPr>
          <p:cNvPr id="28" name="Text 26"/>
          <p:cNvSpPr/>
          <p:nvPr/>
        </p:nvSpPr>
        <p:spPr>
          <a:xfrm>
            <a:off x="457200" y="4777740"/>
            <a:ext cx="5486400" cy="201168"/>
          </a:xfrm>
          <a:prstGeom prst="rect">
            <a:avLst/>
          </a:prstGeom>
          <a:noFill/>
          <a:ln/>
        </p:spPr>
        <p:txBody>
          <a:bodyPr wrap="square" lIns="0" tIns="0" rIns="0" bIns="0" rtlCol="0" anchor="ctr"/>
          <a:lstStyle/>
          <a:p>
            <a:pPr indent="0" marL="0">
              <a:buNone/>
            </a:pPr>
            <a:r>
              <a:rPr lang="en-US" sz="800" spc="120" kern="0" dirty="0">
                <a:solidFill>
                  <a:srgbClr val="9BA3AE"/>
                </a:solidFill>
                <a:latin typeface="Inter" pitchFamily="34" charset="0"/>
                <a:ea typeface="Inter" pitchFamily="34" charset="-122"/>
                <a:cs typeface="Inter" pitchFamily="34" charset="-120"/>
              </a:rPr>
              <a:t>FINPATH INDIA  ·  TECHNICAL ARCHITECTURE</a:t>
            </a:r>
            <a:endParaRPr lang="en-US" sz="800" dirty="0"/>
          </a:p>
        </p:txBody>
      </p:sp>
      <p:sp>
        <p:nvSpPr>
          <p:cNvPr id="29" name="Text 27"/>
          <p:cNvSpPr/>
          <p:nvPr/>
        </p:nvSpPr>
        <p:spPr>
          <a:xfrm>
            <a:off x="8138160" y="4777740"/>
            <a:ext cx="548640" cy="201168"/>
          </a:xfrm>
          <a:prstGeom prst="rect">
            <a:avLst/>
          </a:prstGeom>
          <a:noFill/>
          <a:ln/>
        </p:spPr>
        <p:txBody>
          <a:bodyPr wrap="square" lIns="0" tIns="0" rIns="0" bIns="0" rtlCol="0" anchor="ctr"/>
          <a:lstStyle/>
          <a:p>
            <a:pPr algn="r" indent="0" marL="0">
              <a:buNone/>
            </a:pPr>
            <a:r>
              <a:rPr lang="en-US" sz="800" dirty="0">
                <a:solidFill>
                  <a:srgbClr val="9BA3AE"/>
                </a:solidFill>
                <a:latin typeface="Inter" pitchFamily="34" charset="0"/>
                <a:ea typeface="Inter" pitchFamily="34" charset="-122"/>
                <a:cs typeface="Inter"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384048"/>
          </a:xfrm>
          <a:prstGeom prst="rect">
            <a:avLst/>
          </a:prstGeom>
          <a:noFill/>
          <a:ln/>
        </p:spPr>
        <p:txBody>
          <a:bodyPr wrap="square" lIns="0" tIns="0" rIns="0" bIns="0" rtlCol="0" anchor="ctr"/>
          <a:lstStyle/>
          <a:p>
            <a:pPr indent="0" marL="0">
              <a:buNone/>
            </a:pPr>
            <a:r>
              <a:rPr lang="en-US" sz="2400" b="1" dirty="0">
                <a:solidFill>
                  <a:srgbClr val="12151B"/>
                </a:solidFill>
                <a:latin typeface="Inter" pitchFamily="34" charset="0"/>
                <a:ea typeface="Inter" pitchFamily="34" charset="-122"/>
                <a:cs typeface="Inter" pitchFamily="34" charset="-120"/>
              </a:rPr>
              <a:t>End-to-End System Architecture</a:t>
            </a:r>
            <a:endParaRPr lang="en-US" sz="2400" dirty="0"/>
          </a:p>
        </p:txBody>
      </p:sp>
      <p:sp>
        <p:nvSpPr>
          <p:cNvPr id="3" name="Text 1"/>
          <p:cNvSpPr/>
          <p:nvPr/>
        </p:nvSpPr>
        <p:spPr>
          <a:xfrm>
            <a:off x="457200" y="786384"/>
            <a:ext cx="8229600" cy="237744"/>
          </a:xfrm>
          <a:prstGeom prst="rect">
            <a:avLst/>
          </a:prstGeom>
          <a:noFill/>
          <a:ln/>
        </p:spPr>
        <p:txBody>
          <a:bodyPr wrap="square" lIns="0" tIns="0" rIns="0" bIns="0" rtlCol="0" anchor="ctr"/>
          <a:lstStyle/>
          <a:p>
            <a:pPr indent="0" marL="0">
              <a:buNone/>
            </a:pPr>
            <a:r>
              <a:rPr lang="en-US" sz="1100" dirty="0">
                <a:solidFill>
                  <a:srgbClr val="6B7280"/>
                </a:solidFill>
                <a:latin typeface="Inter" pitchFamily="34" charset="0"/>
                <a:ea typeface="Inter" pitchFamily="34" charset="-122"/>
                <a:cs typeface="Inter" pitchFamily="34" charset="-120"/>
              </a:rPr>
              <a:t>Four-layer stack with external regulatory and consent boundaries</a:t>
            </a:r>
            <a:endParaRPr lang="en-US" sz="1100" dirty="0"/>
          </a:p>
        </p:txBody>
      </p:sp>
      <p:sp>
        <p:nvSpPr>
          <p:cNvPr id="4" name="Text 2"/>
          <p:cNvSpPr/>
          <p:nvPr/>
        </p:nvSpPr>
        <p:spPr>
          <a:xfrm>
            <a:off x="457200" y="1060704"/>
            <a:ext cx="1188720" cy="164592"/>
          </a:xfrm>
          <a:prstGeom prst="rect">
            <a:avLst/>
          </a:prstGeom>
          <a:noFill/>
          <a:ln/>
        </p:spPr>
        <p:txBody>
          <a:bodyPr wrap="square" lIns="0" tIns="0" rIns="0" bIns="0" rtlCol="0" anchor="ctr"/>
          <a:lstStyle/>
          <a:p>
            <a:pPr algn="ctr" indent="0" marL="0">
              <a:buNone/>
            </a:pPr>
            <a:r>
              <a:rPr lang="en-US" sz="700" b="1" spc="90" kern="0" dirty="0">
                <a:solidFill>
                  <a:srgbClr val="9BA3AE"/>
                </a:solidFill>
                <a:latin typeface="Inter" pitchFamily="34" charset="0"/>
                <a:ea typeface="Inter" pitchFamily="34" charset="-122"/>
                <a:cs typeface="Inter" pitchFamily="34" charset="-120"/>
              </a:rPr>
              <a:t>EXTERNAL SYSTEMS</a:t>
            </a:r>
            <a:endParaRPr lang="en-US" sz="700" dirty="0"/>
          </a:p>
        </p:txBody>
      </p:sp>
      <p:sp>
        <p:nvSpPr>
          <p:cNvPr id="5" name="Text 3"/>
          <p:cNvSpPr/>
          <p:nvPr/>
        </p:nvSpPr>
        <p:spPr>
          <a:xfrm>
            <a:off x="7443216" y="1060704"/>
            <a:ext cx="1243584" cy="164592"/>
          </a:xfrm>
          <a:prstGeom prst="rect">
            <a:avLst/>
          </a:prstGeom>
          <a:noFill/>
          <a:ln/>
        </p:spPr>
        <p:txBody>
          <a:bodyPr wrap="square" lIns="0" tIns="0" rIns="0" bIns="0" rtlCol="0" anchor="ctr"/>
          <a:lstStyle/>
          <a:p>
            <a:pPr algn="ctr" indent="0" marL="0">
              <a:buNone/>
            </a:pPr>
            <a:r>
              <a:rPr lang="en-US" sz="700" b="1" spc="90" kern="0" dirty="0">
                <a:solidFill>
                  <a:srgbClr val="9BA3AE"/>
                </a:solidFill>
                <a:latin typeface="Inter" pitchFamily="34" charset="0"/>
                <a:ea typeface="Inter" pitchFamily="34" charset="-122"/>
                <a:cs typeface="Inter" pitchFamily="34" charset="-120"/>
              </a:rPr>
              <a:t>EXTERNAL SYSTEMS</a:t>
            </a:r>
            <a:endParaRPr lang="en-US" sz="700" dirty="0"/>
          </a:p>
        </p:txBody>
      </p:sp>
      <p:sp>
        <p:nvSpPr>
          <p:cNvPr id="6" name="Shape 4"/>
          <p:cNvSpPr/>
          <p:nvPr/>
        </p:nvSpPr>
        <p:spPr>
          <a:xfrm>
            <a:off x="457200" y="1261872"/>
            <a:ext cx="1188720" cy="676656"/>
          </a:xfrm>
          <a:prstGeom prst="rect">
            <a:avLst/>
          </a:prstGeom>
          <a:solidFill>
            <a:srgbClr val="FFFFFF"/>
          </a:solidFill>
          <a:ln w="9525">
            <a:solidFill>
              <a:srgbClr val="9BA3AE"/>
            </a:solidFill>
            <a:prstDash val="dash"/>
          </a:ln>
        </p:spPr>
      </p:sp>
      <p:sp>
        <p:nvSpPr>
          <p:cNvPr id="7" name="Text 5"/>
          <p:cNvSpPr/>
          <p:nvPr/>
        </p:nvSpPr>
        <p:spPr>
          <a:xfrm>
            <a:off x="457200" y="1380744"/>
            <a:ext cx="1188720" cy="201168"/>
          </a:xfrm>
          <a:prstGeom prst="rect">
            <a:avLst/>
          </a:prstGeom>
          <a:noFill/>
          <a:ln/>
        </p:spPr>
        <p:txBody>
          <a:bodyPr wrap="square" lIns="0" tIns="0" rIns="0" bIns="0" rtlCol="0" anchor="ctr"/>
          <a:lstStyle/>
          <a:p>
            <a:pPr algn="ctr" indent="0" marL="0">
              <a:buNone/>
            </a:pPr>
            <a:r>
              <a:rPr lang="en-US" sz="900" b="1" dirty="0">
                <a:solidFill>
                  <a:srgbClr val="2B303A"/>
                </a:solidFill>
                <a:latin typeface="Inter" pitchFamily="34" charset="0"/>
                <a:ea typeface="Inter" pitchFamily="34" charset="-122"/>
                <a:cs typeface="Inter" pitchFamily="34" charset="-120"/>
              </a:rPr>
              <a:t>RBI · SEBI · NCFE</a:t>
            </a:r>
            <a:endParaRPr lang="en-US" sz="900" dirty="0"/>
          </a:p>
        </p:txBody>
      </p:sp>
      <p:sp>
        <p:nvSpPr>
          <p:cNvPr id="8" name="Text 6"/>
          <p:cNvSpPr/>
          <p:nvPr/>
        </p:nvSpPr>
        <p:spPr>
          <a:xfrm>
            <a:off x="512064" y="1581912"/>
            <a:ext cx="1078992" cy="274320"/>
          </a:xfrm>
          <a:prstGeom prst="rect">
            <a:avLst/>
          </a:prstGeom>
          <a:noFill/>
          <a:ln/>
        </p:spPr>
        <p:txBody>
          <a:bodyPr wrap="square" lIns="0" tIns="0" rIns="0" bIns="0" rtlCol="0" anchor="ctr"/>
          <a:lstStyle/>
          <a:p>
            <a:pPr algn="ctr" indent="0" marL="0">
              <a:lnSpc>
                <a:spcPts val="900"/>
              </a:lnSpc>
              <a:buNone/>
            </a:pPr>
            <a:r>
              <a:rPr lang="en-US" sz="700" dirty="0">
                <a:solidFill>
                  <a:srgbClr val="6B7280"/>
                </a:solidFill>
                <a:latin typeface="Inter" pitchFamily="34" charset="0"/>
                <a:ea typeface="Inter" pitchFamily="34" charset="-122"/>
                <a:cs typeface="Inter" pitchFamily="34" charset="-120"/>
              </a:rPr>
              <a:t>Regulatory publications</a:t>
            </a:r>
            <a:endParaRPr lang="en-US" sz="700" dirty="0"/>
          </a:p>
        </p:txBody>
      </p:sp>
      <p:sp>
        <p:nvSpPr>
          <p:cNvPr id="9" name="Shape 7"/>
          <p:cNvSpPr/>
          <p:nvPr/>
        </p:nvSpPr>
        <p:spPr>
          <a:xfrm>
            <a:off x="457200" y="2633472"/>
            <a:ext cx="1188720" cy="676656"/>
          </a:xfrm>
          <a:prstGeom prst="rect">
            <a:avLst/>
          </a:prstGeom>
          <a:solidFill>
            <a:srgbClr val="FFFFFF"/>
          </a:solidFill>
          <a:ln w="9525">
            <a:solidFill>
              <a:srgbClr val="9BA3AE"/>
            </a:solidFill>
            <a:prstDash val="dash"/>
          </a:ln>
        </p:spPr>
      </p:sp>
      <p:sp>
        <p:nvSpPr>
          <p:cNvPr id="10" name="Text 8"/>
          <p:cNvSpPr/>
          <p:nvPr/>
        </p:nvSpPr>
        <p:spPr>
          <a:xfrm>
            <a:off x="457200" y="2752344"/>
            <a:ext cx="1188720" cy="201168"/>
          </a:xfrm>
          <a:prstGeom prst="rect">
            <a:avLst/>
          </a:prstGeom>
          <a:noFill/>
          <a:ln/>
        </p:spPr>
        <p:txBody>
          <a:bodyPr wrap="square" lIns="0" tIns="0" rIns="0" bIns="0" rtlCol="0" anchor="ctr"/>
          <a:lstStyle/>
          <a:p>
            <a:pPr algn="ctr" indent="0" marL="0">
              <a:buNone/>
            </a:pPr>
            <a:r>
              <a:rPr lang="en-US" sz="900" b="1" dirty="0">
                <a:solidFill>
                  <a:srgbClr val="2B303A"/>
                </a:solidFill>
                <a:latin typeface="Inter" pitchFamily="34" charset="0"/>
                <a:ea typeface="Inter" pitchFamily="34" charset="-122"/>
                <a:cs typeface="Inter" pitchFamily="34" charset="-120"/>
              </a:rPr>
              <a:t>Sahamati AA</a:t>
            </a:r>
            <a:endParaRPr lang="en-US" sz="900" dirty="0"/>
          </a:p>
        </p:txBody>
      </p:sp>
      <p:sp>
        <p:nvSpPr>
          <p:cNvPr id="11" name="Text 9"/>
          <p:cNvSpPr/>
          <p:nvPr/>
        </p:nvSpPr>
        <p:spPr>
          <a:xfrm>
            <a:off x="512064" y="2953512"/>
            <a:ext cx="1078992" cy="274320"/>
          </a:xfrm>
          <a:prstGeom prst="rect">
            <a:avLst/>
          </a:prstGeom>
          <a:noFill/>
          <a:ln/>
        </p:spPr>
        <p:txBody>
          <a:bodyPr wrap="square" lIns="0" tIns="0" rIns="0" bIns="0" rtlCol="0" anchor="ctr"/>
          <a:lstStyle/>
          <a:p>
            <a:pPr algn="ctr" indent="0" marL="0">
              <a:lnSpc>
                <a:spcPts val="900"/>
              </a:lnSpc>
              <a:buNone/>
            </a:pPr>
            <a:r>
              <a:rPr lang="en-US" sz="700" dirty="0">
                <a:solidFill>
                  <a:srgbClr val="6B7280"/>
                </a:solidFill>
                <a:latin typeface="Inter" pitchFamily="34" charset="0"/>
                <a:ea typeface="Inter" pitchFamily="34" charset="-122"/>
                <a:cs typeface="Inter" pitchFamily="34" charset="-120"/>
              </a:rPr>
              <a:t>Consent-driven UPI data</a:t>
            </a:r>
            <a:endParaRPr lang="en-US" sz="700" dirty="0"/>
          </a:p>
        </p:txBody>
      </p:sp>
      <p:sp>
        <p:nvSpPr>
          <p:cNvPr id="12" name="Shape 10"/>
          <p:cNvSpPr/>
          <p:nvPr/>
        </p:nvSpPr>
        <p:spPr>
          <a:xfrm>
            <a:off x="7443216" y="1947672"/>
            <a:ext cx="1243584" cy="676656"/>
          </a:xfrm>
          <a:prstGeom prst="rect">
            <a:avLst/>
          </a:prstGeom>
          <a:solidFill>
            <a:srgbClr val="FFFFFF"/>
          </a:solidFill>
          <a:ln w="9525">
            <a:solidFill>
              <a:srgbClr val="9BA3AE"/>
            </a:solidFill>
            <a:prstDash val="dash"/>
          </a:ln>
        </p:spPr>
      </p:sp>
      <p:sp>
        <p:nvSpPr>
          <p:cNvPr id="13" name="Text 11"/>
          <p:cNvSpPr/>
          <p:nvPr/>
        </p:nvSpPr>
        <p:spPr>
          <a:xfrm>
            <a:off x="7443216" y="2066544"/>
            <a:ext cx="1243584" cy="201168"/>
          </a:xfrm>
          <a:prstGeom prst="rect">
            <a:avLst/>
          </a:prstGeom>
          <a:noFill/>
          <a:ln/>
        </p:spPr>
        <p:txBody>
          <a:bodyPr wrap="square" lIns="0" tIns="0" rIns="0" bIns="0" rtlCol="0" anchor="ctr"/>
          <a:lstStyle/>
          <a:p>
            <a:pPr algn="ctr" indent="0" marL="0">
              <a:buNone/>
            </a:pPr>
            <a:r>
              <a:rPr lang="en-US" sz="900" b="1" dirty="0">
                <a:solidFill>
                  <a:srgbClr val="2B303A"/>
                </a:solidFill>
                <a:latin typeface="Inter" pitchFamily="34" charset="0"/>
                <a:ea typeface="Inter" pitchFamily="34" charset="-122"/>
                <a:cs typeface="Inter" pitchFamily="34" charset="-120"/>
              </a:rPr>
              <a:t>OpenAI</a:t>
            </a:r>
            <a:endParaRPr lang="en-US" sz="900" dirty="0"/>
          </a:p>
        </p:txBody>
      </p:sp>
      <p:sp>
        <p:nvSpPr>
          <p:cNvPr id="14" name="Text 12"/>
          <p:cNvSpPr/>
          <p:nvPr/>
        </p:nvSpPr>
        <p:spPr>
          <a:xfrm>
            <a:off x="7498080" y="2267712"/>
            <a:ext cx="1133856" cy="274320"/>
          </a:xfrm>
          <a:prstGeom prst="rect">
            <a:avLst/>
          </a:prstGeom>
          <a:noFill/>
          <a:ln/>
        </p:spPr>
        <p:txBody>
          <a:bodyPr wrap="square" lIns="0" tIns="0" rIns="0" bIns="0" rtlCol="0" anchor="ctr"/>
          <a:lstStyle/>
          <a:p>
            <a:pPr algn="ctr" indent="0" marL="0">
              <a:lnSpc>
                <a:spcPts val="900"/>
              </a:lnSpc>
              <a:buNone/>
            </a:pPr>
            <a:r>
              <a:rPr lang="en-US" sz="700" dirty="0">
                <a:solidFill>
                  <a:srgbClr val="6B7280"/>
                </a:solidFill>
                <a:latin typeface="Inter" pitchFamily="34" charset="0"/>
                <a:ea typeface="Inter" pitchFamily="34" charset="-122"/>
                <a:cs typeface="Inter" pitchFamily="34" charset="-120"/>
              </a:rPr>
              <a:t>Embeddings · LLM</a:t>
            </a:r>
            <a:endParaRPr lang="en-US" sz="700" dirty="0"/>
          </a:p>
        </p:txBody>
      </p:sp>
      <p:sp>
        <p:nvSpPr>
          <p:cNvPr id="15" name="Shape 13"/>
          <p:cNvSpPr/>
          <p:nvPr/>
        </p:nvSpPr>
        <p:spPr>
          <a:xfrm>
            <a:off x="2304288" y="1188720"/>
            <a:ext cx="4480560" cy="640080"/>
          </a:xfrm>
          <a:prstGeom prst="rect">
            <a:avLst/>
          </a:prstGeom>
          <a:solidFill>
            <a:srgbClr val="F4F6F8"/>
          </a:solidFill>
          <a:ln w="9525">
            <a:solidFill>
              <a:srgbClr val="D5DAE1"/>
            </a:solidFill>
            <a:prstDash val="solid"/>
          </a:ln>
        </p:spPr>
      </p:sp>
      <p:sp>
        <p:nvSpPr>
          <p:cNvPr id="16" name="Text 14"/>
          <p:cNvSpPr/>
          <p:nvPr/>
        </p:nvSpPr>
        <p:spPr>
          <a:xfrm>
            <a:off x="2414016" y="1252728"/>
            <a:ext cx="2194560" cy="164592"/>
          </a:xfrm>
          <a:prstGeom prst="rect">
            <a:avLst/>
          </a:prstGeom>
          <a:noFill/>
          <a:ln/>
        </p:spPr>
        <p:txBody>
          <a:bodyPr wrap="square" lIns="0" tIns="0" rIns="0" bIns="0" rtlCol="0" anchor="ctr"/>
          <a:lstStyle/>
          <a:p>
            <a:pPr indent="0" marL="0">
              <a:buNone/>
            </a:pPr>
            <a:r>
              <a:rPr lang="en-US" sz="750" b="1" spc="100" kern="0" dirty="0">
                <a:solidFill>
                  <a:srgbClr val="1B3A5C"/>
                </a:solidFill>
                <a:latin typeface="Inter" pitchFamily="34" charset="0"/>
                <a:ea typeface="Inter" pitchFamily="34" charset="-122"/>
                <a:cs typeface="Inter" pitchFamily="34" charset="-120"/>
              </a:rPr>
              <a:t>PRESENTATION LAYER</a:t>
            </a:r>
            <a:endParaRPr lang="en-US" sz="750" dirty="0"/>
          </a:p>
        </p:txBody>
      </p:sp>
      <p:sp>
        <p:nvSpPr>
          <p:cNvPr id="17" name="Shape 15"/>
          <p:cNvSpPr/>
          <p:nvPr/>
        </p:nvSpPr>
        <p:spPr>
          <a:xfrm>
            <a:off x="2414016" y="1444752"/>
            <a:ext cx="1010412" cy="329184"/>
          </a:xfrm>
          <a:prstGeom prst="rect">
            <a:avLst/>
          </a:prstGeom>
          <a:solidFill>
            <a:srgbClr val="FFFFFF"/>
          </a:solidFill>
          <a:ln w="9525">
            <a:solidFill>
              <a:srgbClr val="D5DAE1"/>
            </a:solidFill>
            <a:prstDash val="solid"/>
          </a:ln>
        </p:spPr>
      </p:sp>
      <p:sp>
        <p:nvSpPr>
          <p:cNvPr id="18" name="Text 16"/>
          <p:cNvSpPr/>
          <p:nvPr/>
        </p:nvSpPr>
        <p:spPr>
          <a:xfrm>
            <a:off x="2414016" y="1444752"/>
            <a:ext cx="1010412" cy="329184"/>
          </a:xfrm>
          <a:prstGeom prst="rect">
            <a:avLst/>
          </a:prstGeom>
          <a:noFill/>
          <a:ln/>
        </p:spPr>
        <p:txBody>
          <a:bodyPr wrap="square" lIns="254" tIns="254" rIns="254" bIns="254" rtlCol="0" anchor="ctr"/>
          <a:lstStyle/>
          <a:p>
            <a:pPr algn="ctr" indent="0" marL="0">
              <a:lnSpc>
                <a:spcPts val="850"/>
              </a:lnSpc>
              <a:buNone/>
            </a:pPr>
            <a:r>
              <a:rPr lang="en-US" sz="700" dirty="0">
                <a:solidFill>
                  <a:srgbClr val="2B303A"/>
                </a:solidFill>
                <a:latin typeface="Inter" pitchFamily="34" charset="0"/>
                <a:ea typeface="Inter" pitchFamily="34" charset="-122"/>
                <a:cs typeface="Inter" pitchFamily="34" charset="-120"/>
              </a:rPr>
              <a:t>React.js</a:t>
            </a:r>
            <a:endParaRPr lang="en-US" sz="700" dirty="0"/>
          </a:p>
        </p:txBody>
      </p:sp>
      <p:sp>
        <p:nvSpPr>
          <p:cNvPr id="19" name="Shape 17"/>
          <p:cNvSpPr/>
          <p:nvPr/>
        </p:nvSpPr>
        <p:spPr>
          <a:xfrm>
            <a:off x="3497580" y="1444752"/>
            <a:ext cx="1010412" cy="329184"/>
          </a:xfrm>
          <a:prstGeom prst="rect">
            <a:avLst/>
          </a:prstGeom>
          <a:solidFill>
            <a:srgbClr val="FFFFFF"/>
          </a:solidFill>
          <a:ln w="9525">
            <a:solidFill>
              <a:srgbClr val="D5DAE1"/>
            </a:solidFill>
            <a:prstDash val="solid"/>
          </a:ln>
        </p:spPr>
      </p:sp>
      <p:sp>
        <p:nvSpPr>
          <p:cNvPr id="20" name="Text 18"/>
          <p:cNvSpPr/>
          <p:nvPr/>
        </p:nvSpPr>
        <p:spPr>
          <a:xfrm>
            <a:off x="3497580" y="1444752"/>
            <a:ext cx="1010412" cy="329184"/>
          </a:xfrm>
          <a:prstGeom prst="rect">
            <a:avLst/>
          </a:prstGeom>
          <a:noFill/>
          <a:ln/>
        </p:spPr>
        <p:txBody>
          <a:bodyPr wrap="square" lIns="254" tIns="254" rIns="254" bIns="254" rtlCol="0" anchor="ctr"/>
          <a:lstStyle/>
          <a:p>
            <a:pPr algn="ctr" indent="0" marL="0">
              <a:lnSpc>
                <a:spcPts val="850"/>
              </a:lnSpc>
              <a:buNone/>
            </a:pPr>
            <a:r>
              <a:rPr lang="en-US" sz="700" dirty="0">
                <a:solidFill>
                  <a:srgbClr val="2B303A"/>
                </a:solidFill>
                <a:latin typeface="Inter" pitchFamily="34" charset="0"/>
                <a:ea typeface="Inter" pitchFamily="34" charset="-122"/>
                <a:cs typeface="Inter" pitchFamily="34" charset="-120"/>
              </a:rPr>
              <a:t>Tailwind CSS</a:t>
            </a:r>
            <a:endParaRPr lang="en-US" sz="700" dirty="0"/>
          </a:p>
        </p:txBody>
      </p:sp>
      <p:sp>
        <p:nvSpPr>
          <p:cNvPr id="21" name="Shape 19"/>
          <p:cNvSpPr/>
          <p:nvPr/>
        </p:nvSpPr>
        <p:spPr>
          <a:xfrm>
            <a:off x="4581144" y="1444752"/>
            <a:ext cx="1010412" cy="329184"/>
          </a:xfrm>
          <a:prstGeom prst="rect">
            <a:avLst/>
          </a:prstGeom>
          <a:solidFill>
            <a:srgbClr val="FFFFFF"/>
          </a:solidFill>
          <a:ln w="9525">
            <a:solidFill>
              <a:srgbClr val="D5DAE1"/>
            </a:solidFill>
            <a:prstDash val="solid"/>
          </a:ln>
        </p:spPr>
      </p:sp>
      <p:sp>
        <p:nvSpPr>
          <p:cNvPr id="22" name="Text 20"/>
          <p:cNvSpPr/>
          <p:nvPr/>
        </p:nvSpPr>
        <p:spPr>
          <a:xfrm>
            <a:off x="4581144" y="1444752"/>
            <a:ext cx="1010412" cy="329184"/>
          </a:xfrm>
          <a:prstGeom prst="rect">
            <a:avLst/>
          </a:prstGeom>
          <a:noFill/>
          <a:ln/>
        </p:spPr>
        <p:txBody>
          <a:bodyPr wrap="square" lIns="254" tIns="254" rIns="254" bIns="254" rtlCol="0" anchor="ctr"/>
          <a:lstStyle/>
          <a:p>
            <a:pPr algn="ctr" indent="0" marL="0">
              <a:lnSpc>
                <a:spcPts val="850"/>
              </a:lnSpc>
              <a:buNone/>
            </a:pPr>
            <a:r>
              <a:rPr lang="en-US" sz="700" dirty="0">
                <a:solidFill>
                  <a:srgbClr val="2B303A"/>
                </a:solidFill>
                <a:latin typeface="Inter" pitchFamily="34" charset="0"/>
                <a:ea typeface="Inter" pitchFamily="34" charset="-122"/>
                <a:cs typeface="Inter" pitchFamily="34" charset="-120"/>
              </a:rPr>
              <a:t>Redux / Context</a:t>
            </a:r>
            <a:endParaRPr lang="en-US" sz="700" dirty="0"/>
          </a:p>
        </p:txBody>
      </p:sp>
      <p:sp>
        <p:nvSpPr>
          <p:cNvPr id="23" name="Shape 21"/>
          <p:cNvSpPr/>
          <p:nvPr/>
        </p:nvSpPr>
        <p:spPr>
          <a:xfrm>
            <a:off x="5664708" y="1444752"/>
            <a:ext cx="1010412" cy="329184"/>
          </a:xfrm>
          <a:prstGeom prst="rect">
            <a:avLst/>
          </a:prstGeom>
          <a:solidFill>
            <a:srgbClr val="FFFFFF"/>
          </a:solidFill>
          <a:ln w="9525">
            <a:solidFill>
              <a:srgbClr val="D5DAE1"/>
            </a:solidFill>
            <a:prstDash val="solid"/>
          </a:ln>
        </p:spPr>
      </p:sp>
      <p:sp>
        <p:nvSpPr>
          <p:cNvPr id="24" name="Text 22"/>
          <p:cNvSpPr/>
          <p:nvPr/>
        </p:nvSpPr>
        <p:spPr>
          <a:xfrm>
            <a:off x="5664708" y="1444752"/>
            <a:ext cx="1010412" cy="329184"/>
          </a:xfrm>
          <a:prstGeom prst="rect">
            <a:avLst/>
          </a:prstGeom>
          <a:noFill/>
          <a:ln/>
        </p:spPr>
        <p:txBody>
          <a:bodyPr wrap="square" lIns="254" tIns="254" rIns="254" bIns="254" rtlCol="0" anchor="ctr"/>
          <a:lstStyle/>
          <a:p>
            <a:pPr algn="ctr" indent="0" marL="0">
              <a:lnSpc>
                <a:spcPts val="850"/>
              </a:lnSpc>
              <a:buNone/>
            </a:pPr>
            <a:r>
              <a:rPr lang="en-US" sz="700" dirty="0">
                <a:solidFill>
                  <a:srgbClr val="2B303A"/>
                </a:solidFill>
                <a:latin typeface="Inter" pitchFamily="34" charset="0"/>
                <a:ea typeface="Inter" pitchFamily="34" charset="-122"/>
                <a:cs typeface="Inter" pitchFamily="34" charset="-120"/>
              </a:rPr>
              <a:t>D3.js · Chart.js</a:t>
            </a:r>
            <a:endParaRPr lang="en-US" sz="700" dirty="0"/>
          </a:p>
        </p:txBody>
      </p:sp>
      <p:sp>
        <p:nvSpPr>
          <p:cNvPr id="25" name="Shape 23"/>
          <p:cNvSpPr/>
          <p:nvPr/>
        </p:nvSpPr>
        <p:spPr>
          <a:xfrm>
            <a:off x="4544568" y="1828800"/>
            <a:ext cx="0" cy="137160"/>
          </a:xfrm>
          <a:prstGeom prst="line">
            <a:avLst/>
          </a:prstGeom>
          <a:noFill/>
          <a:ln w="12700">
            <a:solidFill>
              <a:srgbClr val="AEB6C0"/>
            </a:solidFill>
            <a:prstDash val="solid"/>
            <a:tailEnd type="triangle"/>
          </a:ln>
        </p:spPr>
      </p:sp>
      <p:sp>
        <p:nvSpPr>
          <p:cNvPr id="26" name="Shape 24"/>
          <p:cNvSpPr/>
          <p:nvPr/>
        </p:nvSpPr>
        <p:spPr>
          <a:xfrm>
            <a:off x="2304288" y="1965960"/>
            <a:ext cx="4480560" cy="640080"/>
          </a:xfrm>
          <a:prstGeom prst="rect">
            <a:avLst/>
          </a:prstGeom>
          <a:solidFill>
            <a:srgbClr val="F4F6F8"/>
          </a:solidFill>
          <a:ln w="9525">
            <a:solidFill>
              <a:srgbClr val="D5DAE1"/>
            </a:solidFill>
            <a:prstDash val="solid"/>
          </a:ln>
        </p:spPr>
      </p:sp>
      <p:sp>
        <p:nvSpPr>
          <p:cNvPr id="27" name="Text 25"/>
          <p:cNvSpPr/>
          <p:nvPr/>
        </p:nvSpPr>
        <p:spPr>
          <a:xfrm>
            <a:off x="2414016" y="2029968"/>
            <a:ext cx="2194560" cy="164592"/>
          </a:xfrm>
          <a:prstGeom prst="rect">
            <a:avLst/>
          </a:prstGeom>
          <a:noFill/>
          <a:ln/>
        </p:spPr>
        <p:txBody>
          <a:bodyPr wrap="square" lIns="0" tIns="0" rIns="0" bIns="0" rtlCol="0" anchor="ctr"/>
          <a:lstStyle/>
          <a:p>
            <a:pPr indent="0" marL="0">
              <a:buNone/>
            </a:pPr>
            <a:r>
              <a:rPr lang="en-US" sz="750" b="1" spc="100" kern="0" dirty="0">
                <a:solidFill>
                  <a:srgbClr val="1B3A5C"/>
                </a:solidFill>
                <a:latin typeface="Inter" pitchFamily="34" charset="0"/>
                <a:ea typeface="Inter" pitchFamily="34" charset="-122"/>
                <a:cs typeface="Inter" pitchFamily="34" charset="-120"/>
              </a:rPr>
              <a:t>APPLICATION LAYER</a:t>
            </a:r>
            <a:endParaRPr lang="en-US" sz="750" dirty="0"/>
          </a:p>
        </p:txBody>
      </p:sp>
      <p:sp>
        <p:nvSpPr>
          <p:cNvPr id="28" name="Shape 26"/>
          <p:cNvSpPr/>
          <p:nvPr/>
        </p:nvSpPr>
        <p:spPr>
          <a:xfrm>
            <a:off x="2414016" y="2221992"/>
            <a:ext cx="1010412" cy="329184"/>
          </a:xfrm>
          <a:prstGeom prst="rect">
            <a:avLst/>
          </a:prstGeom>
          <a:solidFill>
            <a:srgbClr val="FFFFFF"/>
          </a:solidFill>
          <a:ln w="9525">
            <a:solidFill>
              <a:srgbClr val="D5DAE1"/>
            </a:solidFill>
            <a:prstDash val="solid"/>
          </a:ln>
        </p:spPr>
      </p:sp>
      <p:sp>
        <p:nvSpPr>
          <p:cNvPr id="29" name="Text 27"/>
          <p:cNvSpPr/>
          <p:nvPr/>
        </p:nvSpPr>
        <p:spPr>
          <a:xfrm>
            <a:off x="2414016" y="2221992"/>
            <a:ext cx="1010412" cy="329184"/>
          </a:xfrm>
          <a:prstGeom prst="rect">
            <a:avLst/>
          </a:prstGeom>
          <a:noFill/>
          <a:ln/>
        </p:spPr>
        <p:txBody>
          <a:bodyPr wrap="square" lIns="254" tIns="254" rIns="254" bIns="254" rtlCol="0" anchor="ctr"/>
          <a:lstStyle/>
          <a:p>
            <a:pPr algn="ctr" indent="0" marL="0">
              <a:lnSpc>
                <a:spcPts val="850"/>
              </a:lnSpc>
              <a:buNone/>
            </a:pPr>
            <a:r>
              <a:rPr lang="en-US" sz="700" dirty="0">
                <a:solidFill>
                  <a:srgbClr val="2B303A"/>
                </a:solidFill>
                <a:latin typeface="Inter" pitchFamily="34" charset="0"/>
                <a:ea typeface="Inter" pitchFamily="34" charset="-122"/>
                <a:cs typeface="Inter" pitchFamily="34" charset="-120"/>
              </a:rPr>
              <a:t>FastAPI</a:t>
            </a:r>
            <a:endParaRPr lang="en-US" sz="700" dirty="0"/>
          </a:p>
        </p:txBody>
      </p:sp>
      <p:sp>
        <p:nvSpPr>
          <p:cNvPr id="30" name="Shape 28"/>
          <p:cNvSpPr/>
          <p:nvPr/>
        </p:nvSpPr>
        <p:spPr>
          <a:xfrm>
            <a:off x="3497580" y="2221992"/>
            <a:ext cx="1010412" cy="329184"/>
          </a:xfrm>
          <a:prstGeom prst="rect">
            <a:avLst/>
          </a:prstGeom>
          <a:solidFill>
            <a:srgbClr val="FFFFFF"/>
          </a:solidFill>
          <a:ln w="9525">
            <a:solidFill>
              <a:srgbClr val="D5DAE1"/>
            </a:solidFill>
            <a:prstDash val="solid"/>
          </a:ln>
        </p:spPr>
      </p:sp>
      <p:sp>
        <p:nvSpPr>
          <p:cNvPr id="31" name="Text 29"/>
          <p:cNvSpPr/>
          <p:nvPr/>
        </p:nvSpPr>
        <p:spPr>
          <a:xfrm>
            <a:off x="3497580" y="2221992"/>
            <a:ext cx="1010412" cy="329184"/>
          </a:xfrm>
          <a:prstGeom prst="rect">
            <a:avLst/>
          </a:prstGeom>
          <a:noFill/>
          <a:ln/>
        </p:spPr>
        <p:txBody>
          <a:bodyPr wrap="square" lIns="254" tIns="254" rIns="254" bIns="254" rtlCol="0" anchor="ctr"/>
          <a:lstStyle/>
          <a:p>
            <a:pPr algn="ctr" indent="0" marL="0">
              <a:lnSpc>
                <a:spcPts val="850"/>
              </a:lnSpc>
              <a:buNone/>
            </a:pPr>
            <a:r>
              <a:rPr lang="en-US" sz="700" dirty="0">
                <a:solidFill>
                  <a:srgbClr val="2B303A"/>
                </a:solidFill>
                <a:latin typeface="Inter" pitchFamily="34" charset="0"/>
                <a:ea typeface="Inter" pitchFamily="34" charset="-122"/>
                <a:cs typeface="Inter" pitchFamily="34" charset="-120"/>
              </a:rPr>
              <a:t>Auth / API Handling</a:t>
            </a:r>
            <a:endParaRPr lang="en-US" sz="700" dirty="0"/>
          </a:p>
        </p:txBody>
      </p:sp>
      <p:sp>
        <p:nvSpPr>
          <p:cNvPr id="32" name="Shape 30"/>
          <p:cNvSpPr/>
          <p:nvPr/>
        </p:nvSpPr>
        <p:spPr>
          <a:xfrm>
            <a:off x="4581144" y="2221992"/>
            <a:ext cx="1010412" cy="329184"/>
          </a:xfrm>
          <a:prstGeom prst="rect">
            <a:avLst/>
          </a:prstGeom>
          <a:solidFill>
            <a:srgbClr val="FFFFFF"/>
          </a:solidFill>
          <a:ln w="9525">
            <a:solidFill>
              <a:srgbClr val="D5DAE1"/>
            </a:solidFill>
            <a:prstDash val="solid"/>
          </a:ln>
        </p:spPr>
      </p:sp>
      <p:sp>
        <p:nvSpPr>
          <p:cNvPr id="33" name="Text 31"/>
          <p:cNvSpPr/>
          <p:nvPr/>
        </p:nvSpPr>
        <p:spPr>
          <a:xfrm>
            <a:off x="4581144" y="2221992"/>
            <a:ext cx="1010412" cy="329184"/>
          </a:xfrm>
          <a:prstGeom prst="rect">
            <a:avLst/>
          </a:prstGeom>
          <a:noFill/>
          <a:ln/>
        </p:spPr>
        <p:txBody>
          <a:bodyPr wrap="square" lIns="254" tIns="254" rIns="254" bIns="254" rtlCol="0" anchor="ctr"/>
          <a:lstStyle/>
          <a:p>
            <a:pPr algn="ctr" indent="0" marL="0">
              <a:lnSpc>
                <a:spcPts val="850"/>
              </a:lnSpc>
              <a:buNone/>
            </a:pPr>
            <a:r>
              <a:rPr lang="en-US" sz="700" dirty="0">
                <a:solidFill>
                  <a:srgbClr val="2B303A"/>
                </a:solidFill>
                <a:latin typeface="Inter" pitchFamily="34" charset="0"/>
                <a:ea typeface="Inter" pitchFamily="34" charset="-122"/>
                <a:cs typeface="Inter" pitchFamily="34" charset="-120"/>
              </a:rPr>
              <a:t>LangChain Orchestrator</a:t>
            </a:r>
            <a:endParaRPr lang="en-US" sz="700" dirty="0"/>
          </a:p>
        </p:txBody>
      </p:sp>
      <p:sp>
        <p:nvSpPr>
          <p:cNvPr id="34" name="Shape 32"/>
          <p:cNvSpPr/>
          <p:nvPr/>
        </p:nvSpPr>
        <p:spPr>
          <a:xfrm>
            <a:off x="5664708" y="2221992"/>
            <a:ext cx="1010412" cy="329184"/>
          </a:xfrm>
          <a:prstGeom prst="rect">
            <a:avLst/>
          </a:prstGeom>
          <a:solidFill>
            <a:srgbClr val="FFFFFF"/>
          </a:solidFill>
          <a:ln w="9525">
            <a:solidFill>
              <a:srgbClr val="D5DAE1"/>
            </a:solidFill>
            <a:prstDash val="solid"/>
          </a:ln>
        </p:spPr>
      </p:sp>
      <p:sp>
        <p:nvSpPr>
          <p:cNvPr id="35" name="Text 33"/>
          <p:cNvSpPr/>
          <p:nvPr/>
        </p:nvSpPr>
        <p:spPr>
          <a:xfrm>
            <a:off x="5664708" y="2221992"/>
            <a:ext cx="1010412" cy="329184"/>
          </a:xfrm>
          <a:prstGeom prst="rect">
            <a:avLst/>
          </a:prstGeom>
          <a:noFill/>
          <a:ln/>
        </p:spPr>
        <p:txBody>
          <a:bodyPr wrap="square" lIns="254" tIns="254" rIns="254" bIns="254" rtlCol="0" anchor="ctr"/>
          <a:lstStyle/>
          <a:p>
            <a:pPr algn="ctr" indent="0" marL="0">
              <a:lnSpc>
                <a:spcPts val="850"/>
              </a:lnSpc>
              <a:buNone/>
            </a:pPr>
            <a:r>
              <a:rPr lang="en-US" sz="700" dirty="0">
                <a:solidFill>
                  <a:srgbClr val="2B303A"/>
                </a:solidFill>
                <a:latin typeface="Inter" pitchFamily="34" charset="0"/>
                <a:ea typeface="Inter" pitchFamily="34" charset="-122"/>
                <a:cs typeface="Inter" pitchFamily="34" charset="-120"/>
              </a:rPr>
              <a:t>Behavioral Rule Engine</a:t>
            </a:r>
            <a:endParaRPr lang="en-US" sz="700" dirty="0"/>
          </a:p>
        </p:txBody>
      </p:sp>
      <p:sp>
        <p:nvSpPr>
          <p:cNvPr id="36" name="Shape 34"/>
          <p:cNvSpPr/>
          <p:nvPr/>
        </p:nvSpPr>
        <p:spPr>
          <a:xfrm>
            <a:off x="4544568" y="2606040"/>
            <a:ext cx="0" cy="137160"/>
          </a:xfrm>
          <a:prstGeom prst="line">
            <a:avLst/>
          </a:prstGeom>
          <a:noFill/>
          <a:ln w="12700">
            <a:solidFill>
              <a:srgbClr val="AEB6C0"/>
            </a:solidFill>
            <a:prstDash val="solid"/>
            <a:tailEnd type="triangle"/>
          </a:ln>
        </p:spPr>
      </p:sp>
      <p:sp>
        <p:nvSpPr>
          <p:cNvPr id="37" name="Shape 35"/>
          <p:cNvSpPr/>
          <p:nvPr/>
        </p:nvSpPr>
        <p:spPr>
          <a:xfrm>
            <a:off x="2304288" y="2743200"/>
            <a:ext cx="4480560" cy="640080"/>
          </a:xfrm>
          <a:prstGeom prst="rect">
            <a:avLst/>
          </a:prstGeom>
          <a:solidFill>
            <a:srgbClr val="F4F6F8"/>
          </a:solidFill>
          <a:ln w="9525">
            <a:solidFill>
              <a:srgbClr val="D5DAE1"/>
            </a:solidFill>
            <a:prstDash val="solid"/>
          </a:ln>
        </p:spPr>
      </p:sp>
      <p:sp>
        <p:nvSpPr>
          <p:cNvPr id="38" name="Text 36"/>
          <p:cNvSpPr/>
          <p:nvPr/>
        </p:nvSpPr>
        <p:spPr>
          <a:xfrm>
            <a:off x="2414016" y="2807208"/>
            <a:ext cx="2194560" cy="164592"/>
          </a:xfrm>
          <a:prstGeom prst="rect">
            <a:avLst/>
          </a:prstGeom>
          <a:noFill/>
          <a:ln/>
        </p:spPr>
        <p:txBody>
          <a:bodyPr wrap="square" lIns="0" tIns="0" rIns="0" bIns="0" rtlCol="0" anchor="ctr"/>
          <a:lstStyle/>
          <a:p>
            <a:pPr indent="0" marL="0">
              <a:buNone/>
            </a:pPr>
            <a:r>
              <a:rPr lang="en-US" sz="750" b="1" spc="100" kern="0" dirty="0">
                <a:solidFill>
                  <a:srgbClr val="1B3A5C"/>
                </a:solidFill>
                <a:latin typeface="Inter" pitchFamily="34" charset="0"/>
                <a:ea typeface="Inter" pitchFamily="34" charset="-122"/>
                <a:cs typeface="Inter" pitchFamily="34" charset="-120"/>
              </a:rPr>
              <a:t>INTELLIGENCE LAYER</a:t>
            </a:r>
            <a:endParaRPr lang="en-US" sz="750" dirty="0"/>
          </a:p>
        </p:txBody>
      </p:sp>
      <p:sp>
        <p:nvSpPr>
          <p:cNvPr id="39" name="Shape 37"/>
          <p:cNvSpPr/>
          <p:nvPr/>
        </p:nvSpPr>
        <p:spPr>
          <a:xfrm>
            <a:off x="2414016" y="2999232"/>
            <a:ext cx="1010412" cy="329184"/>
          </a:xfrm>
          <a:prstGeom prst="rect">
            <a:avLst/>
          </a:prstGeom>
          <a:solidFill>
            <a:srgbClr val="FFFFFF"/>
          </a:solidFill>
          <a:ln w="9525">
            <a:solidFill>
              <a:srgbClr val="D5DAE1"/>
            </a:solidFill>
            <a:prstDash val="solid"/>
          </a:ln>
        </p:spPr>
      </p:sp>
      <p:sp>
        <p:nvSpPr>
          <p:cNvPr id="40" name="Text 38"/>
          <p:cNvSpPr/>
          <p:nvPr/>
        </p:nvSpPr>
        <p:spPr>
          <a:xfrm>
            <a:off x="2414016" y="2999232"/>
            <a:ext cx="1010412" cy="329184"/>
          </a:xfrm>
          <a:prstGeom prst="rect">
            <a:avLst/>
          </a:prstGeom>
          <a:noFill/>
          <a:ln/>
        </p:spPr>
        <p:txBody>
          <a:bodyPr wrap="square" lIns="254" tIns="254" rIns="254" bIns="254" rtlCol="0" anchor="ctr"/>
          <a:lstStyle/>
          <a:p>
            <a:pPr algn="ctr" indent="0" marL="0">
              <a:lnSpc>
                <a:spcPts val="850"/>
              </a:lnSpc>
              <a:buNone/>
            </a:pPr>
            <a:r>
              <a:rPr lang="en-US" sz="700" dirty="0">
                <a:solidFill>
                  <a:srgbClr val="2B303A"/>
                </a:solidFill>
                <a:latin typeface="Inter" pitchFamily="34" charset="0"/>
                <a:ea typeface="Inter" pitchFamily="34" charset="-122"/>
                <a:cs typeface="Inter" pitchFamily="34" charset="-120"/>
              </a:rPr>
              <a:t>RAG Pipeline</a:t>
            </a:r>
            <a:endParaRPr lang="en-US" sz="700" dirty="0"/>
          </a:p>
        </p:txBody>
      </p:sp>
      <p:sp>
        <p:nvSpPr>
          <p:cNvPr id="41" name="Shape 39"/>
          <p:cNvSpPr/>
          <p:nvPr/>
        </p:nvSpPr>
        <p:spPr>
          <a:xfrm>
            <a:off x="3497580" y="2999232"/>
            <a:ext cx="1010412" cy="329184"/>
          </a:xfrm>
          <a:prstGeom prst="rect">
            <a:avLst/>
          </a:prstGeom>
          <a:solidFill>
            <a:srgbClr val="FFFFFF"/>
          </a:solidFill>
          <a:ln w="9525">
            <a:solidFill>
              <a:srgbClr val="D5DAE1"/>
            </a:solidFill>
            <a:prstDash val="solid"/>
          </a:ln>
        </p:spPr>
      </p:sp>
      <p:sp>
        <p:nvSpPr>
          <p:cNvPr id="42" name="Text 40"/>
          <p:cNvSpPr/>
          <p:nvPr/>
        </p:nvSpPr>
        <p:spPr>
          <a:xfrm>
            <a:off x="3497580" y="2999232"/>
            <a:ext cx="1010412" cy="329184"/>
          </a:xfrm>
          <a:prstGeom prst="rect">
            <a:avLst/>
          </a:prstGeom>
          <a:noFill/>
          <a:ln/>
        </p:spPr>
        <p:txBody>
          <a:bodyPr wrap="square" lIns="254" tIns="254" rIns="254" bIns="254" rtlCol="0" anchor="ctr"/>
          <a:lstStyle/>
          <a:p>
            <a:pPr algn="ctr" indent="0" marL="0">
              <a:lnSpc>
                <a:spcPts val="850"/>
              </a:lnSpc>
              <a:buNone/>
            </a:pPr>
            <a:r>
              <a:rPr lang="en-US" sz="700" dirty="0">
                <a:solidFill>
                  <a:srgbClr val="2B303A"/>
                </a:solidFill>
                <a:latin typeface="Inter" pitchFamily="34" charset="0"/>
                <a:ea typeface="Inter" pitchFamily="34" charset="-122"/>
                <a:cs typeface="Inter" pitchFamily="34" charset="-120"/>
              </a:rPr>
              <a:t>FAISS Vector Search</a:t>
            </a:r>
            <a:endParaRPr lang="en-US" sz="700" dirty="0"/>
          </a:p>
        </p:txBody>
      </p:sp>
      <p:sp>
        <p:nvSpPr>
          <p:cNvPr id="43" name="Shape 41"/>
          <p:cNvSpPr/>
          <p:nvPr/>
        </p:nvSpPr>
        <p:spPr>
          <a:xfrm>
            <a:off x="4581144" y="2999232"/>
            <a:ext cx="1010412" cy="329184"/>
          </a:xfrm>
          <a:prstGeom prst="rect">
            <a:avLst/>
          </a:prstGeom>
          <a:solidFill>
            <a:srgbClr val="FFFFFF"/>
          </a:solidFill>
          <a:ln w="9525">
            <a:solidFill>
              <a:srgbClr val="D5DAE1"/>
            </a:solidFill>
            <a:prstDash val="solid"/>
          </a:ln>
        </p:spPr>
      </p:sp>
      <p:sp>
        <p:nvSpPr>
          <p:cNvPr id="44" name="Text 42"/>
          <p:cNvSpPr/>
          <p:nvPr/>
        </p:nvSpPr>
        <p:spPr>
          <a:xfrm>
            <a:off x="4581144" y="2999232"/>
            <a:ext cx="1010412" cy="329184"/>
          </a:xfrm>
          <a:prstGeom prst="rect">
            <a:avLst/>
          </a:prstGeom>
          <a:noFill/>
          <a:ln/>
        </p:spPr>
        <p:txBody>
          <a:bodyPr wrap="square" lIns="254" tIns="254" rIns="254" bIns="254" rtlCol="0" anchor="ctr"/>
          <a:lstStyle/>
          <a:p>
            <a:pPr algn="ctr" indent="0" marL="0">
              <a:lnSpc>
                <a:spcPts val="850"/>
              </a:lnSpc>
              <a:buNone/>
            </a:pPr>
            <a:r>
              <a:rPr lang="en-US" sz="700" dirty="0">
                <a:solidFill>
                  <a:srgbClr val="2B303A"/>
                </a:solidFill>
                <a:latin typeface="Inter" pitchFamily="34" charset="0"/>
                <a:ea typeface="Inter" pitchFamily="34" charset="-122"/>
                <a:cs typeface="Inter" pitchFamily="34" charset="-120"/>
              </a:rPr>
              <a:t>LLM Generation</a:t>
            </a:r>
            <a:endParaRPr lang="en-US" sz="700" dirty="0"/>
          </a:p>
        </p:txBody>
      </p:sp>
      <p:sp>
        <p:nvSpPr>
          <p:cNvPr id="45" name="Shape 43"/>
          <p:cNvSpPr/>
          <p:nvPr/>
        </p:nvSpPr>
        <p:spPr>
          <a:xfrm>
            <a:off x="5664708" y="2999232"/>
            <a:ext cx="1010412" cy="329184"/>
          </a:xfrm>
          <a:prstGeom prst="rect">
            <a:avLst/>
          </a:prstGeom>
          <a:solidFill>
            <a:srgbClr val="FFFFFF"/>
          </a:solidFill>
          <a:ln w="9525">
            <a:solidFill>
              <a:srgbClr val="D5DAE1"/>
            </a:solidFill>
            <a:prstDash val="solid"/>
          </a:ln>
        </p:spPr>
      </p:sp>
      <p:sp>
        <p:nvSpPr>
          <p:cNvPr id="46" name="Text 44"/>
          <p:cNvSpPr/>
          <p:nvPr/>
        </p:nvSpPr>
        <p:spPr>
          <a:xfrm>
            <a:off x="5664708" y="2999232"/>
            <a:ext cx="1010412" cy="329184"/>
          </a:xfrm>
          <a:prstGeom prst="rect">
            <a:avLst/>
          </a:prstGeom>
          <a:noFill/>
          <a:ln/>
        </p:spPr>
        <p:txBody>
          <a:bodyPr wrap="square" lIns="254" tIns="254" rIns="254" bIns="254" rtlCol="0" anchor="ctr"/>
          <a:lstStyle/>
          <a:p>
            <a:pPr algn="ctr" indent="0" marL="0">
              <a:lnSpc>
                <a:spcPts val="850"/>
              </a:lnSpc>
              <a:buNone/>
            </a:pPr>
            <a:r>
              <a:rPr lang="en-US" sz="700" dirty="0">
                <a:solidFill>
                  <a:srgbClr val="2B303A"/>
                </a:solidFill>
                <a:latin typeface="Inter" pitchFamily="34" charset="0"/>
                <a:ea typeface="Inter" pitchFamily="34" charset="-122"/>
                <a:cs typeface="Inter" pitchFamily="34" charset="-120"/>
              </a:rPr>
              <a:t>Behavioral ML Pipeline</a:t>
            </a:r>
            <a:endParaRPr lang="en-US" sz="700" dirty="0"/>
          </a:p>
        </p:txBody>
      </p:sp>
      <p:sp>
        <p:nvSpPr>
          <p:cNvPr id="47" name="Shape 45"/>
          <p:cNvSpPr/>
          <p:nvPr/>
        </p:nvSpPr>
        <p:spPr>
          <a:xfrm>
            <a:off x="4544568" y="3383280"/>
            <a:ext cx="0" cy="137160"/>
          </a:xfrm>
          <a:prstGeom prst="line">
            <a:avLst/>
          </a:prstGeom>
          <a:noFill/>
          <a:ln w="12700">
            <a:solidFill>
              <a:srgbClr val="AEB6C0"/>
            </a:solidFill>
            <a:prstDash val="solid"/>
            <a:tailEnd type="triangle"/>
          </a:ln>
        </p:spPr>
      </p:sp>
      <p:sp>
        <p:nvSpPr>
          <p:cNvPr id="48" name="Shape 46"/>
          <p:cNvSpPr/>
          <p:nvPr/>
        </p:nvSpPr>
        <p:spPr>
          <a:xfrm>
            <a:off x="2304288" y="3520440"/>
            <a:ext cx="4480560" cy="640080"/>
          </a:xfrm>
          <a:prstGeom prst="rect">
            <a:avLst/>
          </a:prstGeom>
          <a:solidFill>
            <a:srgbClr val="F4F6F8"/>
          </a:solidFill>
          <a:ln w="9525">
            <a:solidFill>
              <a:srgbClr val="D5DAE1"/>
            </a:solidFill>
            <a:prstDash val="solid"/>
          </a:ln>
        </p:spPr>
      </p:sp>
      <p:sp>
        <p:nvSpPr>
          <p:cNvPr id="49" name="Text 47"/>
          <p:cNvSpPr/>
          <p:nvPr/>
        </p:nvSpPr>
        <p:spPr>
          <a:xfrm>
            <a:off x="2414016" y="3584448"/>
            <a:ext cx="2194560" cy="164592"/>
          </a:xfrm>
          <a:prstGeom prst="rect">
            <a:avLst/>
          </a:prstGeom>
          <a:noFill/>
          <a:ln/>
        </p:spPr>
        <p:txBody>
          <a:bodyPr wrap="square" lIns="0" tIns="0" rIns="0" bIns="0" rtlCol="0" anchor="ctr"/>
          <a:lstStyle/>
          <a:p>
            <a:pPr indent="0" marL="0">
              <a:buNone/>
            </a:pPr>
            <a:r>
              <a:rPr lang="en-US" sz="750" b="1" spc="100" kern="0" dirty="0">
                <a:solidFill>
                  <a:srgbClr val="1B3A5C"/>
                </a:solidFill>
                <a:latin typeface="Inter" pitchFamily="34" charset="0"/>
                <a:ea typeface="Inter" pitchFamily="34" charset="-122"/>
                <a:cs typeface="Inter" pitchFamily="34" charset="-120"/>
              </a:rPr>
              <a:t>DATA LAYER</a:t>
            </a:r>
            <a:endParaRPr lang="en-US" sz="750" dirty="0"/>
          </a:p>
        </p:txBody>
      </p:sp>
      <p:sp>
        <p:nvSpPr>
          <p:cNvPr id="50" name="Shape 48"/>
          <p:cNvSpPr/>
          <p:nvPr/>
        </p:nvSpPr>
        <p:spPr>
          <a:xfrm>
            <a:off x="2414016" y="3776472"/>
            <a:ext cx="1010412" cy="329184"/>
          </a:xfrm>
          <a:prstGeom prst="rect">
            <a:avLst/>
          </a:prstGeom>
          <a:solidFill>
            <a:srgbClr val="FFFFFF"/>
          </a:solidFill>
          <a:ln w="9525">
            <a:solidFill>
              <a:srgbClr val="D5DAE1"/>
            </a:solidFill>
            <a:prstDash val="solid"/>
          </a:ln>
        </p:spPr>
      </p:sp>
      <p:sp>
        <p:nvSpPr>
          <p:cNvPr id="51" name="Text 49"/>
          <p:cNvSpPr/>
          <p:nvPr/>
        </p:nvSpPr>
        <p:spPr>
          <a:xfrm>
            <a:off x="2414016" y="3776472"/>
            <a:ext cx="1010412" cy="329184"/>
          </a:xfrm>
          <a:prstGeom prst="rect">
            <a:avLst/>
          </a:prstGeom>
          <a:noFill/>
          <a:ln/>
        </p:spPr>
        <p:txBody>
          <a:bodyPr wrap="square" lIns="254" tIns="254" rIns="254" bIns="254" rtlCol="0" anchor="ctr"/>
          <a:lstStyle/>
          <a:p>
            <a:pPr algn="ctr" indent="0" marL="0">
              <a:lnSpc>
                <a:spcPts val="850"/>
              </a:lnSpc>
              <a:buNone/>
            </a:pPr>
            <a:r>
              <a:rPr lang="en-US" sz="700" dirty="0">
                <a:solidFill>
                  <a:srgbClr val="2B303A"/>
                </a:solidFill>
                <a:latin typeface="Inter" pitchFamily="34" charset="0"/>
                <a:ea typeface="Inter" pitchFamily="34" charset="-122"/>
                <a:cs typeface="Inter" pitchFamily="34" charset="-120"/>
              </a:rPr>
              <a:t>PostgreSQL / Supabase</a:t>
            </a:r>
            <a:endParaRPr lang="en-US" sz="700" dirty="0"/>
          </a:p>
        </p:txBody>
      </p:sp>
      <p:sp>
        <p:nvSpPr>
          <p:cNvPr id="52" name="Shape 50"/>
          <p:cNvSpPr/>
          <p:nvPr/>
        </p:nvSpPr>
        <p:spPr>
          <a:xfrm>
            <a:off x="3497580" y="3776472"/>
            <a:ext cx="1010412" cy="329184"/>
          </a:xfrm>
          <a:prstGeom prst="rect">
            <a:avLst/>
          </a:prstGeom>
          <a:solidFill>
            <a:srgbClr val="FFFFFF"/>
          </a:solidFill>
          <a:ln w="9525">
            <a:solidFill>
              <a:srgbClr val="D5DAE1"/>
            </a:solidFill>
            <a:prstDash val="solid"/>
          </a:ln>
        </p:spPr>
      </p:sp>
      <p:sp>
        <p:nvSpPr>
          <p:cNvPr id="53" name="Text 51"/>
          <p:cNvSpPr/>
          <p:nvPr/>
        </p:nvSpPr>
        <p:spPr>
          <a:xfrm>
            <a:off x="3497580" y="3776472"/>
            <a:ext cx="1010412" cy="329184"/>
          </a:xfrm>
          <a:prstGeom prst="rect">
            <a:avLst/>
          </a:prstGeom>
          <a:noFill/>
          <a:ln/>
        </p:spPr>
        <p:txBody>
          <a:bodyPr wrap="square" lIns="254" tIns="254" rIns="254" bIns="254" rtlCol="0" anchor="ctr"/>
          <a:lstStyle/>
          <a:p>
            <a:pPr algn="ctr" indent="0" marL="0">
              <a:lnSpc>
                <a:spcPts val="850"/>
              </a:lnSpc>
              <a:buNone/>
            </a:pPr>
            <a:r>
              <a:rPr lang="en-US" sz="700" dirty="0">
                <a:solidFill>
                  <a:srgbClr val="2B303A"/>
                </a:solidFill>
                <a:latin typeface="Inter" pitchFamily="34" charset="0"/>
                <a:ea typeface="Inter" pitchFamily="34" charset="-122"/>
                <a:cs typeface="Inter" pitchFamily="34" charset="-120"/>
              </a:rPr>
              <a:t>Financial User Data</a:t>
            </a:r>
            <a:endParaRPr lang="en-US" sz="700" dirty="0"/>
          </a:p>
        </p:txBody>
      </p:sp>
      <p:sp>
        <p:nvSpPr>
          <p:cNvPr id="54" name="Shape 52"/>
          <p:cNvSpPr/>
          <p:nvPr/>
        </p:nvSpPr>
        <p:spPr>
          <a:xfrm>
            <a:off x="4581144" y="3776472"/>
            <a:ext cx="1010412" cy="329184"/>
          </a:xfrm>
          <a:prstGeom prst="rect">
            <a:avLst/>
          </a:prstGeom>
          <a:solidFill>
            <a:srgbClr val="FFFFFF"/>
          </a:solidFill>
          <a:ln w="9525">
            <a:solidFill>
              <a:srgbClr val="D5DAE1"/>
            </a:solidFill>
            <a:prstDash val="solid"/>
          </a:ln>
        </p:spPr>
      </p:sp>
      <p:sp>
        <p:nvSpPr>
          <p:cNvPr id="55" name="Text 53"/>
          <p:cNvSpPr/>
          <p:nvPr/>
        </p:nvSpPr>
        <p:spPr>
          <a:xfrm>
            <a:off x="4581144" y="3776472"/>
            <a:ext cx="1010412" cy="329184"/>
          </a:xfrm>
          <a:prstGeom prst="rect">
            <a:avLst/>
          </a:prstGeom>
          <a:noFill/>
          <a:ln/>
        </p:spPr>
        <p:txBody>
          <a:bodyPr wrap="square" lIns="254" tIns="254" rIns="254" bIns="254" rtlCol="0" anchor="ctr"/>
          <a:lstStyle/>
          <a:p>
            <a:pPr algn="ctr" indent="0" marL="0">
              <a:lnSpc>
                <a:spcPts val="850"/>
              </a:lnSpc>
              <a:buNone/>
            </a:pPr>
            <a:r>
              <a:rPr lang="en-US" sz="700" dirty="0">
                <a:solidFill>
                  <a:srgbClr val="2B303A"/>
                </a:solidFill>
                <a:latin typeface="Inter" pitchFamily="34" charset="0"/>
                <a:ea typeface="Inter" pitchFamily="34" charset="-122"/>
                <a:cs typeface="Inter" pitchFamily="34" charset="-120"/>
              </a:rPr>
              <a:t>Feature Storage</a:t>
            </a:r>
            <a:endParaRPr lang="en-US" sz="700" dirty="0"/>
          </a:p>
        </p:txBody>
      </p:sp>
      <p:sp>
        <p:nvSpPr>
          <p:cNvPr id="56" name="Shape 54"/>
          <p:cNvSpPr/>
          <p:nvPr/>
        </p:nvSpPr>
        <p:spPr>
          <a:xfrm>
            <a:off x="5664708" y="3776472"/>
            <a:ext cx="1010412" cy="329184"/>
          </a:xfrm>
          <a:prstGeom prst="rect">
            <a:avLst/>
          </a:prstGeom>
          <a:solidFill>
            <a:srgbClr val="FFFFFF"/>
          </a:solidFill>
          <a:ln w="9525">
            <a:solidFill>
              <a:srgbClr val="D5DAE1"/>
            </a:solidFill>
            <a:prstDash val="solid"/>
          </a:ln>
        </p:spPr>
      </p:sp>
      <p:sp>
        <p:nvSpPr>
          <p:cNvPr id="57" name="Text 55"/>
          <p:cNvSpPr/>
          <p:nvPr/>
        </p:nvSpPr>
        <p:spPr>
          <a:xfrm>
            <a:off x="5664708" y="3776472"/>
            <a:ext cx="1010412" cy="329184"/>
          </a:xfrm>
          <a:prstGeom prst="rect">
            <a:avLst/>
          </a:prstGeom>
          <a:noFill/>
          <a:ln/>
        </p:spPr>
        <p:txBody>
          <a:bodyPr wrap="square" lIns="254" tIns="254" rIns="254" bIns="254" rtlCol="0" anchor="ctr"/>
          <a:lstStyle/>
          <a:p>
            <a:pPr algn="ctr" indent="0" marL="0">
              <a:lnSpc>
                <a:spcPts val="850"/>
              </a:lnSpc>
              <a:buNone/>
            </a:pPr>
            <a:r>
              <a:rPr lang="en-US" sz="700" dirty="0">
                <a:solidFill>
                  <a:srgbClr val="2B303A"/>
                </a:solidFill>
                <a:latin typeface="Inter" pitchFamily="34" charset="0"/>
                <a:ea typeface="Inter" pitchFamily="34" charset="-122"/>
                <a:cs typeface="Inter" pitchFamily="34" charset="-120"/>
              </a:rPr>
              <a:t>Knowledge Base</a:t>
            </a:r>
            <a:endParaRPr lang="en-US" sz="700" dirty="0"/>
          </a:p>
        </p:txBody>
      </p:sp>
      <p:sp>
        <p:nvSpPr>
          <p:cNvPr id="58" name="Shape 56"/>
          <p:cNvSpPr/>
          <p:nvPr/>
        </p:nvSpPr>
        <p:spPr>
          <a:xfrm>
            <a:off x="1645920" y="1581912"/>
            <a:ext cx="658368" cy="0"/>
          </a:xfrm>
          <a:prstGeom prst="line">
            <a:avLst/>
          </a:prstGeom>
          <a:noFill/>
          <a:ln w="12700">
            <a:solidFill>
              <a:srgbClr val="AEB6C0"/>
            </a:solidFill>
            <a:prstDash val="solid"/>
            <a:tailEnd type="triangle"/>
          </a:ln>
        </p:spPr>
      </p:sp>
      <p:sp>
        <p:nvSpPr>
          <p:cNvPr id="59" name="Text 57"/>
          <p:cNvSpPr/>
          <p:nvPr/>
        </p:nvSpPr>
        <p:spPr>
          <a:xfrm>
            <a:off x="1645920" y="1389888"/>
            <a:ext cx="658368" cy="164592"/>
          </a:xfrm>
          <a:prstGeom prst="rect">
            <a:avLst/>
          </a:prstGeom>
          <a:noFill/>
          <a:ln/>
        </p:spPr>
        <p:txBody>
          <a:bodyPr wrap="square" lIns="0" tIns="0" rIns="0" bIns="0" rtlCol="0" anchor="ctr"/>
          <a:lstStyle/>
          <a:p>
            <a:pPr algn="ctr" indent="0" marL="0">
              <a:buNone/>
            </a:pPr>
            <a:r>
              <a:rPr lang="en-US" sz="650" dirty="0">
                <a:solidFill>
                  <a:srgbClr val="6B7280"/>
                </a:solidFill>
                <a:latin typeface="Inter" pitchFamily="34" charset="0"/>
                <a:ea typeface="Inter" pitchFamily="34" charset="-122"/>
                <a:cs typeface="Inter" pitchFamily="34" charset="-120"/>
              </a:rPr>
              <a:t>Documents</a:t>
            </a:r>
            <a:endParaRPr lang="en-US" sz="650" dirty="0"/>
          </a:p>
        </p:txBody>
      </p:sp>
      <p:sp>
        <p:nvSpPr>
          <p:cNvPr id="60" name="Shape 58"/>
          <p:cNvSpPr/>
          <p:nvPr/>
        </p:nvSpPr>
        <p:spPr>
          <a:xfrm>
            <a:off x="1645920" y="2953512"/>
            <a:ext cx="658368" cy="0"/>
          </a:xfrm>
          <a:prstGeom prst="line">
            <a:avLst/>
          </a:prstGeom>
          <a:noFill/>
          <a:ln w="12700">
            <a:solidFill>
              <a:srgbClr val="AEB6C0"/>
            </a:solidFill>
            <a:prstDash val="solid"/>
            <a:tailEnd type="triangle"/>
          </a:ln>
        </p:spPr>
      </p:sp>
      <p:sp>
        <p:nvSpPr>
          <p:cNvPr id="61" name="Text 59"/>
          <p:cNvSpPr/>
          <p:nvPr/>
        </p:nvSpPr>
        <p:spPr>
          <a:xfrm>
            <a:off x="1591056" y="2761488"/>
            <a:ext cx="768096" cy="164592"/>
          </a:xfrm>
          <a:prstGeom prst="rect">
            <a:avLst/>
          </a:prstGeom>
          <a:noFill/>
          <a:ln/>
        </p:spPr>
        <p:txBody>
          <a:bodyPr wrap="square" lIns="0" tIns="0" rIns="0" bIns="0" rtlCol="0" anchor="ctr"/>
          <a:lstStyle/>
          <a:p>
            <a:pPr algn="ctr" indent="0" marL="0">
              <a:buNone/>
            </a:pPr>
            <a:r>
              <a:rPr lang="en-US" sz="650" dirty="0">
                <a:solidFill>
                  <a:srgbClr val="6B7280"/>
                </a:solidFill>
                <a:latin typeface="Inter" pitchFamily="34" charset="0"/>
                <a:ea typeface="Inter" pitchFamily="34" charset="-122"/>
                <a:cs typeface="Inter" pitchFamily="34" charset="-120"/>
              </a:rPr>
              <a:t>Transactions</a:t>
            </a:r>
            <a:endParaRPr lang="en-US" sz="650" dirty="0"/>
          </a:p>
        </p:txBody>
      </p:sp>
      <p:sp>
        <p:nvSpPr>
          <p:cNvPr id="62" name="Shape 60"/>
          <p:cNvSpPr/>
          <p:nvPr/>
        </p:nvSpPr>
        <p:spPr>
          <a:xfrm>
            <a:off x="7443216" y="2267712"/>
            <a:ext cx="-658368" cy="0"/>
          </a:xfrm>
          <a:prstGeom prst="line">
            <a:avLst/>
          </a:prstGeom>
          <a:noFill/>
          <a:ln w="12700">
            <a:solidFill>
              <a:srgbClr val="AEB6C0"/>
            </a:solidFill>
            <a:prstDash val="solid"/>
            <a:tailEnd type="triangle"/>
          </a:ln>
        </p:spPr>
      </p:sp>
      <p:sp>
        <p:nvSpPr>
          <p:cNvPr id="63" name="Text 61"/>
          <p:cNvSpPr/>
          <p:nvPr/>
        </p:nvSpPr>
        <p:spPr>
          <a:xfrm>
            <a:off x="6784848" y="2075688"/>
            <a:ext cx="658368" cy="164592"/>
          </a:xfrm>
          <a:prstGeom prst="rect">
            <a:avLst/>
          </a:prstGeom>
          <a:noFill/>
          <a:ln/>
        </p:spPr>
        <p:txBody>
          <a:bodyPr wrap="square" lIns="0" tIns="0" rIns="0" bIns="0" rtlCol="0" anchor="ctr"/>
          <a:lstStyle/>
          <a:p>
            <a:pPr algn="ctr" indent="0" marL="0">
              <a:buNone/>
            </a:pPr>
            <a:r>
              <a:rPr lang="en-US" sz="650" dirty="0">
                <a:solidFill>
                  <a:srgbClr val="6B7280"/>
                </a:solidFill>
                <a:latin typeface="Inter" pitchFamily="34" charset="0"/>
                <a:ea typeface="Inter" pitchFamily="34" charset="-122"/>
                <a:cs typeface="Inter" pitchFamily="34" charset="-120"/>
              </a:rPr>
              <a:t>Vectors</a:t>
            </a:r>
            <a:endParaRPr lang="en-US" sz="650" dirty="0"/>
          </a:p>
        </p:txBody>
      </p:sp>
      <p:sp>
        <p:nvSpPr>
          <p:cNvPr id="64" name="Shape 62"/>
          <p:cNvSpPr/>
          <p:nvPr/>
        </p:nvSpPr>
        <p:spPr>
          <a:xfrm>
            <a:off x="457200" y="4334256"/>
            <a:ext cx="182880" cy="128016"/>
          </a:xfrm>
          <a:prstGeom prst="rect">
            <a:avLst/>
          </a:prstGeom>
          <a:solidFill>
            <a:srgbClr val="FFFFFF"/>
          </a:solidFill>
          <a:ln w="9525">
            <a:solidFill>
              <a:srgbClr val="D5DAE1"/>
            </a:solidFill>
            <a:prstDash val="solid"/>
          </a:ln>
        </p:spPr>
      </p:sp>
      <p:sp>
        <p:nvSpPr>
          <p:cNvPr id="65" name="Text 63"/>
          <p:cNvSpPr/>
          <p:nvPr/>
        </p:nvSpPr>
        <p:spPr>
          <a:xfrm>
            <a:off x="694944" y="4288536"/>
            <a:ext cx="1463040" cy="201168"/>
          </a:xfrm>
          <a:prstGeom prst="rect">
            <a:avLst/>
          </a:prstGeom>
          <a:noFill/>
          <a:ln/>
        </p:spPr>
        <p:txBody>
          <a:bodyPr wrap="square" lIns="0" tIns="0" rIns="0" bIns="0" rtlCol="0" anchor="ctr"/>
          <a:lstStyle/>
          <a:p>
            <a:pPr indent="0" marL="0">
              <a:buNone/>
            </a:pPr>
            <a:r>
              <a:rPr lang="en-US" sz="750" dirty="0">
                <a:solidFill>
                  <a:srgbClr val="6B7280"/>
                </a:solidFill>
                <a:latin typeface="Inter" pitchFamily="34" charset="0"/>
                <a:ea typeface="Inter" pitchFamily="34" charset="-122"/>
                <a:cs typeface="Inter" pitchFamily="34" charset="-120"/>
              </a:rPr>
              <a:t>Application service</a:t>
            </a:r>
            <a:endParaRPr lang="en-US" sz="750" dirty="0"/>
          </a:p>
        </p:txBody>
      </p:sp>
      <p:sp>
        <p:nvSpPr>
          <p:cNvPr id="66" name="Shape 64"/>
          <p:cNvSpPr/>
          <p:nvPr/>
        </p:nvSpPr>
        <p:spPr>
          <a:xfrm>
            <a:off x="2240280" y="4334256"/>
            <a:ext cx="182880" cy="128016"/>
          </a:xfrm>
          <a:prstGeom prst="rect">
            <a:avLst/>
          </a:prstGeom>
          <a:solidFill>
            <a:srgbClr val="F4F6F8"/>
          </a:solidFill>
          <a:ln w="9525">
            <a:solidFill>
              <a:srgbClr val="D5DAE1"/>
            </a:solidFill>
            <a:prstDash val="solid"/>
          </a:ln>
        </p:spPr>
      </p:sp>
      <p:sp>
        <p:nvSpPr>
          <p:cNvPr id="67" name="Text 65"/>
          <p:cNvSpPr/>
          <p:nvPr/>
        </p:nvSpPr>
        <p:spPr>
          <a:xfrm>
            <a:off x="2478024" y="4288536"/>
            <a:ext cx="1463040" cy="201168"/>
          </a:xfrm>
          <a:prstGeom prst="rect">
            <a:avLst/>
          </a:prstGeom>
          <a:noFill/>
          <a:ln/>
        </p:spPr>
        <p:txBody>
          <a:bodyPr wrap="square" lIns="0" tIns="0" rIns="0" bIns="0" rtlCol="0" anchor="ctr"/>
          <a:lstStyle/>
          <a:p>
            <a:pPr indent="0" marL="0">
              <a:buNone/>
            </a:pPr>
            <a:r>
              <a:rPr lang="en-US" sz="750" dirty="0">
                <a:solidFill>
                  <a:srgbClr val="6B7280"/>
                </a:solidFill>
                <a:latin typeface="Inter" pitchFamily="34" charset="0"/>
                <a:ea typeface="Inter" pitchFamily="34" charset="-122"/>
                <a:cs typeface="Inter" pitchFamily="34" charset="-120"/>
              </a:rPr>
              <a:t>Architecture layer</a:t>
            </a:r>
            <a:endParaRPr lang="en-US" sz="750" dirty="0"/>
          </a:p>
        </p:txBody>
      </p:sp>
      <p:sp>
        <p:nvSpPr>
          <p:cNvPr id="68" name="Shape 66"/>
          <p:cNvSpPr/>
          <p:nvPr/>
        </p:nvSpPr>
        <p:spPr>
          <a:xfrm>
            <a:off x="4023360" y="4334256"/>
            <a:ext cx="182880" cy="128016"/>
          </a:xfrm>
          <a:prstGeom prst="rect">
            <a:avLst/>
          </a:prstGeom>
          <a:solidFill>
            <a:srgbClr val="FFFFFF"/>
          </a:solidFill>
          <a:ln w="9525">
            <a:solidFill>
              <a:srgbClr val="9BA3AE"/>
            </a:solidFill>
            <a:prstDash val="dash"/>
          </a:ln>
        </p:spPr>
      </p:sp>
      <p:sp>
        <p:nvSpPr>
          <p:cNvPr id="69" name="Text 67"/>
          <p:cNvSpPr/>
          <p:nvPr/>
        </p:nvSpPr>
        <p:spPr>
          <a:xfrm>
            <a:off x="4261104" y="4288536"/>
            <a:ext cx="1463040" cy="201168"/>
          </a:xfrm>
          <a:prstGeom prst="rect">
            <a:avLst/>
          </a:prstGeom>
          <a:noFill/>
          <a:ln/>
        </p:spPr>
        <p:txBody>
          <a:bodyPr wrap="square" lIns="0" tIns="0" rIns="0" bIns="0" rtlCol="0" anchor="ctr"/>
          <a:lstStyle/>
          <a:p>
            <a:pPr indent="0" marL="0">
              <a:buNone/>
            </a:pPr>
            <a:r>
              <a:rPr lang="en-US" sz="750" dirty="0">
                <a:solidFill>
                  <a:srgbClr val="6B7280"/>
                </a:solidFill>
                <a:latin typeface="Inter" pitchFamily="34" charset="0"/>
                <a:ea typeface="Inter" pitchFamily="34" charset="-122"/>
                <a:cs typeface="Inter" pitchFamily="34" charset="-120"/>
              </a:rPr>
              <a:t>External system</a:t>
            </a:r>
            <a:endParaRPr lang="en-US" sz="750" dirty="0"/>
          </a:p>
        </p:txBody>
      </p:sp>
      <p:sp>
        <p:nvSpPr>
          <p:cNvPr id="70" name="Text 68"/>
          <p:cNvSpPr/>
          <p:nvPr/>
        </p:nvSpPr>
        <p:spPr>
          <a:xfrm>
            <a:off x="457200" y="4777740"/>
            <a:ext cx="5486400" cy="201168"/>
          </a:xfrm>
          <a:prstGeom prst="rect">
            <a:avLst/>
          </a:prstGeom>
          <a:noFill/>
          <a:ln/>
        </p:spPr>
        <p:txBody>
          <a:bodyPr wrap="square" lIns="0" tIns="0" rIns="0" bIns="0" rtlCol="0" anchor="ctr"/>
          <a:lstStyle/>
          <a:p>
            <a:pPr indent="0" marL="0">
              <a:buNone/>
            </a:pPr>
            <a:r>
              <a:rPr lang="en-US" sz="800" spc="120" kern="0" dirty="0">
                <a:solidFill>
                  <a:srgbClr val="9BA3AE"/>
                </a:solidFill>
                <a:latin typeface="Inter" pitchFamily="34" charset="0"/>
                <a:ea typeface="Inter" pitchFamily="34" charset="-122"/>
                <a:cs typeface="Inter" pitchFamily="34" charset="-120"/>
              </a:rPr>
              <a:t>FINPATH INDIA  ·  TECHNICAL ARCHITECTURE</a:t>
            </a:r>
            <a:endParaRPr lang="en-US" sz="800" dirty="0"/>
          </a:p>
        </p:txBody>
      </p:sp>
      <p:sp>
        <p:nvSpPr>
          <p:cNvPr id="71" name="Text 69"/>
          <p:cNvSpPr/>
          <p:nvPr/>
        </p:nvSpPr>
        <p:spPr>
          <a:xfrm>
            <a:off x="8138160" y="4777740"/>
            <a:ext cx="548640" cy="201168"/>
          </a:xfrm>
          <a:prstGeom prst="rect">
            <a:avLst/>
          </a:prstGeom>
          <a:noFill/>
          <a:ln/>
        </p:spPr>
        <p:txBody>
          <a:bodyPr wrap="square" lIns="0" tIns="0" rIns="0" bIns="0" rtlCol="0" anchor="ctr"/>
          <a:lstStyle/>
          <a:p>
            <a:pPr algn="r" indent="0" marL="0">
              <a:buNone/>
            </a:pPr>
            <a:r>
              <a:rPr lang="en-US" sz="800" dirty="0">
                <a:solidFill>
                  <a:srgbClr val="9BA3AE"/>
                </a:solidFill>
                <a:latin typeface="Inter" pitchFamily="34" charset="0"/>
                <a:ea typeface="Inter" pitchFamily="34" charset="-122"/>
                <a:cs typeface="Inter"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384048"/>
          </a:xfrm>
          <a:prstGeom prst="rect">
            <a:avLst/>
          </a:prstGeom>
          <a:noFill/>
          <a:ln/>
        </p:spPr>
        <p:txBody>
          <a:bodyPr wrap="square" lIns="0" tIns="0" rIns="0" bIns="0" rtlCol="0" anchor="ctr"/>
          <a:lstStyle/>
          <a:p>
            <a:pPr indent="0" marL="0">
              <a:buNone/>
            </a:pPr>
            <a:r>
              <a:rPr lang="en-US" sz="2400" b="1" dirty="0">
                <a:solidFill>
                  <a:srgbClr val="12151B"/>
                </a:solidFill>
                <a:latin typeface="Inter" pitchFamily="34" charset="0"/>
                <a:ea typeface="Inter" pitchFamily="34" charset="-122"/>
                <a:cs typeface="Inter" pitchFamily="34" charset="-120"/>
              </a:rPr>
              <a:t>Technical Engine I  —  Fact-Grounded RAG</a:t>
            </a:r>
            <a:endParaRPr lang="en-US" sz="2400" dirty="0"/>
          </a:p>
        </p:txBody>
      </p:sp>
      <p:sp>
        <p:nvSpPr>
          <p:cNvPr id="3" name="Text 1"/>
          <p:cNvSpPr/>
          <p:nvPr/>
        </p:nvSpPr>
        <p:spPr>
          <a:xfrm>
            <a:off x="457200" y="786384"/>
            <a:ext cx="8229600" cy="237744"/>
          </a:xfrm>
          <a:prstGeom prst="rect">
            <a:avLst/>
          </a:prstGeom>
          <a:noFill/>
          <a:ln/>
        </p:spPr>
        <p:txBody>
          <a:bodyPr wrap="square" lIns="0" tIns="0" rIns="0" bIns="0" rtlCol="0" anchor="ctr"/>
          <a:lstStyle/>
          <a:p>
            <a:pPr indent="0" marL="0">
              <a:buNone/>
            </a:pPr>
            <a:r>
              <a:rPr lang="en-US" sz="1100" dirty="0">
                <a:solidFill>
                  <a:srgbClr val="6B7280"/>
                </a:solidFill>
                <a:latin typeface="Inter" pitchFamily="34" charset="0"/>
                <a:ea typeface="Inter" pitchFamily="34" charset="-122"/>
                <a:cs typeface="Inter" pitchFamily="34" charset="-120"/>
              </a:rPr>
              <a:t>The model generates from retrieved verified context, not unrestricted recall</a:t>
            </a:r>
            <a:endParaRPr lang="en-US" sz="1100" dirty="0"/>
          </a:p>
        </p:txBody>
      </p:sp>
      <p:sp>
        <p:nvSpPr>
          <p:cNvPr id="4" name="Text 2"/>
          <p:cNvSpPr/>
          <p:nvPr/>
        </p:nvSpPr>
        <p:spPr>
          <a:xfrm>
            <a:off x="457200" y="1207008"/>
            <a:ext cx="3657600" cy="182880"/>
          </a:xfrm>
          <a:prstGeom prst="rect">
            <a:avLst/>
          </a:prstGeom>
          <a:noFill/>
          <a:ln/>
        </p:spPr>
        <p:txBody>
          <a:bodyPr wrap="square" lIns="0" tIns="0" rIns="0" bIns="0" rtlCol="0" anchor="ctr"/>
          <a:lstStyle/>
          <a:p>
            <a:pPr indent="0" marL="0">
              <a:buNone/>
            </a:pPr>
            <a:r>
              <a:rPr lang="en-US" sz="800" b="1" spc="140" kern="0" dirty="0">
                <a:solidFill>
                  <a:srgbClr val="1B3A5C"/>
                </a:solidFill>
                <a:latin typeface="Inter" pitchFamily="34" charset="0"/>
                <a:ea typeface="Inter" pitchFamily="34" charset="-122"/>
                <a:cs typeface="Inter" pitchFamily="34" charset="-120"/>
              </a:rPr>
              <a:t>QUERY PATH</a:t>
            </a:r>
            <a:endParaRPr lang="en-US" sz="800" dirty="0"/>
          </a:p>
        </p:txBody>
      </p:sp>
      <p:sp>
        <p:nvSpPr>
          <p:cNvPr id="5" name="Shape 3"/>
          <p:cNvSpPr/>
          <p:nvPr/>
        </p:nvSpPr>
        <p:spPr>
          <a:xfrm>
            <a:off x="457200" y="1426464"/>
            <a:ext cx="1517904" cy="402336"/>
          </a:xfrm>
          <a:prstGeom prst="rect">
            <a:avLst/>
          </a:prstGeom>
          <a:solidFill>
            <a:srgbClr val="FFFFFF"/>
          </a:solidFill>
          <a:ln w="9525">
            <a:solidFill>
              <a:srgbClr val="D5DAE1"/>
            </a:solidFill>
            <a:prstDash val="solid"/>
          </a:ln>
        </p:spPr>
      </p:sp>
      <p:sp>
        <p:nvSpPr>
          <p:cNvPr id="6" name="Text 4"/>
          <p:cNvSpPr/>
          <p:nvPr/>
        </p:nvSpPr>
        <p:spPr>
          <a:xfrm>
            <a:off x="457200" y="1426464"/>
            <a:ext cx="1517904" cy="402336"/>
          </a:xfrm>
          <a:prstGeom prst="rect">
            <a:avLst/>
          </a:prstGeom>
          <a:noFill/>
          <a:ln/>
        </p:spPr>
        <p:txBody>
          <a:bodyPr wrap="square" lIns="254" tIns="254" rIns="254" bIns="254" rtlCol="0" anchor="ctr"/>
          <a:lstStyle/>
          <a:p>
            <a:pPr algn="ctr" indent="0" marL="0">
              <a:lnSpc>
                <a:spcPts val="900"/>
              </a:lnSpc>
              <a:buNone/>
            </a:pPr>
            <a:r>
              <a:rPr lang="en-US" sz="760" b="1" spc="40" kern="0" dirty="0">
                <a:solidFill>
                  <a:srgbClr val="2B303A"/>
                </a:solidFill>
                <a:latin typeface="Inter" pitchFamily="34" charset="0"/>
                <a:ea typeface="Inter" pitchFamily="34" charset="-122"/>
                <a:cs typeface="Inter" pitchFamily="34" charset="-120"/>
              </a:rPr>
              <a:t>USER QUERY</a:t>
            </a:r>
            <a:endParaRPr lang="en-US" sz="760" dirty="0"/>
          </a:p>
        </p:txBody>
      </p:sp>
      <p:sp>
        <p:nvSpPr>
          <p:cNvPr id="7" name="Shape 5"/>
          <p:cNvSpPr/>
          <p:nvPr/>
        </p:nvSpPr>
        <p:spPr>
          <a:xfrm>
            <a:off x="1975104" y="1627632"/>
            <a:ext cx="155448" cy="0"/>
          </a:xfrm>
          <a:prstGeom prst="line">
            <a:avLst/>
          </a:prstGeom>
          <a:noFill/>
          <a:ln w="12700">
            <a:solidFill>
              <a:srgbClr val="AEB6C0"/>
            </a:solidFill>
            <a:prstDash val="solid"/>
            <a:tailEnd type="triangle"/>
          </a:ln>
        </p:spPr>
      </p:sp>
      <p:sp>
        <p:nvSpPr>
          <p:cNvPr id="8" name="Shape 6"/>
          <p:cNvSpPr/>
          <p:nvPr/>
        </p:nvSpPr>
        <p:spPr>
          <a:xfrm>
            <a:off x="2130552" y="1426464"/>
            <a:ext cx="1517904" cy="402336"/>
          </a:xfrm>
          <a:prstGeom prst="rect">
            <a:avLst/>
          </a:prstGeom>
          <a:solidFill>
            <a:srgbClr val="FFFFFF"/>
          </a:solidFill>
          <a:ln w="9525">
            <a:solidFill>
              <a:srgbClr val="D5DAE1"/>
            </a:solidFill>
            <a:prstDash val="solid"/>
          </a:ln>
        </p:spPr>
      </p:sp>
      <p:sp>
        <p:nvSpPr>
          <p:cNvPr id="9" name="Text 7"/>
          <p:cNvSpPr/>
          <p:nvPr/>
        </p:nvSpPr>
        <p:spPr>
          <a:xfrm>
            <a:off x="2130552" y="1426464"/>
            <a:ext cx="1517904" cy="402336"/>
          </a:xfrm>
          <a:prstGeom prst="rect">
            <a:avLst/>
          </a:prstGeom>
          <a:noFill/>
          <a:ln/>
        </p:spPr>
        <p:txBody>
          <a:bodyPr wrap="square" lIns="254" tIns="254" rIns="254" bIns="254" rtlCol="0" anchor="ctr"/>
          <a:lstStyle/>
          <a:p>
            <a:pPr algn="ctr" indent="0" marL="0">
              <a:lnSpc>
                <a:spcPts val="900"/>
              </a:lnSpc>
              <a:buNone/>
            </a:pPr>
            <a:r>
              <a:rPr lang="en-US" sz="760" b="1" spc="40" kern="0" dirty="0">
                <a:solidFill>
                  <a:srgbClr val="2B303A"/>
                </a:solidFill>
                <a:latin typeface="Inter" pitchFamily="34" charset="0"/>
                <a:ea typeface="Inter" pitchFamily="34" charset="-122"/>
                <a:cs typeface="Inter" pitchFamily="34" charset="-120"/>
              </a:rPr>
              <a:t>REACT CLIENT</a:t>
            </a:r>
            <a:endParaRPr lang="en-US" sz="760" dirty="0"/>
          </a:p>
        </p:txBody>
      </p:sp>
      <p:sp>
        <p:nvSpPr>
          <p:cNvPr id="10" name="Shape 8"/>
          <p:cNvSpPr/>
          <p:nvPr/>
        </p:nvSpPr>
        <p:spPr>
          <a:xfrm>
            <a:off x="3648456" y="1627632"/>
            <a:ext cx="155448" cy="0"/>
          </a:xfrm>
          <a:prstGeom prst="line">
            <a:avLst/>
          </a:prstGeom>
          <a:noFill/>
          <a:ln w="12700">
            <a:solidFill>
              <a:srgbClr val="AEB6C0"/>
            </a:solidFill>
            <a:prstDash val="solid"/>
            <a:tailEnd type="triangle"/>
          </a:ln>
        </p:spPr>
      </p:sp>
      <p:sp>
        <p:nvSpPr>
          <p:cNvPr id="11" name="Shape 9"/>
          <p:cNvSpPr/>
          <p:nvPr/>
        </p:nvSpPr>
        <p:spPr>
          <a:xfrm>
            <a:off x="3803904" y="1426464"/>
            <a:ext cx="1517904" cy="402336"/>
          </a:xfrm>
          <a:prstGeom prst="rect">
            <a:avLst/>
          </a:prstGeom>
          <a:solidFill>
            <a:srgbClr val="FFFFFF"/>
          </a:solidFill>
          <a:ln w="9525">
            <a:solidFill>
              <a:srgbClr val="D5DAE1"/>
            </a:solidFill>
            <a:prstDash val="solid"/>
          </a:ln>
        </p:spPr>
      </p:sp>
      <p:sp>
        <p:nvSpPr>
          <p:cNvPr id="12" name="Text 10"/>
          <p:cNvSpPr/>
          <p:nvPr/>
        </p:nvSpPr>
        <p:spPr>
          <a:xfrm>
            <a:off x="3803904" y="1426464"/>
            <a:ext cx="1517904" cy="402336"/>
          </a:xfrm>
          <a:prstGeom prst="rect">
            <a:avLst/>
          </a:prstGeom>
          <a:noFill/>
          <a:ln/>
        </p:spPr>
        <p:txBody>
          <a:bodyPr wrap="square" lIns="254" tIns="254" rIns="254" bIns="254" rtlCol="0" anchor="ctr"/>
          <a:lstStyle/>
          <a:p>
            <a:pPr algn="ctr" indent="0" marL="0">
              <a:lnSpc>
                <a:spcPts val="900"/>
              </a:lnSpc>
              <a:buNone/>
            </a:pPr>
            <a:r>
              <a:rPr lang="en-US" sz="760" b="1" spc="40" kern="0" dirty="0">
                <a:solidFill>
                  <a:srgbClr val="2B303A"/>
                </a:solidFill>
                <a:latin typeface="Inter" pitchFamily="34" charset="0"/>
                <a:ea typeface="Inter" pitchFamily="34" charset="-122"/>
                <a:cs typeface="Inter" pitchFamily="34" charset="-120"/>
              </a:rPr>
              <a:t>FASTAPI</a:t>
            </a:r>
            <a:endParaRPr lang="en-US" sz="760" dirty="0"/>
          </a:p>
        </p:txBody>
      </p:sp>
      <p:sp>
        <p:nvSpPr>
          <p:cNvPr id="13" name="Shape 11"/>
          <p:cNvSpPr/>
          <p:nvPr/>
        </p:nvSpPr>
        <p:spPr>
          <a:xfrm>
            <a:off x="5321808" y="1627632"/>
            <a:ext cx="155448" cy="0"/>
          </a:xfrm>
          <a:prstGeom prst="line">
            <a:avLst/>
          </a:prstGeom>
          <a:noFill/>
          <a:ln w="12700">
            <a:solidFill>
              <a:srgbClr val="AEB6C0"/>
            </a:solidFill>
            <a:prstDash val="solid"/>
            <a:tailEnd type="triangle"/>
          </a:ln>
        </p:spPr>
      </p:sp>
      <p:sp>
        <p:nvSpPr>
          <p:cNvPr id="14" name="Shape 12"/>
          <p:cNvSpPr/>
          <p:nvPr/>
        </p:nvSpPr>
        <p:spPr>
          <a:xfrm>
            <a:off x="5477256" y="1426464"/>
            <a:ext cx="1517904" cy="402336"/>
          </a:xfrm>
          <a:prstGeom prst="rect">
            <a:avLst/>
          </a:prstGeom>
          <a:solidFill>
            <a:srgbClr val="FFFFFF"/>
          </a:solidFill>
          <a:ln w="9525">
            <a:solidFill>
              <a:srgbClr val="D5DAE1"/>
            </a:solidFill>
            <a:prstDash val="solid"/>
          </a:ln>
        </p:spPr>
      </p:sp>
      <p:sp>
        <p:nvSpPr>
          <p:cNvPr id="15" name="Text 13"/>
          <p:cNvSpPr/>
          <p:nvPr/>
        </p:nvSpPr>
        <p:spPr>
          <a:xfrm>
            <a:off x="5477256" y="1426464"/>
            <a:ext cx="1517904" cy="402336"/>
          </a:xfrm>
          <a:prstGeom prst="rect">
            <a:avLst/>
          </a:prstGeom>
          <a:noFill/>
          <a:ln/>
        </p:spPr>
        <p:txBody>
          <a:bodyPr wrap="square" lIns="254" tIns="254" rIns="254" bIns="254" rtlCol="0" anchor="ctr"/>
          <a:lstStyle/>
          <a:p>
            <a:pPr algn="ctr" indent="0" marL="0">
              <a:lnSpc>
                <a:spcPts val="900"/>
              </a:lnSpc>
              <a:buNone/>
            </a:pPr>
            <a:r>
              <a:rPr lang="en-US" sz="760" b="1" spc="40" kern="0" dirty="0">
                <a:solidFill>
                  <a:srgbClr val="2B303A"/>
                </a:solidFill>
                <a:latin typeface="Inter" pitchFamily="34" charset="0"/>
                <a:ea typeface="Inter" pitchFamily="34" charset="-122"/>
                <a:cs typeface="Inter" pitchFamily="34" charset="-120"/>
              </a:rPr>
              <a:t>LANGCHAIN</a:t>
            </a:r>
            <a:endParaRPr lang="en-US" sz="760" dirty="0"/>
          </a:p>
        </p:txBody>
      </p:sp>
      <p:sp>
        <p:nvSpPr>
          <p:cNvPr id="16" name="Shape 14"/>
          <p:cNvSpPr/>
          <p:nvPr/>
        </p:nvSpPr>
        <p:spPr>
          <a:xfrm>
            <a:off x="6995160" y="1627632"/>
            <a:ext cx="155448" cy="0"/>
          </a:xfrm>
          <a:prstGeom prst="line">
            <a:avLst/>
          </a:prstGeom>
          <a:noFill/>
          <a:ln w="12700">
            <a:solidFill>
              <a:srgbClr val="AEB6C0"/>
            </a:solidFill>
            <a:prstDash val="solid"/>
            <a:tailEnd type="triangle"/>
          </a:ln>
        </p:spPr>
      </p:sp>
      <p:sp>
        <p:nvSpPr>
          <p:cNvPr id="17" name="Shape 15"/>
          <p:cNvSpPr/>
          <p:nvPr/>
        </p:nvSpPr>
        <p:spPr>
          <a:xfrm>
            <a:off x="7150608" y="1426464"/>
            <a:ext cx="1517904" cy="402336"/>
          </a:xfrm>
          <a:prstGeom prst="rect">
            <a:avLst/>
          </a:prstGeom>
          <a:solidFill>
            <a:srgbClr val="FFFFFF"/>
          </a:solidFill>
          <a:ln w="9525">
            <a:solidFill>
              <a:srgbClr val="D5DAE1"/>
            </a:solidFill>
            <a:prstDash val="solid"/>
          </a:ln>
        </p:spPr>
      </p:sp>
      <p:sp>
        <p:nvSpPr>
          <p:cNvPr id="18" name="Text 16"/>
          <p:cNvSpPr/>
          <p:nvPr/>
        </p:nvSpPr>
        <p:spPr>
          <a:xfrm>
            <a:off x="7150608" y="1426464"/>
            <a:ext cx="1517904" cy="402336"/>
          </a:xfrm>
          <a:prstGeom prst="rect">
            <a:avLst/>
          </a:prstGeom>
          <a:noFill/>
          <a:ln/>
        </p:spPr>
        <p:txBody>
          <a:bodyPr wrap="square" lIns="254" tIns="254" rIns="254" bIns="254" rtlCol="0" anchor="ctr"/>
          <a:lstStyle/>
          <a:p>
            <a:pPr algn="ctr" indent="0" marL="0">
              <a:lnSpc>
                <a:spcPts val="900"/>
              </a:lnSpc>
              <a:buNone/>
            </a:pPr>
            <a:r>
              <a:rPr lang="en-US" sz="760" b="1" spc="40" kern="0" dirty="0">
                <a:solidFill>
                  <a:srgbClr val="2B303A"/>
                </a:solidFill>
                <a:latin typeface="Inter" pitchFamily="34" charset="0"/>
                <a:ea typeface="Inter" pitchFamily="34" charset="-122"/>
                <a:cs typeface="Inter" pitchFamily="34" charset="-120"/>
              </a:rPr>
              <a:t>QUERY EMBEDDING</a:t>
            </a:r>
            <a:endParaRPr lang="en-US" sz="760" dirty="0"/>
          </a:p>
        </p:txBody>
      </p:sp>
      <p:sp>
        <p:nvSpPr>
          <p:cNvPr id="19" name="Shape 17"/>
          <p:cNvSpPr/>
          <p:nvPr/>
        </p:nvSpPr>
        <p:spPr>
          <a:xfrm>
            <a:off x="7927848" y="1828800"/>
            <a:ext cx="0" cy="164592"/>
          </a:xfrm>
          <a:prstGeom prst="line">
            <a:avLst/>
          </a:prstGeom>
          <a:noFill/>
          <a:ln w="12700">
            <a:solidFill>
              <a:srgbClr val="AEB6C0"/>
            </a:solidFill>
            <a:prstDash val="solid"/>
          </a:ln>
        </p:spPr>
      </p:sp>
      <p:sp>
        <p:nvSpPr>
          <p:cNvPr id="20" name="Shape 18"/>
          <p:cNvSpPr/>
          <p:nvPr/>
        </p:nvSpPr>
        <p:spPr>
          <a:xfrm>
            <a:off x="1216152" y="1993392"/>
            <a:ext cx="6711696" cy="0"/>
          </a:xfrm>
          <a:prstGeom prst="line">
            <a:avLst/>
          </a:prstGeom>
          <a:noFill/>
          <a:ln w="12700">
            <a:solidFill>
              <a:srgbClr val="AEB6C0"/>
            </a:solidFill>
            <a:prstDash val="solid"/>
          </a:ln>
        </p:spPr>
      </p:sp>
      <p:sp>
        <p:nvSpPr>
          <p:cNvPr id="21" name="Shape 19"/>
          <p:cNvSpPr/>
          <p:nvPr/>
        </p:nvSpPr>
        <p:spPr>
          <a:xfrm>
            <a:off x="1216152" y="1993392"/>
            <a:ext cx="0" cy="164592"/>
          </a:xfrm>
          <a:prstGeom prst="line">
            <a:avLst/>
          </a:prstGeom>
          <a:noFill/>
          <a:ln w="12700">
            <a:solidFill>
              <a:srgbClr val="AEB6C0"/>
            </a:solidFill>
            <a:prstDash val="solid"/>
            <a:tailEnd type="triangle"/>
          </a:ln>
        </p:spPr>
      </p:sp>
      <p:sp>
        <p:nvSpPr>
          <p:cNvPr id="22" name="Shape 20"/>
          <p:cNvSpPr/>
          <p:nvPr/>
        </p:nvSpPr>
        <p:spPr>
          <a:xfrm>
            <a:off x="457200" y="2157984"/>
            <a:ext cx="1517904" cy="402336"/>
          </a:xfrm>
          <a:prstGeom prst="rect">
            <a:avLst/>
          </a:prstGeom>
          <a:solidFill>
            <a:srgbClr val="FFFFFF"/>
          </a:solidFill>
          <a:ln w="9525">
            <a:solidFill>
              <a:srgbClr val="D5DAE1"/>
            </a:solidFill>
            <a:prstDash val="solid"/>
          </a:ln>
        </p:spPr>
      </p:sp>
      <p:sp>
        <p:nvSpPr>
          <p:cNvPr id="23" name="Text 21"/>
          <p:cNvSpPr/>
          <p:nvPr/>
        </p:nvSpPr>
        <p:spPr>
          <a:xfrm>
            <a:off x="457200" y="2157984"/>
            <a:ext cx="1517904" cy="402336"/>
          </a:xfrm>
          <a:prstGeom prst="rect">
            <a:avLst/>
          </a:prstGeom>
          <a:noFill/>
          <a:ln/>
        </p:spPr>
        <p:txBody>
          <a:bodyPr wrap="square" lIns="254" tIns="254" rIns="254" bIns="254" rtlCol="0" anchor="ctr"/>
          <a:lstStyle/>
          <a:p>
            <a:pPr algn="ctr" indent="0" marL="0">
              <a:lnSpc>
                <a:spcPts val="900"/>
              </a:lnSpc>
              <a:buNone/>
            </a:pPr>
            <a:r>
              <a:rPr lang="en-US" sz="710" b="1" spc="30" kern="0" dirty="0">
                <a:solidFill>
                  <a:srgbClr val="2B303A"/>
                </a:solidFill>
                <a:latin typeface="Inter" pitchFamily="34" charset="0"/>
                <a:ea typeface="Inter" pitchFamily="34" charset="-122"/>
                <a:cs typeface="Inter" pitchFamily="34" charset="-120"/>
              </a:rPr>
              <a:t>FAISS VECTOR SEARCH</a:t>
            </a:r>
            <a:endParaRPr lang="en-US" sz="710" dirty="0"/>
          </a:p>
        </p:txBody>
      </p:sp>
      <p:sp>
        <p:nvSpPr>
          <p:cNvPr id="24" name="Shape 22"/>
          <p:cNvSpPr/>
          <p:nvPr/>
        </p:nvSpPr>
        <p:spPr>
          <a:xfrm>
            <a:off x="1975104" y="2359152"/>
            <a:ext cx="155448" cy="0"/>
          </a:xfrm>
          <a:prstGeom prst="line">
            <a:avLst/>
          </a:prstGeom>
          <a:noFill/>
          <a:ln w="12700">
            <a:solidFill>
              <a:srgbClr val="AEB6C0"/>
            </a:solidFill>
            <a:prstDash val="solid"/>
            <a:tailEnd type="triangle"/>
          </a:ln>
        </p:spPr>
      </p:sp>
      <p:sp>
        <p:nvSpPr>
          <p:cNvPr id="25" name="Shape 23"/>
          <p:cNvSpPr/>
          <p:nvPr/>
        </p:nvSpPr>
        <p:spPr>
          <a:xfrm>
            <a:off x="2130552" y="2157984"/>
            <a:ext cx="1517904" cy="402336"/>
          </a:xfrm>
          <a:prstGeom prst="rect">
            <a:avLst/>
          </a:prstGeom>
          <a:solidFill>
            <a:srgbClr val="FFFFFF"/>
          </a:solidFill>
          <a:ln w="9525">
            <a:solidFill>
              <a:srgbClr val="D5DAE1"/>
            </a:solidFill>
            <a:prstDash val="solid"/>
          </a:ln>
        </p:spPr>
      </p:sp>
      <p:sp>
        <p:nvSpPr>
          <p:cNvPr id="26" name="Text 24"/>
          <p:cNvSpPr/>
          <p:nvPr/>
        </p:nvSpPr>
        <p:spPr>
          <a:xfrm>
            <a:off x="2130552" y="2157984"/>
            <a:ext cx="1517904" cy="402336"/>
          </a:xfrm>
          <a:prstGeom prst="rect">
            <a:avLst/>
          </a:prstGeom>
          <a:noFill/>
          <a:ln/>
        </p:spPr>
        <p:txBody>
          <a:bodyPr wrap="square" lIns="254" tIns="254" rIns="254" bIns="254" rtlCol="0" anchor="ctr"/>
          <a:lstStyle/>
          <a:p>
            <a:pPr algn="ctr" indent="0" marL="0">
              <a:lnSpc>
                <a:spcPts val="900"/>
              </a:lnSpc>
              <a:buNone/>
            </a:pPr>
            <a:r>
              <a:rPr lang="en-US" sz="710" b="1" spc="30" kern="0" dirty="0">
                <a:solidFill>
                  <a:srgbClr val="2B303A"/>
                </a:solidFill>
                <a:latin typeface="Inter" pitchFamily="34" charset="0"/>
                <a:ea typeface="Inter" pitchFamily="34" charset="-122"/>
                <a:cs typeface="Inter" pitchFamily="34" charset="-120"/>
              </a:rPr>
              <a:t>TOP-K VERIFIED CONTEXT</a:t>
            </a:r>
            <a:endParaRPr lang="en-US" sz="710" dirty="0"/>
          </a:p>
        </p:txBody>
      </p:sp>
      <p:sp>
        <p:nvSpPr>
          <p:cNvPr id="27" name="Shape 25"/>
          <p:cNvSpPr/>
          <p:nvPr/>
        </p:nvSpPr>
        <p:spPr>
          <a:xfrm>
            <a:off x="3648456" y="2359152"/>
            <a:ext cx="155448" cy="0"/>
          </a:xfrm>
          <a:prstGeom prst="line">
            <a:avLst/>
          </a:prstGeom>
          <a:noFill/>
          <a:ln w="12700">
            <a:solidFill>
              <a:srgbClr val="AEB6C0"/>
            </a:solidFill>
            <a:prstDash val="solid"/>
            <a:tailEnd type="triangle"/>
          </a:ln>
        </p:spPr>
      </p:sp>
      <p:sp>
        <p:nvSpPr>
          <p:cNvPr id="28" name="Shape 26"/>
          <p:cNvSpPr/>
          <p:nvPr/>
        </p:nvSpPr>
        <p:spPr>
          <a:xfrm>
            <a:off x="3803904" y="2157984"/>
            <a:ext cx="1517904" cy="402336"/>
          </a:xfrm>
          <a:prstGeom prst="rect">
            <a:avLst/>
          </a:prstGeom>
          <a:solidFill>
            <a:srgbClr val="FFFFFF"/>
          </a:solidFill>
          <a:ln w="9525">
            <a:solidFill>
              <a:srgbClr val="D5DAE1"/>
            </a:solidFill>
            <a:prstDash val="solid"/>
          </a:ln>
        </p:spPr>
      </p:sp>
      <p:sp>
        <p:nvSpPr>
          <p:cNvPr id="29" name="Text 27"/>
          <p:cNvSpPr/>
          <p:nvPr/>
        </p:nvSpPr>
        <p:spPr>
          <a:xfrm>
            <a:off x="3803904" y="2157984"/>
            <a:ext cx="1517904" cy="402336"/>
          </a:xfrm>
          <a:prstGeom prst="rect">
            <a:avLst/>
          </a:prstGeom>
          <a:noFill/>
          <a:ln/>
        </p:spPr>
        <p:txBody>
          <a:bodyPr wrap="square" lIns="254" tIns="254" rIns="254" bIns="254" rtlCol="0" anchor="ctr"/>
          <a:lstStyle/>
          <a:p>
            <a:pPr algn="ctr" indent="0" marL="0">
              <a:lnSpc>
                <a:spcPts val="900"/>
              </a:lnSpc>
              <a:buNone/>
            </a:pPr>
            <a:r>
              <a:rPr lang="en-US" sz="710" b="1" spc="30" kern="0" dirty="0">
                <a:solidFill>
                  <a:srgbClr val="2B303A"/>
                </a:solidFill>
                <a:latin typeface="Inter" pitchFamily="34" charset="0"/>
                <a:ea typeface="Inter" pitchFamily="34" charset="-122"/>
                <a:cs typeface="Inter" pitchFamily="34" charset="-120"/>
              </a:rPr>
              <a:t>LLM</a:t>
            </a:r>
            <a:endParaRPr lang="en-US" sz="710" dirty="0"/>
          </a:p>
        </p:txBody>
      </p:sp>
      <p:sp>
        <p:nvSpPr>
          <p:cNvPr id="30" name="Shape 28"/>
          <p:cNvSpPr/>
          <p:nvPr/>
        </p:nvSpPr>
        <p:spPr>
          <a:xfrm>
            <a:off x="5321808" y="2359152"/>
            <a:ext cx="155448" cy="0"/>
          </a:xfrm>
          <a:prstGeom prst="line">
            <a:avLst/>
          </a:prstGeom>
          <a:noFill/>
          <a:ln w="12700">
            <a:solidFill>
              <a:srgbClr val="AEB6C0"/>
            </a:solidFill>
            <a:prstDash val="solid"/>
            <a:tailEnd type="triangle"/>
          </a:ln>
        </p:spPr>
      </p:sp>
      <p:sp>
        <p:nvSpPr>
          <p:cNvPr id="31" name="Shape 29"/>
          <p:cNvSpPr/>
          <p:nvPr/>
        </p:nvSpPr>
        <p:spPr>
          <a:xfrm>
            <a:off x="5477256" y="2157984"/>
            <a:ext cx="1517904" cy="402336"/>
          </a:xfrm>
          <a:prstGeom prst="rect">
            <a:avLst/>
          </a:prstGeom>
          <a:solidFill>
            <a:srgbClr val="EAF1F3"/>
          </a:solidFill>
          <a:ln w="12700">
            <a:solidFill>
              <a:srgbClr val="2E7D8F"/>
            </a:solidFill>
            <a:prstDash val="solid"/>
          </a:ln>
        </p:spPr>
      </p:sp>
      <p:sp>
        <p:nvSpPr>
          <p:cNvPr id="32" name="Text 30"/>
          <p:cNvSpPr/>
          <p:nvPr/>
        </p:nvSpPr>
        <p:spPr>
          <a:xfrm>
            <a:off x="5477256" y="2157984"/>
            <a:ext cx="1517904" cy="402336"/>
          </a:xfrm>
          <a:prstGeom prst="rect">
            <a:avLst/>
          </a:prstGeom>
          <a:noFill/>
          <a:ln/>
        </p:spPr>
        <p:txBody>
          <a:bodyPr wrap="square" lIns="254" tIns="254" rIns="254" bIns="254" rtlCol="0" anchor="ctr"/>
          <a:lstStyle/>
          <a:p>
            <a:pPr algn="ctr" indent="0" marL="0">
              <a:lnSpc>
                <a:spcPts val="900"/>
              </a:lnSpc>
              <a:buNone/>
            </a:pPr>
            <a:r>
              <a:rPr lang="en-US" sz="710" b="1" spc="30" kern="0" dirty="0">
                <a:solidFill>
                  <a:srgbClr val="1B3A5C"/>
                </a:solidFill>
                <a:latin typeface="Inter" pitchFamily="34" charset="0"/>
                <a:ea typeface="Inter" pitchFamily="34" charset="-122"/>
                <a:cs typeface="Inter" pitchFamily="34" charset="-120"/>
              </a:rPr>
              <a:t>GROUNDED RESPONSE</a:t>
            </a:r>
            <a:endParaRPr lang="en-US" sz="710" dirty="0"/>
          </a:p>
        </p:txBody>
      </p:sp>
      <p:sp>
        <p:nvSpPr>
          <p:cNvPr id="33" name="Text 31"/>
          <p:cNvSpPr/>
          <p:nvPr/>
        </p:nvSpPr>
        <p:spPr>
          <a:xfrm>
            <a:off x="457200" y="2798064"/>
            <a:ext cx="3657600" cy="182880"/>
          </a:xfrm>
          <a:prstGeom prst="rect">
            <a:avLst/>
          </a:prstGeom>
          <a:noFill/>
          <a:ln/>
        </p:spPr>
        <p:txBody>
          <a:bodyPr wrap="square" lIns="0" tIns="0" rIns="0" bIns="0" rtlCol="0" anchor="ctr"/>
          <a:lstStyle/>
          <a:p>
            <a:pPr indent="0" marL="0">
              <a:buNone/>
            </a:pPr>
            <a:r>
              <a:rPr lang="en-US" sz="800" b="1" spc="140" kern="0" dirty="0">
                <a:solidFill>
                  <a:srgbClr val="1B3A5C"/>
                </a:solidFill>
                <a:latin typeface="Inter" pitchFamily="34" charset="0"/>
                <a:ea typeface="Inter" pitchFamily="34" charset="-122"/>
                <a:cs typeface="Inter" pitchFamily="34" charset="-120"/>
              </a:rPr>
              <a:t>REGULATORY KNOWLEDGE LIFECYCLE</a:t>
            </a:r>
            <a:endParaRPr lang="en-US" sz="800" dirty="0"/>
          </a:p>
        </p:txBody>
      </p:sp>
      <p:sp>
        <p:nvSpPr>
          <p:cNvPr id="34" name="Shape 32"/>
          <p:cNvSpPr/>
          <p:nvPr/>
        </p:nvSpPr>
        <p:spPr>
          <a:xfrm>
            <a:off x="457200" y="3017520"/>
            <a:ext cx="1243584" cy="384048"/>
          </a:xfrm>
          <a:prstGeom prst="rect">
            <a:avLst/>
          </a:prstGeom>
          <a:solidFill>
            <a:srgbClr val="FFFFFF"/>
          </a:solidFill>
          <a:ln w="9525">
            <a:solidFill>
              <a:srgbClr val="9BA3AE"/>
            </a:solidFill>
            <a:prstDash val="solid"/>
          </a:ln>
        </p:spPr>
      </p:sp>
      <p:sp>
        <p:nvSpPr>
          <p:cNvPr id="35" name="Text 33"/>
          <p:cNvSpPr/>
          <p:nvPr/>
        </p:nvSpPr>
        <p:spPr>
          <a:xfrm>
            <a:off x="457200" y="3017520"/>
            <a:ext cx="1243584" cy="384048"/>
          </a:xfrm>
          <a:prstGeom prst="rect">
            <a:avLst/>
          </a:prstGeom>
          <a:noFill/>
          <a:ln/>
        </p:spPr>
        <p:txBody>
          <a:bodyPr wrap="square" lIns="254" tIns="254" rIns="254" bIns="254" rtlCol="0" anchor="ctr"/>
          <a:lstStyle/>
          <a:p>
            <a:pPr algn="ctr" indent="0" marL="0">
              <a:lnSpc>
                <a:spcPts val="900"/>
              </a:lnSpc>
              <a:buNone/>
            </a:pPr>
            <a:r>
              <a:rPr lang="en-US" sz="720" dirty="0">
                <a:solidFill>
                  <a:srgbClr val="2B303A"/>
                </a:solidFill>
                <a:latin typeface="Inter" pitchFamily="34" charset="0"/>
                <a:ea typeface="Inter" pitchFamily="34" charset="-122"/>
                <a:cs typeface="Inter" pitchFamily="34" charset="-120"/>
              </a:rPr>
              <a:t>RBI / SEBI / NCFE</a:t>
            </a:r>
            <a:endParaRPr lang="en-US" sz="720" dirty="0"/>
          </a:p>
        </p:txBody>
      </p:sp>
      <p:sp>
        <p:nvSpPr>
          <p:cNvPr id="36" name="Shape 34"/>
          <p:cNvSpPr/>
          <p:nvPr/>
        </p:nvSpPr>
        <p:spPr>
          <a:xfrm>
            <a:off x="1700784" y="3209544"/>
            <a:ext cx="138989" cy="0"/>
          </a:xfrm>
          <a:prstGeom prst="line">
            <a:avLst/>
          </a:prstGeom>
          <a:noFill/>
          <a:ln w="12700">
            <a:solidFill>
              <a:srgbClr val="AEB6C0"/>
            </a:solidFill>
            <a:prstDash val="solid"/>
            <a:tailEnd type="triangle"/>
          </a:ln>
        </p:spPr>
      </p:sp>
      <p:sp>
        <p:nvSpPr>
          <p:cNvPr id="37" name="Shape 35"/>
          <p:cNvSpPr/>
          <p:nvPr/>
        </p:nvSpPr>
        <p:spPr>
          <a:xfrm>
            <a:off x="1839773" y="3017520"/>
            <a:ext cx="1243584" cy="384048"/>
          </a:xfrm>
          <a:prstGeom prst="rect">
            <a:avLst/>
          </a:prstGeom>
          <a:solidFill>
            <a:srgbClr val="F4F6F8"/>
          </a:solidFill>
          <a:ln w="9525">
            <a:solidFill>
              <a:srgbClr val="D5DAE1"/>
            </a:solidFill>
            <a:prstDash val="solid"/>
          </a:ln>
        </p:spPr>
      </p:sp>
      <p:sp>
        <p:nvSpPr>
          <p:cNvPr id="38" name="Text 36"/>
          <p:cNvSpPr/>
          <p:nvPr/>
        </p:nvSpPr>
        <p:spPr>
          <a:xfrm>
            <a:off x="1839773" y="3017520"/>
            <a:ext cx="1243584" cy="384048"/>
          </a:xfrm>
          <a:prstGeom prst="rect">
            <a:avLst/>
          </a:prstGeom>
          <a:noFill/>
          <a:ln/>
        </p:spPr>
        <p:txBody>
          <a:bodyPr wrap="square" lIns="254" tIns="254" rIns="254" bIns="254" rtlCol="0" anchor="ctr"/>
          <a:lstStyle/>
          <a:p>
            <a:pPr algn="ctr" indent="0" marL="0">
              <a:lnSpc>
                <a:spcPts val="900"/>
              </a:lnSpc>
              <a:buNone/>
            </a:pPr>
            <a:r>
              <a:rPr lang="en-US" sz="720" dirty="0">
                <a:solidFill>
                  <a:srgbClr val="2B303A"/>
                </a:solidFill>
                <a:latin typeface="Inter" pitchFamily="34" charset="0"/>
                <a:ea typeface="Inter" pitchFamily="34" charset="-122"/>
                <a:cs typeface="Inter" pitchFamily="34" charset="-120"/>
              </a:rPr>
              <a:t>Official Documents</a:t>
            </a:r>
            <a:endParaRPr lang="en-US" sz="720" dirty="0"/>
          </a:p>
        </p:txBody>
      </p:sp>
      <p:sp>
        <p:nvSpPr>
          <p:cNvPr id="39" name="Shape 37"/>
          <p:cNvSpPr/>
          <p:nvPr/>
        </p:nvSpPr>
        <p:spPr>
          <a:xfrm>
            <a:off x="3083357" y="3209544"/>
            <a:ext cx="138989" cy="0"/>
          </a:xfrm>
          <a:prstGeom prst="line">
            <a:avLst/>
          </a:prstGeom>
          <a:noFill/>
          <a:ln w="12700">
            <a:solidFill>
              <a:srgbClr val="AEB6C0"/>
            </a:solidFill>
            <a:prstDash val="solid"/>
            <a:tailEnd type="triangle"/>
          </a:ln>
        </p:spPr>
      </p:sp>
      <p:sp>
        <p:nvSpPr>
          <p:cNvPr id="40" name="Shape 38"/>
          <p:cNvSpPr/>
          <p:nvPr/>
        </p:nvSpPr>
        <p:spPr>
          <a:xfrm>
            <a:off x="3222346" y="3017520"/>
            <a:ext cx="1243584" cy="384048"/>
          </a:xfrm>
          <a:prstGeom prst="rect">
            <a:avLst/>
          </a:prstGeom>
          <a:solidFill>
            <a:srgbClr val="F4F6F8"/>
          </a:solidFill>
          <a:ln w="9525">
            <a:solidFill>
              <a:srgbClr val="D5DAE1"/>
            </a:solidFill>
            <a:prstDash val="solid"/>
          </a:ln>
        </p:spPr>
      </p:sp>
      <p:sp>
        <p:nvSpPr>
          <p:cNvPr id="41" name="Text 39"/>
          <p:cNvSpPr/>
          <p:nvPr/>
        </p:nvSpPr>
        <p:spPr>
          <a:xfrm>
            <a:off x="3222346" y="3017520"/>
            <a:ext cx="1243584" cy="384048"/>
          </a:xfrm>
          <a:prstGeom prst="rect">
            <a:avLst/>
          </a:prstGeom>
          <a:noFill/>
          <a:ln/>
        </p:spPr>
        <p:txBody>
          <a:bodyPr wrap="square" lIns="254" tIns="254" rIns="254" bIns="254" rtlCol="0" anchor="ctr"/>
          <a:lstStyle/>
          <a:p>
            <a:pPr algn="ctr" indent="0" marL="0">
              <a:lnSpc>
                <a:spcPts val="900"/>
              </a:lnSpc>
              <a:buNone/>
            </a:pPr>
            <a:r>
              <a:rPr lang="en-US" sz="720" dirty="0">
                <a:solidFill>
                  <a:srgbClr val="2B303A"/>
                </a:solidFill>
                <a:latin typeface="Inter" pitchFamily="34" charset="0"/>
                <a:ea typeface="Inter" pitchFamily="34" charset="-122"/>
                <a:cs typeface="Inter" pitchFamily="34" charset="-120"/>
              </a:rPr>
              <a:t>Semantic Chunking</a:t>
            </a:r>
            <a:endParaRPr lang="en-US" sz="720" dirty="0"/>
          </a:p>
        </p:txBody>
      </p:sp>
      <p:sp>
        <p:nvSpPr>
          <p:cNvPr id="42" name="Shape 40"/>
          <p:cNvSpPr/>
          <p:nvPr/>
        </p:nvSpPr>
        <p:spPr>
          <a:xfrm>
            <a:off x="4465930" y="3209544"/>
            <a:ext cx="138989" cy="0"/>
          </a:xfrm>
          <a:prstGeom prst="line">
            <a:avLst/>
          </a:prstGeom>
          <a:noFill/>
          <a:ln w="12700">
            <a:solidFill>
              <a:srgbClr val="AEB6C0"/>
            </a:solidFill>
            <a:prstDash val="solid"/>
            <a:tailEnd type="triangle"/>
          </a:ln>
        </p:spPr>
      </p:sp>
      <p:sp>
        <p:nvSpPr>
          <p:cNvPr id="43" name="Shape 41"/>
          <p:cNvSpPr/>
          <p:nvPr/>
        </p:nvSpPr>
        <p:spPr>
          <a:xfrm>
            <a:off x="4604918" y="3017520"/>
            <a:ext cx="1243584" cy="384048"/>
          </a:xfrm>
          <a:prstGeom prst="rect">
            <a:avLst/>
          </a:prstGeom>
          <a:solidFill>
            <a:srgbClr val="F4F6F8"/>
          </a:solidFill>
          <a:ln w="9525">
            <a:solidFill>
              <a:srgbClr val="D5DAE1"/>
            </a:solidFill>
            <a:prstDash val="solid"/>
          </a:ln>
        </p:spPr>
      </p:sp>
      <p:sp>
        <p:nvSpPr>
          <p:cNvPr id="44" name="Text 42"/>
          <p:cNvSpPr/>
          <p:nvPr/>
        </p:nvSpPr>
        <p:spPr>
          <a:xfrm>
            <a:off x="4604918" y="3017520"/>
            <a:ext cx="1243584" cy="384048"/>
          </a:xfrm>
          <a:prstGeom prst="rect">
            <a:avLst/>
          </a:prstGeom>
          <a:noFill/>
          <a:ln/>
        </p:spPr>
        <p:txBody>
          <a:bodyPr wrap="square" lIns="254" tIns="254" rIns="254" bIns="254" rtlCol="0" anchor="ctr"/>
          <a:lstStyle/>
          <a:p>
            <a:pPr algn="ctr" indent="0" marL="0">
              <a:lnSpc>
                <a:spcPts val="900"/>
              </a:lnSpc>
              <a:buNone/>
            </a:pPr>
            <a:r>
              <a:rPr lang="en-US" sz="720" dirty="0">
                <a:solidFill>
                  <a:srgbClr val="2B303A"/>
                </a:solidFill>
                <a:latin typeface="Inter" pitchFamily="34" charset="0"/>
                <a:ea typeface="Inter" pitchFamily="34" charset="-122"/>
                <a:cs typeface="Inter" pitchFamily="34" charset="-120"/>
              </a:rPr>
              <a:t>Embeddings</a:t>
            </a:r>
            <a:endParaRPr lang="en-US" sz="720" dirty="0"/>
          </a:p>
        </p:txBody>
      </p:sp>
      <p:sp>
        <p:nvSpPr>
          <p:cNvPr id="45" name="Shape 43"/>
          <p:cNvSpPr/>
          <p:nvPr/>
        </p:nvSpPr>
        <p:spPr>
          <a:xfrm>
            <a:off x="5848502" y="3209544"/>
            <a:ext cx="138989" cy="0"/>
          </a:xfrm>
          <a:prstGeom prst="line">
            <a:avLst/>
          </a:prstGeom>
          <a:noFill/>
          <a:ln w="12700">
            <a:solidFill>
              <a:srgbClr val="AEB6C0"/>
            </a:solidFill>
            <a:prstDash val="solid"/>
            <a:tailEnd type="triangle"/>
          </a:ln>
        </p:spPr>
      </p:sp>
      <p:sp>
        <p:nvSpPr>
          <p:cNvPr id="46" name="Shape 44"/>
          <p:cNvSpPr/>
          <p:nvPr/>
        </p:nvSpPr>
        <p:spPr>
          <a:xfrm>
            <a:off x="5987491" y="3017520"/>
            <a:ext cx="1243584" cy="384048"/>
          </a:xfrm>
          <a:prstGeom prst="rect">
            <a:avLst/>
          </a:prstGeom>
          <a:solidFill>
            <a:srgbClr val="F4F6F8"/>
          </a:solidFill>
          <a:ln w="9525">
            <a:solidFill>
              <a:srgbClr val="D5DAE1"/>
            </a:solidFill>
            <a:prstDash val="solid"/>
          </a:ln>
        </p:spPr>
      </p:sp>
      <p:sp>
        <p:nvSpPr>
          <p:cNvPr id="47" name="Text 45"/>
          <p:cNvSpPr/>
          <p:nvPr/>
        </p:nvSpPr>
        <p:spPr>
          <a:xfrm>
            <a:off x="5987491" y="3017520"/>
            <a:ext cx="1243584" cy="384048"/>
          </a:xfrm>
          <a:prstGeom prst="rect">
            <a:avLst/>
          </a:prstGeom>
          <a:noFill/>
          <a:ln/>
        </p:spPr>
        <p:txBody>
          <a:bodyPr wrap="square" lIns="254" tIns="254" rIns="254" bIns="254" rtlCol="0" anchor="ctr"/>
          <a:lstStyle/>
          <a:p>
            <a:pPr algn="ctr" indent="0" marL="0">
              <a:lnSpc>
                <a:spcPts val="900"/>
              </a:lnSpc>
              <a:buNone/>
            </a:pPr>
            <a:r>
              <a:rPr lang="en-US" sz="720" dirty="0">
                <a:solidFill>
                  <a:srgbClr val="2B303A"/>
                </a:solidFill>
                <a:latin typeface="Inter" pitchFamily="34" charset="0"/>
                <a:ea typeface="Inter" pitchFamily="34" charset="-122"/>
                <a:cs typeface="Inter" pitchFamily="34" charset="-120"/>
              </a:rPr>
              <a:t>FAISS Index</a:t>
            </a:r>
            <a:endParaRPr lang="en-US" sz="720" dirty="0"/>
          </a:p>
        </p:txBody>
      </p:sp>
      <p:sp>
        <p:nvSpPr>
          <p:cNvPr id="48" name="Shape 46"/>
          <p:cNvSpPr/>
          <p:nvPr/>
        </p:nvSpPr>
        <p:spPr>
          <a:xfrm>
            <a:off x="7231075" y="3209544"/>
            <a:ext cx="138989" cy="0"/>
          </a:xfrm>
          <a:prstGeom prst="line">
            <a:avLst/>
          </a:prstGeom>
          <a:noFill/>
          <a:ln w="12700">
            <a:solidFill>
              <a:srgbClr val="AEB6C0"/>
            </a:solidFill>
            <a:prstDash val="solid"/>
            <a:tailEnd type="triangle"/>
          </a:ln>
        </p:spPr>
      </p:sp>
      <p:sp>
        <p:nvSpPr>
          <p:cNvPr id="49" name="Shape 47"/>
          <p:cNvSpPr/>
          <p:nvPr/>
        </p:nvSpPr>
        <p:spPr>
          <a:xfrm>
            <a:off x="7370064" y="3017520"/>
            <a:ext cx="1243584" cy="384048"/>
          </a:xfrm>
          <a:prstGeom prst="rect">
            <a:avLst/>
          </a:prstGeom>
          <a:solidFill>
            <a:srgbClr val="F4F6F8"/>
          </a:solidFill>
          <a:ln w="9525">
            <a:solidFill>
              <a:srgbClr val="D5DAE1"/>
            </a:solidFill>
            <a:prstDash val="solid"/>
          </a:ln>
        </p:spPr>
      </p:sp>
      <p:sp>
        <p:nvSpPr>
          <p:cNvPr id="50" name="Text 48"/>
          <p:cNvSpPr/>
          <p:nvPr/>
        </p:nvSpPr>
        <p:spPr>
          <a:xfrm>
            <a:off x="7370064" y="3017520"/>
            <a:ext cx="1243584" cy="384048"/>
          </a:xfrm>
          <a:prstGeom prst="rect">
            <a:avLst/>
          </a:prstGeom>
          <a:noFill/>
          <a:ln/>
        </p:spPr>
        <p:txBody>
          <a:bodyPr wrap="square" lIns="254" tIns="254" rIns="254" bIns="254" rtlCol="0" anchor="ctr"/>
          <a:lstStyle/>
          <a:p>
            <a:pPr algn="ctr" indent="0" marL="0">
              <a:lnSpc>
                <a:spcPts val="900"/>
              </a:lnSpc>
              <a:buNone/>
            </a:pPr>
            <a:r>
              <a:rPr lang="en-US" sz="720" dirty="0">
                <a:solidFill>
                  <a:srgbClr val="2B303A"/>
                </a:solidFill>
                <a:latin typeface="Inter" pitchFamily="34" charset="0"/>
                <a:ea typeface="Inter" pitchFamily="34" charset="-122"/>
                <a:cs typeface="Inter" pitchFamily="34" charset="-120"/>
              </a:rPr>
              <a:t>Continuous Re-indexing</a:t>
            </a:r>
            <a:endParaRPr lang="en-US" sz="720" dirty="0"/>
          </a:p>
        </p:txBody>
      </p:sp>
      <p:sp>
        <p:nvSpPr>
          <p:cNvPr id="51" name="Shape 49"/>
          <p:cNvSpPr/>
          <p:nvPr/>
        </p:nvSpPr>
        <p:spPr>
          <a:xfrm>
            <a:off x="8065008" y="3401568"/>
            <a:ext cx="0" cy="182880"/>
          </a:xfrm>
          <a:prstGeom prst="line">
            <a:avLst/>
          </a:prstGeom>
          <a:noFill/>
          <a:ln w="12700">
            <a:solidFill>
              <a:srgbClr val="AEB6C0"/>
            </a:solidFill>
            <a:prstDash val="solid"/>
          </a:ln>
        </p:spPr>
      </p:sp>
      <p:sp>
        <p:nvSpPr>
          <p:cNvPr id="52" name="Shape 50"/>
          <p:cNvSpPr/>
          <p:nvPr/>
        </p:nvSpPr>
        <p:spPr>
          <a:xfrm>
            <a:off x="3844138" y="3584448"/>
            <a:ext cx="4220870" cy="0"/>
          </a:xfrm>
          <a:prstGeom prst="line">
            <a:avLst/>
          </a:prstGeom>
          <a:noFill/>
          <a:ln w="12700">
            <a:solidFill>
              <a:srgbClr val="AEB6C0"/>
            </a:solidFill>
            <a:prstDash val="solid"/>
          </a:ln>
        </p:spPr>
      </p:sp>
      <p:sp>
        <p:nvSpPr>
          <p:cNvPr id="53" name="Shape 51"/>
          <p:cNvSpPr/>
          <p:nvPr/>
        </p:nvSpPr>
        <p:spPr>
          <a:xfrm>
            <a:off x="3844138" y="3584448"/>
            <a:ext cx="0" cy="-182880"/>
          </a:xfrm>
          <a:prstGeom prst="line">
            <a:avLst/>
          </a:prstGeom>
          <a:noFill/>
          <a:ln w="12700">
            <a:solidFill>
              <a:srgbClr val="AEB6C0"/>
            </a:solidFill>
            <a:prstDash val="solid"/>
            <a:tailEnd type="triangle"/>
          </a:ln>
        </p:spPr>
      </p:sp>
      <p:sp>
        <p:nvSpPr>
          <p:cNvPr id="54" name="Text 52"/>
          <p:cNvSpPr/>
          <p:nvPr/>
        </p:nvSpPr>
        <p:spPr>
          <a:xfrm>
            <a:off x="4114800" y="3611880"/>
            <a:ext cx="3291840" cy="182880"/>
          </a:xfrm>
          <a:prstGeom prst="rect">
            <a:avLst/>
          </a:prstGeom>
          <a:noFill/>
          <a:ln/>
        </p:spPr>
        <p:txBody>
          <a:bodyPr wrap="square" lIns="0" tIns="0" rIns="0" bIns="0" rtlCol="0" anchor="ctr"/>
          <a:lstStyle/>
          <a:p>
            <a:pPr algn="ctr" indent="0" marL="0">
              <a:buNone/>
            </a:pPr>
            <a:r>
              <a:rPr lang="en-US" sz="750" dirty="0">
                <a:solidFill>
                  <a:srgbClr val="6B7280"/>
                </a:solidFill>
                <a:latin typeface="Inter" pitchFamily="34" charset="0"/>
                <a:ea typeface="Inter" pitchFamily="34" charset="-122"/>
                <a:cs typeface="Inter" pitchFamily="34" charset="-120"/>
              </a:rPr>
              <a:t>New circular  →  re-index  →  knowledge base updated</a:t>
            </a:r>
            <a:endParaRPr lang="en-US" sz="750" dirty="0"/>
          </a:p>
        </p:txBody>
      </p:sp>
      <p:sp>
        <p:nvSpPr>
          <p:cNvPr id="55" name="Shape 53"/>
          <p:cNvSpPr/>
          <p:nvPr/>
        </p:nvSpPr>
        <p:spPr>
          <a:xfrm>
            <a:off x="457200" y="3950208"/>
            <a:ext cx="8229600" cy="438912"/>
          </a:xfrm>
          <a:prstGeom prst="rect">
            <a:avLst/>
          </a:prstGeom>
          <a:solidFill>
            <a:srgbClr val="F4F6F8"/>
          </a:solidFill>
          <a:ln w="11430">
            <a:solidFill>
              <a:srgbClr val="1B3A5C"/>
            </a:solidFill>
            <a:prstDash val="solid"/>
          </a:ln>
        </p:spPr>
      </p:sp>
      <p:sp>
        <p:nvSpPr>
          <p:cNvPr id="56" name="Text 54"/>
          <p:cNvSpPr/>
          <p:nvPr/>
        </p:nvSpPr>
        <p:spPr>
          <a:xfrm>
            <a:off x="548640" y="3950208"/>
            <a:ext cx="8046720" cy="438912"/>
          </a:xfrm>
          <a:prstGeom prst="rect">
            <a:avLst/>
          </a:prstGeom>
          <a:noFill/>
          <a:ln/>
        </p:spPr>
        <p:txBody>
          <a:bodyPr wrap="square" lIns="381" tIns="381" rIns="381" bIns="381" rtlCol="0" anchor="ctr"/>
          <a:lstStyle/>
          <a:p>
            <a:pPr algn="ctr" indent="0" marL="0">
              <a:buNone/>
            </a:pPr>
            <a:r>
              <a:rPr lang="en-US" sz="900" b="1" dirty="0">
                <a:solidFill>
                  <a:srgbClr val="1B3A5C"/>
                </a:solidFill>
                <a:latin typeface="Inter" pitchFamily="34" charset="0"/>
                <a:ea typeface="Inter" pitchFamily="34" charset="-122"/>
                <a:cs typeface="Inter" pitchFamily="34" charset="-120"/>
              </a:rPr>
              <a:t>Deterministic inference — every answer is cited from retrieved regulatory context, never from unrestricted recall.</a:t>
            </a:r>
            <a:endParaRPr lang="en-US" sz="900" dirty="0"/>
          </a:p>
        </p:txBody>
      </p:sp>
      <p:sp>
        <p:nvSpPr>
          <p:cNvPr id="57" name="Text 55"/>
          <p:cNvSpPr/>
          <p:nvPr/>
        </p:nvSpPr>
        <p:spPr>
          <a:xfrm>
            <a:off x="457200" y="4777740"/>
            <a:ext cx="5486400" cy="201168"/>
          </a:xfrm>
          <a:prstGeom prst="rect">
            <a:avLst/>
          </a:prstGeom>
          <a:noFill/>
          <a:ln/>
        </p:spPr>
        <p:txBody>
          <a:bodyPr wrap="square" lIns="0" tIns="0" rIns="0" bIns="0" rtlCol="0" anchor="ctr"/>
          <a:lstStyle/>
          <a:p>
            <a:pPr indent="0" marL="0">
              <a:buNone/>
            </a:pPr>
            <a:r>
              <a:rPr lang="en-US" sz="800" spc="120" kern="0" dirty="0">
                <a:solidFill>
                  <a:srgbClr val="9BA3AE"/>
                </a:solidFill>
                <a:latin typeface="Inter" pitchFamily="34" charset="0"/>
                <a:ea typeface="Inter" pitchFamily="34" charset="-122"/>
                <a:cs typeface="Inter" pitchFamily="34" charset="-120"/>
              </a:rPr>
              <a:t>FINPATH INDIA  ·  TECHNICAL ARCHITECTURE</a:t>
            </a:r>
            <a:endParaRPr lang="en-US" sz="800" dirty="0"/>
          </a:p>
        </p:txBody>
      </p:sp>
      <p:sp>
        <p:nvSpPr>
          <p:cNvPr id="58" name="Text 56"/>
          <p:cNvSpPr/>
          <p:nvPr/>
        </p:nvSpPr>
        <p:spPr>
          <a:xfrm>
            <a:off x="8138160" y="4777740"/>
            <a:ext cx="548640" cy="201168"/>
          </a:xfrm>
          <a:prstGeom prst="rect">
            <a:avLst/>
          </a:prstGeom>
          <a:noFill/>
          <a:ln/>
        </p:spPr>
        <p:txBody>
          <a:bodyPr wrap="square" lIns="0" tIns="0" rIns="0" bIns="0" rtlCol="0" anchor="ctr"/>
          <a:lstStyle/>
          <a:p>
            <a:pPr algn="r" indent="0" marL="0">
              <a:buNone/>
            </a:pPr>
            <a:r>
              <a:rPr lang="en-US" sz="800" dirty="0">
                <a:solidFill>
                  <a:srgbClr val="9BA3AE"/>
                </a:solidFill>
                <a:latin typeface="Inter" pitchFamily="34" charset="0"/>
                <a:ea typeface="Inter" pitchFamily="34" charset="-122"/>
                <a:cs typeface="Inter"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384048"/>
          </a:xfrm>
          <a:prstGeom prst="rect">
            <a:avLst/>
          </a:prstGeom>
          <a:noFill/>
          <a:ln/>
        </p:spPr>
        <p:txBody>
          <a:bodyPr wrap="square" lIns="0" tIns="0" rIns="0" bIns="0" rtlCol="0" anchor="ctr"/>
          <a:lstStyle/>
          <a:p>
            <a:pPr indent="0" marL="0">
              <a:buNone/>
            </a:pPr>
            <a:r>
              <a:rPr lang="en-US" sz="2400" b="1" dirty="0">
                <a:solidFill>
                  <a:srgbClr val="12151B"/>
                </a:solidFill>
                <a:latin typeface="Inter" pitchFamily="34" charset="0"/>
                <a:ea typeface="Inter" pitchFamily="34" charset="-122"/>
                <a:cs typeface="Inter" pitchFamily="34" charset="-120"/>
              </a:rPr>
              <a:t>Technical Engine II  —  Behavioral Intelligence</a:t>
            </a:r>
            <a:endParaRPr lang="en-US" sz="2400" dirty="0"/>
          </a:p>
        </p:txBody>
      </p:sp>
      <p:sp>
        <p:nvSpPr>
          <p:cNvPr id="3" name="Text 1"/>
          <p:cNvSpPr/>
          <p:nvPr/>
        </p:nvSpPr>
        <p:spPr>
          <a:xfrm>
            <a:off x="457200" y="786384"/>
            <a:ext cx="8229600" cy="237744"/>
          </a:xfrm>
          <a:prstGeom prst="rect">
            <a:avLst/>
          </a:prstGeom>
          <a:noFill/>
          <a:ln/>
        </p:spPr>
        <p:txBody>
          <a:bodyPr wrap="square" lIns="0" tIns="0" rIns="0" bIns="0" rtlCol="0" anchor="ctr"/>
          <a:lstStyle/>
          <a:p>
            <a:pPr indent="0" marL="0">
              <a:buNone/>
            </a:pPr>
            <a:r>
              <a:rPr lang="en-US" sz="1100" dirty="0">
                <a:solidFill>
                  <a:srgbClr val="6B7280"/>
                </a:solidFill>
                <a:latin typeface="Inter" pitchFamily="34" charset="0"/>
                <a:ea typeface="Inter" pitchFamily="34" charset="-122"/>
                <a:cs typeface="Inter" pitchFamily="34" charset="-120"/>
              </a:rPr>
              <a:t>Rule-based from day one, predictive from day thirty-one</a:t>
            </a:r>
            <a:endParaRPr lang="en-US" sz="1100" dirty="0"/>
          </a:p>
        </p:txBody>
      </p:sp>
      <p:sp>
        <p:nvSpPr>
          <p:cNvPr id="4" name="Text 2"/>
          <p:cNvSpPr/>
          <p:nvPr/>
        </p:nvSpPr>
        <p:spPr>
          <a:xfrm>
            <a:off x="457200" y="1188720"/>
            <a:ext cx="3657600" cy="182880"/>
          </a:xfrm>
          <a:prstGeom prst="rect">
            <a:avLst/>
          </a:prstGeom>
          <a:noFill/>
          <a:ln/>
        </p:spPr>
        <p:txBody>
          <a:bodyPr wrap="square" lIns="0" tIns="0" rIns="0" bIns="0" rtlCol="0" anchor="ctr"/>
          <a:lstStyle/>
          <a:p>
            <a:pPr indent="0" marL="0">
              <a:buNone/>
            </a:pPr>
            <a:r>
              <a:rPr lang="en-US" sz="800" b="1" spc="140" kern="0" dirty="0">
                <a:solidFill>
                  <a:srgbClr val="1B3A5C"/>
                </a:solidFill>
                <a:latin typeface="Inter" pitchFamily="34" charset="0"/>
                <a:ea typeface="Inter" pitchFamily="34" charset="-122"/>
                <a:cs typeface="Inter" pitchFamily="34" charset="-120"/>
              </a:rPr>
              <a:t>TRANSACTION DECISION FLOW</a:t>
            </a:r>
            <a:endParaRPr lang="en-US" sz="800" dirty="0"/>
          </a:p>
        </p:txBody>
      </p:sp>
      <p:sp>
        <p:nvSpPr>
          <p:cNvPr id="5" name="Shape 3"/>
          <p:cNvSpPr/>
          <p:nvPr/>
        </p:nvSpPr>
        <p:spPr>
          <a:xfrm>
            <a:off x="1143000" y="1408176"/>
            <a:ext cx="2834640" cy="329184"/>
          </a:xfrm>
          <a:prstGeom prst="rect">
            <a:avLst/>
          </a:prstGeom>
          <a:solidFill>
            <a:srgbClr val="FFFFFF"/>
          </a:solidFill>
          <a:ln w="9525">
            <a:solidFill>
              <a:srgbClr val="D5DAE1"/>
            </a:solidFill>
            <a:prstDash val="solid"/>
          </a:ln>
        </p:spPr>
      </p:sp>
      <p:sp>
        <p:nvSpPr>
          <p:cNvPr id="6" name="Text 4"/>
          <p:cNvSpPr/>
          <p:nvPr/>
        </p:nvSpPr>
        <p:spPr>
          <a:xfrm>
            <a:off x="1143000" y="1408176"/>
            <a:ext cx="2834640" cy="329184"/>
          </a:xfrm>
          <a:prstGeom prst="rect">
            <a:avLst/>
          </a:prstGeom>
          <a:noFill/>
          <a:ln/>
        </p:spPr>
        <p:txBody>
          <a:bodyPr wrap="square" lIns="254" tIns="254" rIns="254" bIns="254" rtlCol="0" anchor="ctr"/>
          <a:lstStyle/>
          <a:p>
            <a:pPr algn="ctr" indent="0" marL="0">
              <a:buNone/>
            </a:pPr>
            <a:r>
              <a:rPr lang="en-US" sz="780" b="1" spc="50" kern="0" dirty="0">
                <a:solidFill>
                  <a:srgbClr val="2B303A"/>
                </a:solidFill>
                <a:latin typeface="Inter" pitchFamily="34" charset="0"/>
                <a:ea typeface="Inter" pitchFamily="34" charset="-122"/>
                <a:cs typeface="Inter" pitchFamily="34" charset="-120"/>
              </a:rPr>
              <a:t>CONSENT-DRIVEN TRANSACTION</a:t>
            </a:r>
            <a:endParaRPr lang="en-US" sz="780" dirty="0"/>
          </a:p>
        </p:txBody>
      </p:sp>
      <p:sp>
        <p:nvSpPr>
          <p:cNvPr id="7" name="Text 5"/>
          <p:cNvSpPr/>
          <p:nvPr/>
        </p:nvSpPr>
        <p:spPr>
          <a:xfrm>
            <a:off x="1143000" y="1746504"/>
            <a:ext cx="2834640" cy="146304"/>
          </a:xfrm>
          <a:prstGeom prst="rect">
            <a:avLst/>
          </a:prstGeom>
          <a:noFill/>
          <a:ln/>
        </p:spPr>
        <p:txBody>
          <a:bodyPr wrap="square" lIns="0" tIns="0" rIns="0" bIns="0" rtlCol="0" anchor="ctr"/>
          <a:lstStyle/>
          <a:p>
            <a:pPr algn="ctr" indent="0" marL="0">
              <a:buNone/>
            </a:pPr>
            <a:r>
              <a:rPr lang="en-US" sz="680" dirty="0">
                <a:solidFill>
                  <a:srgbClr val="6B7280"/>
                </a:solidFill>
                <a:latin typeface="Inter" pitchFamily="34" charset="0"/>
                <a:ea typeface="Inter" pitchFamily="34" charset="-122"/>
                <a:cs typeface="Inter" pitchFamily="34" charset="-120"/>
              </a:rPr>
              <a:t>Sahamati AA — never SMS scraping</a:t>
            </a:r>
            <a:endParaRPr lang="en-US" sz="680" dirty="0"/>
          </a:p>
        </p:txBody>
      </p:sp>
      <p:sp>
        <p:nvSpPr>
          <p:cNvPr id="8" name="Shape 6"/>
          <p:cNvSpPr/>
          <p:nvPr/>
        </p:nvSpPr>
        <p:spPr>
          <a:xfrm>
            <a:off x="2560320" y="1901952"/>
            <a:ext cx="0" cy="164592"/>
          </a:xfrm>
          <a:prstGeom prst="line">
            <a:avLst/>
          </a:prstGeom>
          <a:noFill/>
          <a:ln w="12700">
            <a:solidFill>
              <a:srgbClr val="AEB6C0"/>
            </a:solidFill>
            <a:prstDash val="solid"/>
            <a:tailEnd type="triangle"/>
          </a:ln>
        </p:spPr>
      </p:sp>
      <p:sp>
        <p:nvSpPr>
          <p:cNvPr id="9" name="Shape 7"/>
          <p:cNvSpPr/>
          <p:nvPr/>
        </p:nvSpPr>
        <p:spPr>
          <a:xfrm>
            <a:off x="1143000" y="2066544"/>
            <a:ext cx="2834640" cy="329184"/>
          </a:xfrm>
          <a:prstGeom prst="rect">
            <a:avLst/>
          </a:prstGeom>
          <a:solidFill>
            <a:srgbClr val="FFFFFF"/>
          </a:solidFill>
          <a:ln w="9525">
            <a:solidFill>
              <a:srgbClr val="D5DAE1"/>
            </a:solidFill>
            <a:prstDash val="solid"/>
          </a:ln>
        </p:spPr>
      </p:sp>
      <p:sp>
        <p:nvSpPr>
          <p:cNvPr id="10" name="Text 8"/>
          <p:cNvSpPr/>
          <p:nvPr/>
        </p:nvSpPr>
        <p:spPr>
          <a:xfrm>
            <a:off x="1143000" y="2066544"/>
            <a:ext cx="2834640" cy="329184"/>
          </a:xfrm>
          <a:prstGeom prst="rect">
            <a:avLst/>
          </a:prstGeom>
          <a:noFill/>
          <a:ln/>
        </p:spPr>
        <p:txBody>
          <a:bodyPr wrap="square" lIns="254" tIns="254" rIns="254" bIns="254" rtlCol="0" anchor="ctr"/>
          <a:lstStyle/>
          <a:p>
            <a:pPr algn="ctr" indent="0" marL="0">
              <a:buNone/>
            </a:pPr>
            <a:r>
              <a:rPr lang="en-US" sz="780" b="1" spc="50" kern="0" dirty="0">
                <a:solidFill>
                  <a:srgbClr val="2B303A"/>
                </a:solidFill>
                <a:latin typeface="Inter" pitchFamily="34" charset="0"/>
                <a:ea typeface="Inter" pitchFamily="34" charset="-122"/>
                <a:cs typeface="Inter" pitchFamily="34" charset="-120"/>
              </a:rPr>
              <a:t>MCC CATEGORISATION</a:t>
            </a:r>
            <a:endParaRPr lang="en-US" sz="780" dirty="0"/>
          </a:p>
        </p:txBody>
      </p:sp>
      <p:sp>
        <p:nvSpPr>
          <p:cNvPr id="11" name="Text 9"/>
          <p:cNvSpPr/>
          <p:nvPr/>
        </p:nvSpPr>
        <p:spPr>
          <a:xfrm>
            <a:off x="1143000" y="2404872"/>
            <a:ext cx="2834640" cy="146304"/>
          </a:xfrm>
          <a:prstGeom prst="rect">
            <a:avLst/>
          </a:prstGeom>
          <a:noFill/>
          <a:ln/>
        </p:spPr>
        <p:txBody>
          <a:bodyPr wrap="square" lIns="0" tIns="0" rIns="0" bIns="0" rtlCol="0" anchor="ctr"/>
          <a:lstStyle/>
          <a:p>
            <a:pPr algn="ctr" indent="0" marL="0">
              <a:buNone/>
            </a:pPr>
            <a:r>
              <a:rPr lang="en-US" sz="680" dirty="0">
                <a:solidFill>
                  <a:srgbClr val="6B7280"/>
                </a:solidFill>
                <a:latin typeface="Inter" pitchFamily="34" charset="0"/>
                <a:ea typeface="Inter" pitchFamily="34" charset="-122"/>
                <a:cs typeface="Inter" pitchFamily="34" charset="-120"/>
              </a:rPr>
              <a:t>Needs  /  Wants  /  Savings</a:t>
            </a:r>
            <a:endParaRPr lang="en-US" sz="680" dirty="0"/>
          </a:p>
        </p:txBody>
      </p:sp>
      <p:sp>
        <p:nvSpPr>
          <p:cNvPr id="12" name="Shape 10"/>
          <p:cNvSpPr/>
          <p:nvPr/>
        </p:nvSpPr>
        <p:spPr>
          <a:xfrm>
            <a:off x="2560320" y="2560320"/>
            <a:ext cx="0" cy="164592"/>
          </a:xfrm>
          <a:prstGeom prst="line">
            <a:avLst/>
          </a:prstGeom>
          <a:noFill/>
          <a:ln w="12700">
            <a:solidFill>
              <a:srgbClr val="AEB6C0"/>
            </a:solidFill>
            <a:prstDash val="solid"/>
            <a:tailEnd type="triangle"/>
          </a:ln>
        </p:spPr>
      </p:sp>
      <p:sp>
        <p:nvSpPr>
          <p:cNvPr id="13" name="Shape 11"/>
          <p:cNvSpPr/>
          <p:nvPr/>
        </p:nvSpPr>
        <p:spPr>
          <a:xfrm>
            <a:off x="1143000" y="2724912"/>
            <a:ext cx="2834640" cy="329184"/>
          </a:xfrm>
          <a:prstGeom prst="rect">
            <a:avLst/>
          </a:prstGeom>
          <a:solidFill>
            <a:srgbClr val="F4F6F8"/>
          </a:solidFill>
          <a:ln w="12700">
            <a:solidFill>
              <a:srgbClr val="1B3A5C"/>
            </a:solidFill>
            <a:prstDash val="solid"/>
          </a:ln>
        </p:spPr>
      </p:sp>
      <p:sp>
        <p:nvSpPr>
          <p:cNvPr id="14" name="Text 12"/>
          <p:cNvSpPr/>
          <p:nvPr/>
        </p:nvSpPr>
        <p:spPr>
          <a:xfrm>
            <a:off x="1143000" y="2724912"/>
            <a:ext cx="2834640" cy="329184"/>
          </a:xfrm>
          <a:prstGeom prst="rect">
            <a:avLst/>
          </a:prstGeom>
          <a:noFill/>
          <a:ln/>
        </p:spPr>
        <p:txBody>
          <a:bodyPr wrap="square" lIns="254" tIns="254" rIns="254" bIns="254" rtlCol="0" anchor="ctr"/>
          <a:lstStyle/>
          <a:p>
            <a:pPr algn="ctr" indent="0" marL="0">
              <a:buNone/>
            </a:pPr>
            <a:r>
              <a:rPr lang="en-US" sz="780" b="1" spc="30" kern="0" dirty="0">
                <a:solidFill>
                  <a:srgbClr val="1B3A5C"/>
                </a:solidFill>
                <a:latin typeface="Inter" pitchFamily="34" charset="0"/>
                <a:ea typeface="Inter" pitchFamily="34" charset="-122"/>
                <a:cs typeface="Inter" pitchFamily="34" charset="-120"/>
              </a:rPr>
              <a:t>SMART RULE ENGINE  ·  WANTS &gt; 30% ?</a:t>
            </a:r>
            <a:endParaRPr lang="en-US" sz="780" dirty="0"/>
          </a:p>
        </p:txBody>
      </p:sp>
      <p:sp>
        <p:nvSpPr>
          <p:cNvPr id="15" name="Shape 13"/>
          <p:cNvSpPr/>
          <p:nvPr/>
        </p:nvSpPr>
        <p:spPr>
          <a:xfrm>
            <a:off x="2560320" y="3054096"/>
            <a:ext cx="0" cy="182880"/>
          </a:xfrm>
          <a:prstGeom prst="line">
            <a:avLst/>
          </a:prstGeom>
          <a:noFill/>
          <a:ln w="12700">
            <a:solidFill>
              <a:srgbClr val="AEB6C0"/>
            </a:solidFill>
            <a:prstDash val="solid"/>
          </a:ln>
        </p:spPr>
      </p:sp>
      <p:sp>
        <p:nvSpPr>
          <p:cNvPr id="16" name="Shape 14"/>
          <p:cNvSpPr/>
          <p:nvPr/>
        </p:nvSpPr>
        <p:spPr>
          <a:xfrm>
            <a:off x="1417320" y="3236976"/>
            <a:ext cx="2286000" cy="0"/>
          </a:xfrm>
          <a:prstGeom prst="line">
            <a:avLst/>
          </a:prstGeom>
          <a:noFill/>
          <a:ln w="12700">
            <a:solidFill>
              <a:srgbClr val="AEB6C0"/>
            </a:solidFill>
            <a:prstDash val="solid"/>
          </a:ln>
        </p:spPr>
      </p:sp>
      <p:sp>
        <p:nvSpPr>
          <p:cNvPr id="17" name="Shape 15"/>
          <p:cNvSpPr/>
          <p:nvPr/>
        </p:nvSpPr>
        <p:spPr>
          <a:xfrm>
            <a:off x="1417320" y="3236976"/>
            <a:ext cx="0" cy="146304"/>
          </a:xfrm>
          <a:prstGeom prst="line">
            <a:avLst/>
          </a:prstGeom>
          <a:noFill/>
          <a:ln w="12700">
            <a:solidFill>
              <a:srgbClr val="AEB6C0"/>
            </a:solidFill>
            <a:prstDash val="solid"/>
            <a:tailEnd type="triangle"/>
          </a:ln>
        </p:spPr>
      </p:sp>
      <p:sp>
        <p:nvSpPr>
          <p:cNvPr id="18" name="Shape 16"/>
          <p:cNvSpPr/>
          <p:nvPr/>
        </p:nvSpPr>
        <p:spPr>
          <a:xfrm>
            <a:off x="3703320" y="3236976"/>
            <a:ext cx="0" cy="146304"/>
          </a:xfrm>
          <a:prstGeom prst="line">
            <a:avLst/>
          </a:prstGeom>
          <a:noFill/>
          <a:ln w="12700">
            <a:solidFill>
              <a:srgbClr val="AEB6C0"/>
            </a:solidFill>
            <a:prstDash val="solid"/>
            <a:tailEnd type="triangle"/>
          </a:ln>
        </p:spPr>
      </p:sp>
      <p:sp>
        <p:nvSpPr>
          <p:cNvPr id="19" name="Text 17"/>
          <p:cNvSpPr/>
          <p:nvPr/>
        </p:nvSpPr>
        <p:spPr>
          <a:xfrm>
            <a:off x="941832" y="3218688"/>
            <a:ext cx="402336" cy="146304"/>
          </a:xfrm>
          <a:prstGeom prst="rect">
            <a:avLst/>
          </a:prstGeom>
          <a:noFill/>
          <a:ln/>
        </p:spPr>
        <p:txBody>
          <a:bodyPr wrap="square" lIns="0" tIns="0" rIns="0" bIns="0" rtlCol="0" anchor="ctr"/>
          <a:lstStyle/>
          <a:p>
            <a:pPr algn="r" indent="0" marL="0">
              <a:buNone/>
            </a:pPr>
            <a:r>
              <a:rPr lang="en-US" sz="680" b="1" dirty="0">
                <a:solidFill>
                  <a:srgbClr val="A8701C"/>
                </a:solidFill>
                <a:latin typeface="Inter" pitchFamily="34" charset="0"/>
                <a:ea typeface="Inter" pitchFamily="34" charset="-122"/>
                <a:cs typeface="Inter" pitchFamily="34" charset="-120"/>
              </a:rPr>
              <a:t>YES</a:t>
            </a:r>
            <a:endParaRPr lang="en-US" sz="680" dirty="0"/>
          </a:p>
        </p:txBody>
      </p:sp>
      <p:sp>
        <p:nvSpPr>
          <p:cNvPr id="20" name="Text 18"/>
          <p:cNvSpPr/>
          <p:nvPr/>
        </p:nvSpPr>
        <p:spPr>
          <a:xfrm>
            <a:off x="3776472" y="3218688"/>
            <a:ext cx="402336" cy="146304"/>
          </a:xfrm>
          <a:prstGeom prst="rect">
            <a:avLst/>
          </a:prstGeom>
          <a:noFill/>
          <a:ln/>
        </p:spPr>
        <p:txBody>
          <a:bodyPr wrap="square" lIns="0" tIns="0" rIns="0" bIns="0" rtlCol="0" anchor="ctr"/>
          <a:lstStyle/>
          <a:p>
            <a:pPr indent="0" marL="0">
              <a:buNone/>
            </a:pPr>
            <a:r>
              <a:rPr lang="en-US" sz="680" b="1" dirty="0">
                <a:solidFill>
                  <a:srgbClr val="6B7280"/>
                </a:solidFill>
                <a:latin typeface="Inter" pitchFamily="34" charset="0"/>
                <a:ea typeface="Inter" pitchFamily="34" charset="-122"/>
                <a:cs typeface="Inter" pitchFamily="34" charset="-120"/>
              </a:rPr>
              <a:t>NO</a:t>
            </a:r>
            <a:endParaRPr lang="en-US" sz="680" dirty="0"/>
          </a:p>
        </p:txBody>
      </p:sp>
      <p:sp>
        <p:nvSpPr>
          <p:cNvPr id="21" name="Shape 19"/>
          <p:cNvSpPr/>
          <p:nvPr/>
        </p:nvSpPr>
        <p:spPr>
          <a:xfrm>
            <a:off x="502920" y="3383280"/>
            <a:ext cx="1828800" cy="329184"/>
          </a:xfrm>
          <a:prstGeom prst="rect">
            <a:avLst/>
          </a:prstGeom>
          <a:solidFill>
            <a:srgbClr val="FBF5EA"/>
          </a:solidFill>
          <a:ln w="12700">
            <a:solidFill>
              <a:srgbClr val="A8701C"/>
            </a:solidFill>
            <a:prstDash val="solid"/>
          </a:ln>
        </p:spPr>
      </p:sp>
      <p:sp>
        <p:nvSpPr>
          <p:cNvPr id="22" name="Text 20"/>
          <p:cNvSpPr/>
          <p:nvPr/>
        </p:nvSpPr>
        <p:spPr>
          <a:xfrm>
            <a:off x="502920" y="3383280"/>
            <a:ext cx="1828800" cy="329184"/>
          </a:xfrm>
          <a:prstGeom prst="rect">
            <a:avLst/>
          </a:prstGeom>
          <a:noFill/>
          <a:ln/>
        </p:spPr>
        <p:txBody>
          <a:bodyPr wrap="square" lIns="254" tIns="254" rIns="254" bIns="254" rtlCol="0" anchor="ctr"/>
          <a:lstStyle/>
          <a:p>
            <a:pPr algn="ctr" indent="0" marL="0">
              <a:buNone/>
            </a:pPr>
            <a:r>
              <a:rPr lang="en-US" sz="720" b="1" spc="30" kern="0" dirty="0">
                <a:solidFill>
                  <a:srgbClr val="A8701C"/>
                </a:solidFill>
                <a:latin typeface="Inter" pitchFamily="34" charset="0"/>
                <a:ea typeface="Inter" pitchFamily="34" charset="-122"/>
                <a:cs typeface="Inter" pitchFamily="34" charset="-120"/>
              </a:rPr>
              <a:t>OPPORTUNITY COST NUDGE</a:t>
            </a:r>
            <a:endParaRPr lang="en-US" sz="720" dirty="0"/>
          </a:p>
        </p:txBody>
      </p:sp>
      <p:sp>
        <p:nvSpPr>
          <p:cNvPr id="23" name="Shape 21"/>
          <p:cNvSpPr/>
          <p:nvPr/>
        </p:nvSpPr>
        <p:spPr>
          <a:xfrm>
            <a:off x="2788920" y="3383280"/>
            <a:ext cx="1828800" cy="329184"/>
          </a:xfrm>
          <a:prstGeom prst="rect">
            <a:avLst/>
          </a:prstGeom>
          <a:solidFill>
            <a:srgbClr val="FFFFFF"/>
          </a:solidFill>
          <a:ln w="9525">
            <a:solidFill>
              <a:srgbClr val="D5DAE1"/>
            </a:solidFill>
            <a:prstDash val="solid"/>
          </a:ln>
        </p:spPr>
      </p:sp>
      <p:sp>
        <p:nvSpPr>
          <p:cNvPr id="24" name="Text 22"/>
          <p:cNvSpPr/>
          <p:nvPr/>
        </p:nvSpPr>
        <p:spPr>
          <a:xfrm>
            <a:off x="2788920" y="3383280"/>
            <a:ext cx="1828800" cy="329184"/>
          </a:xfrm>
          <a:prstGeom prst="rect">
            <a:avLst/>
          </a:prstGeom>
          <a:noFill/>
          <a:ln/>
        </p:spPr>
        <p:txBody>
          <a:bodyPr wrap="square" lIns="254" tIns="254" rIns="254" bIns="254" rtlCol="0" anchor="ctr"/>
          <a:lstStyle/>
          <a:p>
            <a:pPr algn="ctr" indent="0" marL="0">
              <a:buNone/>
            </a:pPr>
            <a:r>
              <a:rPr lang="en-US" sz="720" b="1" spc="30" kern="0" dirty="0">
                <a:solidFill>
                  <a:srgbClr val="2B303A"/>
                </a:solidFill>
                <a:latin typeface="Inter" pitchFamily="34" charset="0"/>
                <a:ea typeface="Inter" pitchFamily="34" charset="-122"/>
                <a:cs typeface="Inter" pitchFamily="34" charset="-120"/>
              </a:rPr>
              <a:t>LOG  +  MONITOR</a:t>
            </a:r>
            <a:endParaRPr lang="en-US" sz="720" dirty="0"/>
          </a:p>
        </p:txBody>
      </p:sp>
      <p:sp>
        <p:nvSpPr>
          <p:cNvPr id="25" name="Shape 23"/>
          <p:cNvSpPr/>
          <p:nvPr/>
        </p:nvSpPr>
        <p:spPr>
          <a:xfrm>
            <a:off x="1417320" y="3712464"/>
            <a:ext cx="0" cy="128016"/>
          </a:xfrm>
          <a:prstGeom prst="line">
            <a:avLst/>
          </a:prstGeom>
          <a:noFill/>
          <a:ln w="12700">
            <a:solidFill>
              <a:srgbClr val="AEB6C0"/>
            </a:solidFill>
            <a:prstDash val="solid"/>
          </a:ln>
        </p:spPr>
      </p:sp>
      <p:sp>
        <p:nvSpPr>
          <p:cNvPr id="26" name="Shape 24"/>
          <p:cNvSpPr/>
          <p:nvPr/>
        </p:nvSpPr>
        <p:spPr>
          <a:xfrm>
            <a:off x="3703320" y="3712464"/>
            <a:ext cx="0" cy="128016"/>
          </a:xfrm>
          <a:prstGeom prst="line">
            <a:avLst/>
          </a:prstGeom>
          <a:noFill/>
          <a:ln w="12700">
            <a:solidFill>
              <a:srgbClr val="AEB6C0"/>
            </a:solidFill>
            <a:prstDash val="solid"/>
          </a:ln>
        </p:spPr>
      </p:sp>
      <p:sp>
        <p:nvSpPr>
          <p:cNvPr id="27" name="Shape 25"/>
          <p:cNvSpPr/>
          <p:nvPr/>
        </p:nvSpPr>
        <p:spPr>
          <a:xfrm>
            <a:off x="1417320" y="3840480"/>
            <a:ext cx="2286000" cy="0"/>
          </a:xfrm>
          <a:prstGeom prst="line">
            <a:avLst/>
          </a:prstGeom>
          <a:noFill/>
          <a:ln w="12700">
            <a:solidFill>
              <a:srgbClr val="AEB6C0"/>
            </a:solidFill>
            <a:prstDash val="solid"/>
          </a:ln>
        </p:spPr>
      </p:sp>
      <p:sp>
        <p:nvSpPr>
          <p:cNvPr id="28" name="Shape 26"/>
          <p:cNvSpPr/>
          <p:nvPr/>
        </p:nvSpPr>
        <p:spPr>
          <a:xfrm>
            <a:off x="2560320" y="3840480"/>
            <a:ext cx="0" cy="128016"/>
          </a:xfrm>
          <a:prstGeom prst="line">
            <a:avLst/>
          </a:prstGeom>
          <a:noFill/>
          <a:ln w="12700">
            <a:solidFill>
              <a:srgbClr val="AEB6C0"/>
            </a:solidFill>
            <a:prstDash val="solid"/>
            <a:tailEnd type="triangle"/>
          </a:ln>
        </p:spPr>
      </p:sp>
      <p:sp>
        <p:nvSpPr>
          <p:cNvPr id="29" name="Shape 27"/>
          <p:cNvSpPr/>
          <p:nvPr/>
        </p:nvSpPr>
        <p:spPr>
          <a:xfrm>
            <a:off x="1143000" y="3968496"/>
            <a:ext cx="2834640" cy="310896"/>
          </a:xfrm>
          <a:prstGeom prst="rect">
            <a:avLst/>
          </a:prstGeom>
          <a:solidFill>
            <a:srgbClr val="F4F6F8"/>
          </a:solidFill>
          <a:ln w="9525">
            <a:solidFill>
              <a:srgbClr val="D5DAE1"/>
            </a:solidFill>
            <a:prstDash val="solid"/>
          </a:ln>
        </p:spPr>
      </p:sp>
      <p:sp>
        <p:nvSpPr>
          <p:cNvPr id="30" name="Text 28"/>
          <p:cNvSpPr/>
          <p:nvPr/>
        </p:nvSpPr>
        <p:spPr>
          <a:xfrm>
            <a:off x="1143000" y="3968496"/>
            <a:ext cx="2834640" cy="310896"/>
          </a:xfrm>
          <a:prstGeom prst="rect">
            <a:avLst/>
          </a:prstGeom>
          <a:noFill/>
          <a:ln/>
        </p:spPr>
        <p:txBody>
          <a:bodyPr wrap="square" lIns="254" tIns="254" rIns="254" bIns="254" rtlCol="0" anchor="ctr"/>
          <a:lstStyle/>
          <a:p>
            <a:pPr algn="ctr" indent="0" marL="0">
              <a:buNone/>
            </a:pPr>
            <a:r>
              <a:rPr lang="en-US" sz="720" b="1" spc="30" kern="0" dirty="0">
                <a:solidFill>
                  <a:srgbClr val="2B303A"/>
                </a:solidFill>
                <a:latin typeface="Inter" pitchFamily="34" charset="0"/>
                <a:ea typeface="Inter" pitchFamily="34" charset="-122"/>
                <a:cs typeface="Inter" pitchFamily="34" charset="-120"/>
              </a:rPr>
              <a:t>FEATURE STORE  →  PHASE 2 PREDICTIVE ML</a:t>
            </a:r>
            <a:endParaRPr lang="en-US" sz="720" dirty="0"/>
          </a:p>
        </p:txBody>
      </p:sp>
      <p:sp>
        <p:nvSpPr>
          <p:cNvPr id="31" name="Text 29"/>
          <p:cNvSpPr/>
          <p:nvPr/>
        </p:nvSpPr>
        <p:spPr>
          <a:xfrm>
            <a:off x="4956048" y="1188720"/>
            <a:ext cx="3657600" cy="182880"/>
          </a:xfrm>
          <a:prstGeom prst="rect">
            <a:avLst/>
          </a:prstGeom>
          <a:noFill/>
          <a:ln/>
        </p:spPr>
        <p:txBody>
          <a:bodyPr wrap="square" lIns="0" tIns="0" rIns="0" bIns="0" rtlCol="0" anchor="ctr"/>
          <a:lstStyle/>
          <a:p>
            <a:pPr indent="0" marL="0">
              <a:buNone/>
            </a:pPr>
            <a:r>
              <a:rPr lang="en-US" sz="800" b="1" spc="140" kern="0" dirty="0">
                <a:solidFill>
                  <a:srgbClr val="1B3A5C"/>
                </a:solidFill>
                <a:latin typeface="Inter" pitchFamily="34" charset="0"/>
                <a:ea typeface="Inter" pitchFamily="34" charset="-122"/>
                <a:cs typeface="Inter" pitchFamily="34" charset="-120"/>
              </a:rPr>
              <a:t>HYBRID INTELLIGENCE LIFECYCLE</a:t>
            </a:r>
            <a:endParaRPr lang="en-US" sz="800" dirty="0"/>
          </a:p>
        </p:txBody>
      </p:sp>
      <p:sp>
        <p:nvSpPr>
          <p:cNvPr id="32" name="Shape 30"/>
          <p:cNvSpPr/>
          <p:nvPr/>
        </p:nvSpPr>
        <p:spPr>
          <a:xfrm>
            <a:off x="4956048" y="1408176"/>
            <a:ext cx="3730752" cy="658368"/>
          </a:xfrm>
          <a:prstGeom prst="rect">
            <a:avLst/>
          </a:prstGeom>
          <a:solidFill>
            <a:srgbClr val="FFFFFF"/>
          </a:solidFill>
          <a:ln w="9525">
            <a:solidFill>
              <a:srgbClr val="D5DAE1"/>
            </a:solidFill>
            <a:prstDash val="solid"/>
          </a:ln>
        </p:spPr>
      </p:sp>
      <p:sp>
        <p:nvSpPr>
          <p:cNvPr id="33" name="Text 31"/>
          <p:cNvSpPr/>
          <p:nvPr/>
        </p:nvSpPr>
        <p:spPr>
          <a:xfrm>
            <a:off x="5084064" y="1536192"/>
            <a:ext cx="1005840" cy="146304"/>
          </a:xfrm>
          <a:prstGeom prst="rect">
            <a:avLst/>
          </a:prstGeom>
          <a:noFill/>
          <a:ln/>
        </p:spPr>
        <p:txBody>
          <a:bodyPr wrap="square" lIns="0" tIns="0" rIns="0" bIns="0" rtlCol="0" anchor="ctr"/>
          <a:lstStyle/>
          <a:p>
            <a:pPr algn="ctr" indent="0" marL="0">
              <a:buNone/>
            </a:pPr>
            <a:r>
              <a:rPr lang="en-US" sz="680" b="1" spc="60" kern="0" dirty="0">
                <a:solidFill>
                  <a:srgbClr val="2E7D8F"/>
                </a:solidFill>
                <a:latin typeface="Inter" pitchFamily="34" charset="0"/>
                <a:ea typeface="Inter" pitchFamily="34" charset="-122"/>
                <a:cs typeface="Inter" pitchFamily="34" charset="-120"/>
              </a:rPr>
              <a:t>DAY 1–30</a:t>
            </a:r>
            <a:endParaRPr lang="en-US" sz="680" dirty="0"/>
          </a:p>
        </p:txBody>
      </p:sp>
      <p:sp>
        <p:nvSpPr>
          <p:cNvPr id="34" name="Text 32"/>
          <p:cNvSpPr/>
          <p:nvPr/>
        </p:nvSpPr>
        <p:spPr>
          <a:xfrm>
            <a:off x="5084064" y="1709928"/>
            <a:ext cx="1005840" cy="274320"/>
          </a:xfrm>
          <a:prstGeom prst="rect">
            <a:avLst/>
          </a:prstGeom>
          <a:noFill/>
          <a:ln/>
        </p:spPr>
        <p:txBody>
          <a:bodyPr wrap="square" lIns="0" tIns="0" rIns="0" bIns="0" rtlCol="0" anchor="ctr"/>
          <a:lstStyle/>
          <a:p>
            <a:pPr algn="ctr" indent="0" marL="0">
              <a:buNone/>
            </a:pPr>
            <a:r>
              <a:rPr lang="en-US" sz="900" b="1" dirty="0">
                <a:solidFill>
                  <a:srgbClr val="2B303A"/>
                </a:solidFill>
                <a:latin typeface="Inter" pitchFamily="34" charset="0"/>
                <a:ea typeface="Inter" pitchFamily="34" charset="-122"/>
                <a:cs typeface="Inter" pitchFamily="34" charset="-120"/>
              </a:rPr>
              <a:t>Rule-Based</a:t>
            </a:r>
            <a:endParaRPr lang="en-US" sz="900" dirty="0"/>
          </a:p>
        </p:txBody>
      </p:sp>
      <p:sp>
        <p:nvSpPr>
          <p:cNvPr id="35" name="Shape 33"/>
          <p:cNvSpPr/>
          <p:nvPr/>
        </p:nvSpPr>
        <p:spPr>
          <a:xfrm>
            <a:off x="6117336" y="1819656"/>
            <a:ext cx="128016" cy="0"/>
          </a:xfrm>
          <a:prstGeom prst="line">
            <a:avLst/>
          </a:prstGeom>
          <a:noFill/>
          <a:ln w="12700">
            <a:solidFill>
              <a:srgbClr val="AEB6C0"/>
            </a:solidFill>
            <a:prstDash val="solid"/>
            <a:tailEnd type="triangle"/>
          </a:ln>
        </p:spPr>
      </p:sp>
      <p:sp>
        <p:nvSpPr>
          <p:cNvPr id="36" name="Text 34"/>
          <p:cNvSpPr/>
          <p:nvPr/>
        </p:nvSpPr>
        <p:spPr>
          <a:xfrm>
            <a:off x="6272784" y="1536192"/>
            <a:ext cx="1005840" cy="146304"/>
          </a:xfrm>
          <a:prstGeom prst="rect">
            <a:avLst/>
          </a:prstGeom>
          <a:noFill/>
          <a:ln/>
        </p:spPr>
        <p:txBody>
          <a:bodyPr wrap="square" lIns="0" tIns="0" rIns="0" bIns="0" rtlCol="0" anchor="ctr"/>
          <a:lstStyle/>
          <a:p>
            <a:pPr algn="ctr" indent="0" marL="0">
              <a:buNone/>
            </a:pPr>
            <a:r>
              <a:rPr lang="en-US" sz="680" b="1" spc="60" kern="0" dirty="0">
                <a:solidFill>
                  <a:srgbClr val="2E7D8F"/>
                </a:solidFill>
                <a:latin typeface="Inter" pitchFamily="34" charset="0"/>
                <a:ea typeface="Inter" pitchFamily="34" charset="-122"/>
                <a:cs typeface="Inter" pitchFamily="34" charset="-120"/>
              </a:rPr>
              <a:t>ONGOING</a:t>
            </a:r>
            <a:endParaRPr lang="en-US" sz="680" dirty="0"/>
          </a:p>
        </p:txBody>
      </p:sp>
      <p:sp>
        <p:nvSpPr>
          <p:cNvPr id="37" name="Text 35"/>
          <p:cNvSpPr/>
          <p:nvPr/>
        </p:nvSpPr>
        <p:spPr>
          <a:xfrm>
            <a:off x="6272784" y="1709928"/>
            <a:ext cx="1005840" cy="274320"/>
          </a:xfrm>
          <a:prstGeom prst="rect">
            <a:avLst/>
          </a:prstGeom>
          <a:noFill/>
          <a:ln/>
        </p:spPr>
        <p:txBody>
          <a:bodyPr wrap="square" lIns="0" tIns="0" rIns="0" bIns="0" rtlCol="0" anchor="ctr"/>
          <a:lstStyle/>
          <a:p>
            <a:pPr algn="ctr" indent="0" marL="0">
              <a:buNone/>
            </a:pPr>
            <a:r>
              <a:rPr lang="en-US" sz="900" b="1" dirty="0">
                <a:solidFill>
                  <a:srgbClr val="2B303A"/>
                </a:solidFill>
                <a:latin typeface="Inter" pitchFamily="34" charset="0"/>
                <a:ea typeface="Inter" pitchFamily="34" charset="-122"/>
                <a:cs typeface="Inter" pitchFamily="34" charset="-120"/>
              </a:rPr>
              <a:t>Data Collection</a:t>
            </a:r>
            <a:endParaRPr lang="en-US" sz="900" dirty="0"/>
          </a:p>
        </p:txBody>
      </p:sp>
      <p:sp>
        <p:nvSpPr>
          <p:cNvPr id="38" name="Shape 36"/>
          <p:cNvSpPr/>
          <p:nvPr/>
        </p:nvSpPr>
        <p:spPr>
          <a:xfrm>
            <a:off x="7306056" y="1819656"/>
            <a:ext cx="128016" cy="0"/>
          </a:xfrm>
          <a:prstGeom prst="line">
            <a:avLst/>
          </a:prstGeom>
          <a:noFill/>
          <a:ln w="12700">
            <a:solidFill>
              <a:srgbClr val="AEB6C0"/>
            </a:solidFill>
            <a:prstDash val="solid"/>
            <a:tailEnd type="triangle"/>
          </a:ln>
        </p:spPr>
      </p:sp>
      <p:sp>
        <p:nvSpPr>
          <p:cNvPr id="39" name="Text 37"/>
          <p:cNvSpPr/>
          <p:nvPr/>
        </p:nvSpPr>
        <p:spPr>
          <a:xfrm>
            <a:off x="7461504" y="1536192"/>
            <a:ext cx="1005840" cy="146304"/>
          </a:xfrm>
          <a:prstGeom prst="rect">
            <a:avLst/>
          </a:prstGeom>
          <a:noFill/>
          <a:ln/>
        </p:spPr>
        <p:txBody>
          <a:bodyPr wrap="square" lIns="0" tIns="0" rIns="0" bIns="0" rtlCol="0" anchor="ctr"/>
          <a:lstStyle/>
          <a:p>
            <a:pPr algn="ctr" indent="0" marL="0">
              <a:buNone/>
            </a:pPr>
            <a:r>
              <a:rPr lang="en-US" sz="680" b="1" spc="60" kern="0" dirty="0">
                <a:solidFill>
                  <a:srgbClr val="2E7D8F"/>
                </a:solidFill>
                <a:latin typeface="Inter" pitchFamily="34" charset="0"/>
                <a:ea typeface="Inter" pitchFamily="34" charset="-122"/>
                <a:cs typeface="Inter" pitchFamily="34" charset="-120"/>
              </a:rPr>
              <a:t>DAY 31+</a:t>
            </a:r>
            <a:endParaRPr lang="en-US" sz="680" dirty="0"/>
          </a:p>
        </p:txBody>
      </p:sp>
      <p:sp>
        <p:nvSpPr>
          <p:cNvPr id="40" name="Text 38"/>
          <p:cNvSpPr/>
          <p:nvPr/>
        </p:nvSpPr>
        <p:spPr>
          <a:xfrm>
            <a:off x="7461504" y="1709928"/>
            <a:ext cx="1005840" cy="274320"/>
          </a:xfrm>
          <a:prstGeom prst="rect">
            <a:avLst/>
          </a:prstGeom>
          <a:noFill/>
          <a:ln/>
        </p:spPr>
        <p:txBody>
          <a:bodyPr wrap="square" lIns="0" tIns="0" rIns="0" bIns="0" rtlCol="0" anchor="ctr"/>
          <a:lstStyle/>
          <a:p>
            <a:pPr algn="ctr" indent="0" marL="0">
              <a:buNone/>
            </a:pPr>
            <a:r>
              <a:rPr lang="en-US" sz="900" b="1" dirty="0">
                <a:solidFill>
                  <a:srgbClr val="2B303A"/>
                </a:solidFill>
                <a:latin typeface="Inter" pitchFamily="34" charset="0"/>
                <a:ea typeface="Inter" pitchFamily="34" charset="-122"/>
                <a:cs typeface="Inter" pitchFamily="34" charset="-120"/>
              </a:rPr>
              <a:t>Predictive ML</a:t>
            </a:r>
            <a:endParaRPr lang="en-US" sz="900" dirty="0"/>
          </a:p>
        </p:txBody>
      </p:sp>
      <p:sp>
        <p:nvSpPr>
          <p:cNvPr id="41" name="Text 39"/>
          <p:cNvSpPr/>
          <p:nvPr/>
        </p:nvSpPr>
        <p:spPr>
          <a:xfrm>
            <a:off x="4956048" y="2249424"/>
            <a:ext cx="3657600" cy="182880"/>
          </a:xfrm>
          <a:prstGeom prst="rect">
            <a:avLst/>
          </a:prstGeom>
          <a:noFill/>
          <a:ln/>
        </p:spPr>
        <p:txBody>
          <a:bodyPr wrap="square" lIns="0" tIns="0" rIns="0" bIns="0" rtlCol="0" anchor="ctr"/>
          <a:lstStyle/>
          <a:p>
            <a:pPr indent="0" marL="0">
              <a:buNone/>
            </a:pPr>
            <a:r>
              <a:rPr lang="en-US" sz="800" b="1" spc="140" kern="0" dirty="0">
                <a:solidFill>
                  <a:srgbClr val="1B3A5C"/>
                </a:solidFill>
                <a:latin typeface="Inter" pitchFamily="34" charset="0"/>
                <a:ea typeface="Inter" pitchFamily="34" charset="-122"/>
                <a:cs typeface="Inter" pitchFamily="34" charset="-120"/>
              </a:rPr>
              <a:t>MODEL PROGRESSION</a:t>
            </a:r>
            <a:endParaRPr lang="en-US" sz="800" dirty="0"/>
          </a:p>
        </p:txBody>
      </p:sp>
      <p:sp>
        <p:nvSpPr>
          <p:cNvPr id="42" name="Shape 40"/>
          <p:cNvSpPr/>
          <p:nvPr/>
        </p:nvSpPr>
        <p:spPr>
          <a:xfrm>
            <a:off x="4956048" y="2468880"/>
            <a:ext cx="3730752" cy="438912"/>
          </a:xfrm>
          <a:prstGeom prst="rect">
            <a:avLst/>
          </a:prstGeom>
          <a:solidFill>
            <a:srgbClr val="FFFFFF"/>
          </a:solidFill>
          <a:ln w="9525">
            <a:solidFill>
              <a:srgbClr val="D5DAE1"/>
            </a:solidFill>
            <a:prstDash val="solid"/>
          </a:ln>
        </p:spPr>
      </p:sp>
      <p:sp>
        <p:nvSpPr>
          <p:cNvPr id="43" name="Text 41"/>
          <p:cNvSpPr/>
          <p:nvPr/>
        </p:nvSpPr>
        <p:spPr>
          <a:xfrm>
            <a:off x="5065776" y="2523744"/>
            <a:ext cx="822960" cy="146304"/>
          </a:xfrm>
          <a:prstGeom prst="rect">
            <a:avLst/>
          </a:prstGeom>
          <a:noFill/>
          <a:ln/>
        </p:spPr>
        <p:txBody>
          <a:bodyPr wrap="square" lIns="0" tIns="0" rIns="0" bIns="0" rtlCol="0" anchor="ctr"/>
          <a:lstStyle/>
          <a:p>
            <a:pPr indent="0" marL="0">
              <a:buNone/>
            </a:pPr>
            <a:r>
              <a:rPr lang="en-US" sz="680" b="1" spc="60" kern="0" dirty="0">
                <a:solidFill>
                  <a:srgbClr val="2E7D8F"/>
                </a:solidFill>
                <a:latin typeface="Inter" pitchFamily="34" charset="0"/>
                <a:ea typeface="Inter" pitchFamily="34" charset="-122"/>
                <a:cs typeface="Inter" pitchFamily="34" charset="-120"/>
              </a:rPr>
              <a:t>PHASE 2A</a:t>
            </a:r>
            <a:endParaRPr lang="en-US" sz="680" dirty="0"/>
          </a:p>
        </p:txBody>
      </p:sp>
      <p:sp>
        <p:nvSpPr>
          <p:cNvPr id="44" name="Text 42"/>
          <p:cNvSpPr/>
          <p:nvPr/>
        </p:nvSpPr>
        <p:spPr>
          <a:xfrm>
            <a:off x="7406640" y="2523744"/>
            <a:ext cx="1170432" cy="146304"/>
          </a:xfrm>
          <a:prstGeom prst="rect">
            <a:avLst/>
          </a:prstGeom>
          <a:noFill/>
          <a:ln/>
        </p:spPr>
        <p:txBody>
          <a:bodyPr wrap="square" lIns="0" tIns="0" rIns="0" bIns="0" rtlCol="0" anchor="ctr"/>
          <a:lstStyle/>
          <a:p>
            <a:pPr algn="r" indent="0" marL="0">
              <a:buNone/>
            </a:pPr>
            <a:r>
              <a:rPr lang="en-US" sz="680" dirty="0">
                <a:solidFill>
                  <a:srgbClr val="6B7280"/>
                </a:solidFill>
                <a:latin typeface="Inter" pitchFamily="34" charset="0"/>
                <a:ea typeface="Inter" pitchFamily="34" charset="-122"/>
                <a:cs typeface="Inter" pitchFamily="34" charset="-120"/>
              </a:rPr>
              <a:t>Interpretable baseline</a:t>
            </a:r>
            <a:endParaRPr lang="en-US" sz="680" dirty="0"/>
          </a:p>
        </p:txBody>
      </p:sp>
      <p:sp>
        <p:nvSpPr>
          <p:cNvPr id="45" name="Text 43"/>
          <p:cNvSpPr/>
          <p:nvPr/>
        </p:nvSpPr>
        <p:spPr>
          <a:xfrm>
            <a:off x="5065776" y="2688336"/>
            <a:ext cx="3511296" cy="182880"/>
          </a:xfrm>
          <a:prstGeom prst="rect">
            <a:avLst/>
          </a:prstGeom>
          <a:noFill/>
          <a:ln/>
        </p:spPr>
        <p:txBody>
          <a:bodyPr wrap="square" lIns="0" tIns="0" rIns="0" bIns="0" rtlCol="0" anchor="ctr"/>
          <a:lstStyle/>
          <a:p>
            <a:pPr indent="0" marL="0">
              <a:buNone/>
            </a:pPr>
            <a:r>
              <a:rPr lang="en-US" sz="850" b="1" dirty="0">
                <a:solidFill>
                  <a:srgbClr val="2B303A"/>
                </a:solidFill>
                <a:latin typeface="Inter" pitchFamily="34" charset="0"/>
                <a:ea typeface="Inter" pitchFamily="34" charset="-122"/>
                <a:cs typeface="Inter" pitchFamily="34" charset="-120"/>
              </a:rPr>
              <a:t>Logistic Regression / Random Forest</a:t>
            </a:r>
            <a:endParaRPr lang="en-US" sz="850" dirty="0"/>
          </a:p>
        </p:txBody>
      </p:sp>
      <p:sp>
        <p:nvSpPr>
          <p:cNvPr id="46" name="Shape 44"/>
          <p:cNvSpPr/>
          <p:nvPr/>
        </p:nvSpPr>
        <p:spPr>
          <a:xfrm>
            <a:off x="4956048" y="2999232"/>
            <a:ext cx="3730752" cy="438912"/>
          </a:xfrm>
          <a:prstGeom prst="rect">
            <a:avLst/>
          </a:prstGeom>
          <a:solidFill>
            <a:srgbClr val="FFFFFF"/>
          </a:solidFill>
          <a:ln w="9525">
            <a:solidFill>
              <a:srgbClr val="D5DAE1"/>
            </a:solidFill>
            <a:prstDash val="solid"/>
          </a:ln>
        </p:spPr>
      </p:sp>
      <p:sp>
        <p:nvSpPr>
          <p:cNvPr id="47" name="Text 45"/>
          <p:cNvSpPr/>
          <p:nvPr/>
        </p:nvSpPr>
        <p:spPr>
          <a:xfrm>
            <a:off x="5065776" y="3054096"/>
            <a:ext cx="822960" cy="146304"/>
          </a:xfrm>
          <a:prstGeom prst="rect">
            <a:avLst/>
          </a:prstGeom>
          <a:noFill/>
          <a:ln/>
        </p:spPr>
        <p:txBody>
          <a:bodyPr wrap="square" lIns="0" tIns="0" rIns="0" bIns="0" rtlCol="0" anchor="ctr"/>
          <a:lstStyle/>
          <a:p>
            <a:pPr indent="0" marL="0">
              <a:buNone/>
            </a:pPr>
            <a:r>
              <a:rPr lang="en-US" sz="680" b="1" spc="60" kern="0" dirty="0">
                <a:solidFill>
                  <a:srgbClr val="2E7D8F"/>
                </a:solidFill>
                <a:latin typeface="Inter" pitchFamily="34" charset="0"/>
                <a:ea typeface="Inter" pitchFamily="34" charset="-122"/>
                <a:cs typeface="Inter" pitchFamily="34" charset="-120"/>
              </a:rPr>
              <a:t>PHASE 2B</a:t>
            </a:r>
            <a:endParaRPr lang="en-US" sz="680" dirty="0"/>
          </a:p>
        </p:txBody>
      </p:sp>
      <p:sp>
        <p:nvSpPr>
          <p:cNvPr id="48" name="Text 46"/>
          <p:cNvSpPr/>
          <p:nvPr/>
        </p:nvSpPr>
        <p:spPr>
          <a:xfrm>
            <a:off x="7406640" y="3054096"/>
            <a:ext cx="1170432" cy="146304"/>
          </a:xfrm>
          <a:prstGeom prst="rect">
            <a:avLst/>
          </a:prstGeom>
          <a:noFill/>
          <a:ln/>
        </p:spPr>
        <p:txBody>
          <a:bodyPr wrap="square" lIns="0" tIns="0" rIns="0" bIns="0" rtlCol="0" anchor="ctr"/>
          <a:lstStyle/>
          <a:p>
            <a:pPr algn="r" indent="0" marL="0">
              <a:buNone/>
            </a:pPr>
            <a:r>
              <a:rPr lang="en-US" sz="680" dirty="0">
                <a:solidFill>
                  <a:srgbClr val="6B7280"/>
                </a:solidFill>
                <a:latin typeface="Inter" pitchFamily="34" charset="0"/>
                <a:ea typeface="Inter" pitchFamily="34" charset="-122"/>
                <a:cs typeface="Inter" pitchFamily="34" charset="-120"/>
              </a:rPr>
              <a:t>Optimisation</a:t>
            </a:r>
            <a:endParaRPr lang="en-US" sz="680" dirty="0"/>
          </a:p>
        </p:txBody>
      </p:sp>
      <p:sp>
        <p:nvSpPr>
          <p:cNvPr id="49" name="Text 47"/>
          <p:cNvSpPr/>
          <p:nvPr/>
        </p:nvSpPr>
        <p:spPr>
          <a:xfrm>
            <a:off x="5065776" y="3218688"/>
            <a:ext cx="3511296" cy="182880"/>
          </a:xfrm>
          <a:prstGeom prst="rect">
            <a:avLst/>
          </a:prstGeom>
          <a:noFill/>
          <a:ln/>
        </p:spPr>
        <p:txBody>
          <a:bodyPr wrap="square" lIns="0" tIns="0" rIns="0" bIns="0" rtlCol="0" anchor="ctr"/>
          <a:lstStyle/>
          <a:p>
            <a:pPr indent="0" marL="0">
              <a:buNone/>
            </a:pPr>
            <a:r>
              <a:rPr lang="en-US" sz="850" b="1" dirty="0">
                <a:solidFill>
                  <a:srgbClr val="2B303A"/>
                </a:solidFill>
                <a:latin typeface="Inter" pitchFamily="34" charset="0"/>
                <a:ea typeface="Inter" pitchFamily="34" charset="-122"/>
                <a:cs typeface="Inter" pitchFamily="34" charset="-120"/>
              </a:rPr>
              <a:t>Gradient Boosting / Neural Network</a:t>
            </a:r>
            <a:endParaRPr lang="en-US" sz="850" dirty="0"/>
          </a:p>
        </p:txBody>
      </p:sp>
      <p:sp>
        <p:nvSpPr>
          <p:cNvPr id="50" name="Text 48"/>
          <p:cNvSpPr/>
          <p:nvPr/>
        </p:nvSpPr>
        <p:spPr>
          <a:xfrm>
            <a:off x="4956048" y="3621024"/>
            <a:ext cx="3657600" cy="182880"/>
          </a:xfrm>
          <a:prstGeom prst="rect">
            <a:avLst/>
          </a:prstGeom>
          <a:noFill/>
          <a:ln/>
        </p:spPr>
        <p:txBody>
          <a:bodyPr wrap="square" lIns="0" tIns="0" rIns="0" bIns="0" rtlCol="0" anchor="ctr"/>
          <a:lstStyle/>
          <a:p>
            <a:pPr indent="0" marL="0">
              <a:buNone/>
            </a:pPr>
            <a:r>
              <a:rPr lang="en-US" sz="800" b="1" spc="140" kern="0" dirty="0">
                <a:solidFill>
                  <a:srgbClr val="1B3A5C"/>
                </a:solidFill>
                <a:latin typeface="Inter" pitchFamily="34" charset="0"/>
                <a:ea typeface="Inter" pitchFamily="34" charset="-122"/>
                <a:cs typeface="Inter" pitchFamily="34" charset="-120"/>
              </a:rPr>
              <a:t>FEATURES</a:t>
            </a:r>
            <a:endParaRPr lang="en-US" sz="800" dirty="0"/>
          </a:p>
        </p:txBody>
      </p:sp>
      <p:sp>
        <p:nvSpPr>
          <p:cNvPr id="51" name="Text 49"/>
          <p:cNvSpPr/>
          <p:nvPr/>
        </p:nvSpPr>
        <p:spPr>
          <a:xfrm>
            <a:off x="4956048" y="3813048"/>
            <a:ext cx="3730752" cy="182880"/>
          </a:xfrm>
          <a:prstGeom prst="rect">
            <a:avLst/>
          </a:prstGeom>
          <a:noFill/>
          <a:ln/>
        </p:spPr>
        <p:txBody>
          <a:bodyPr wrap="square" lIns="0" tIns="0" rIns="0" bIns="0" rtlCol="0" anchor="ctr"/>
          <a:lstStyle/>
          <a:p>
            <a:pPr indent="0" marL="0">
              <a:buNone/>
            </a:pPr>
            <a:r>
              <a:rPr lang="en-US" sz="800" dirty="0">
                <a:solidFill>
                  <a:srgbClr val="2B303A"/>
                </a:solidFill>
                <a:latin typeface="Inter" pitchFamily="34" charset="0"/>
                <a:ea typeface="Inter" pitchFamily="34" charset="-122"/>
                <a:cs typeface="Inter" pitchFamily="34" charset="-120"/>
              </a:rPr>
              <a:t>Time of day  ·  MCC  ·  Historical variance  ·  Allowance cycle day</a:t>
            </a:r>
            <a:endParaRPr lang="en-US" sz="800" dirty="0"/>
          </a:p>
        </p:txBody>
      </p:sp>
      <p:sp>
        <p:nvSpPr>
          <p:cNvPr id="52" name="Shape 50"/>
          <p:cNvSpPr/>
          <p:nvPr/>
        </p:nvSpPr>
        <p:spPr>
          <a:xfrm>
            <a:off x="4956048" y="4059936"/>
            <a:ext cx="3730752" cy="438912"/>
          </a:xfrm>
          <a:prstGeom prst="rect">
            <a:avLst/>
          </a:prstGeom>
          <a:solidFill>
            <a:srgbClr val="F4F6F8"/>
          </a:solidFill>
          <a:ln w="11430">
            <a:solidFill>
              <a:srgbClr val="1B3A5C"/>
            </a:solidFill>
            <a:prstDash val="solid"/>
          </a:ln>
        </p:spPr>
      </p:sp>
      <p:sp>
        <p:nvSpPr>
          <p:cNvPr id="53" name="Text 51"/>
          <p:cNvSpPr/>
          <p:nvPr/>
        </p:nvSpPr>
        <p:spPr>
          <a:xfrm>
            <a:off x="5065776" y="4059936"/>
            <a:ext cx="3511296" cy="438912"/>
          </a:xfrm>
          <a:prstGeom prst="rect">
            <a:avLst/>
          </a:prstGeom>
          <a:noFill/>
          <a:ln/>
        </p:spPr>
        <p:txBody>
          <a:bodyPr wrap="square" lIns="381" tIns="381" rIns="381" bIns="381" rtlCol="0" anchor="ctr"/>
          <a:lstStyle/>
          <a:p>
            <a:pPr indent="0" marL="0">
              <a:lnSpc>
                <a:spcPts val="1100"/>
              </a:lnSpc>
              <a:buNone/>
            </a:pPr>
            <a:r>
              <a:rPr lang="en-US" sz="800" b="1" dirty="0">
                <a:solidFill>
                  <a:srgbClr val="1B3A5C"/>
                </a:solidFill>
                <a:latin typeface="Inter" pitchFamily="34" charset="0"/>
                <a:ea typeface="Inter" pitchFamily="34" charset="-122"/>
                <a:cs typeface="Inter" pitchFamily="34" charset="-120"/>
              </a:rPr>
              <a:t>Transfer Learning + Synthetic Data Augmentation solve the student cold-start problem.</a:t>
            </a:r>
            <a:endParaRPr lang="en-US" sz="800" dirty="0"/>
          </a:p>
        </p:txBody>
      </p:sp>
      <p:sp>
        <p:nvSpPr>
          <p:cNvPr id="54" name="Text 52"/>
          <p:cNvSpPr/>
          <p:nvPr/>
        </p:nvSpPr>
        <p:spPr>
          <a:xfrm>
            <a:off x="457200" y="4777740"/>
            <a:ext cx="5486400" cy="201168"/>
          </a:xfrm>
          <a:prstGeom prst="rect">
            <a:avLst/>
          </a:prstGeom>
          <a:noFill/>
          <a:ln/>
        </p:spPr>
        <p:txBody>
          <a:bodyPr wrap="square" lIns="0" tIns="0" rIns="0" bIns="0" rtlCol="0" anchor="ctr"/>
          <a:lstStyle/>
          <a:p>
            <a:pPr indent="0" marL="0">
              <a:buNone/>
            </a:pPr>
            <a:r>
              <a:rPr lang="en-US" sz="800" spc="120" kern="0" dirty="0">
                <a:solidFill>
                  <a:srgbClr val="9BA3AE"/>
                </a:solidFill>
                <a:latin typeface="Inter" pitchFamily="34" charset="0"/>
                <a:ea typeface="Inter" pitchFamily="34" charset="-122"/>
                <a:cs typeface="Inter" pitchFamily="34" charset="-120"/>
              </a:rPr>
              <a:t>FINPATH INDIA  ·  TECHNICAL ARCHITECTURE</a:t>
            </a:r>
            <a:endParaRPr lang="en-US" sz="800" dirty="0"/>
          </a:p>
        </p:txBody>
      </p:sp>
      <p:sp>
        <p:nvSpPr>
          <p:cNvPr id="55" name="Text 53"/>
          <p:cNvSpPr/>
          <p:nvPr/>
        </p:nvSpPr>
        <p:spPr>
          <a:xfrm>
            <a:off x="8138160" y="4777740"/>
            <a:ext cx="548640" cy="201168"/>
          </a:xfrm>
          <a:prstGeom prst="rect">
            <a:avLst/>
          </a:prstGeom>
          <a:noFill/>
          <a:ln/>
        </p:spPr>
        <p:txBody>
          <a:bodyPr wrap="square" lIns="0" tIns="0" rIns="0" bIns="0" rtlCol="0" anchor="ctr"/>
          <a:lstStyle/>
          <a:p>
            <a:pPr algn="r" indent="0" marL="0">
              <a:buNone/>
            </a:pPr>
            <a:r>
              <a:rPr lang="en-US" sz="800" dirty="0">
                <a:solidFill>
                  <a:srgbClr val="9BA3AE"/>
                </a:solidFill>
                <a:latin typeface="Inter" pitchFamily="34" charset="0"/>
                <a:ea typeface="Inter" pitchFamily="34" charset="-122"/>
                <a:cs typeface="Inter"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384048"/>
          </a:xfrm>
          <a:prstGeom prst="rect">
            <a:avLst/>
          </a:prstGeom>
          <a:noFill/>
          <a:ln/>
        </p:spPr>
        <p:txBody>
          <a:bodyPr wrap="square" lIns="0" tIns="0" rIns="0" bIns="0" rtlCol="0" anchor="ctr"/>
          <a:lstStyle/>
          <a:p>
            <a:pPr indent="0" marL="0">
              <a:buNone/>
            </a:pPr>
            <a:r>
              <a:rPr lang="en-US" sz="2400" b="1" dirty="0">
                <a:solidFill>
                  <a:srgbClr val="12151B"/>
                </a:solidFill>
                <a:latin typeface="Inter" pitchFamily="34" charset="0"/>
                <a:ea typeface="Inter" pitchFamily="34" charset="-122"/>
                <a:cs typeface="Inter" pitchFamily="34" charset="-120"/>
              </a:rPr>
              <a:t>Engineering Foundation &amp; Delivery</a:t>
            </a:r>
            <a:endParaRPr lang="en-US" sz="2400" dirty="0"/>
          </a:p>
        </p:txBody>
      </p:sp>
      <p:sp>
        <p:nvSpPr>
          <p:cNvPr id="3" name="Text 1"/>
          <p:cNvSpPr/>
          <p:nvPr/>
        </p:nvSpPr>
        <p:spPr>
          <a:xfrm>
            <a:off x="457200" y="786384"/>
            <a:ext cx="8229600" cy="237744"/>
          </a:xfrm>
          <a:prstGeom prst="rect">
            <a:avLst/>
          </a:prstGeom>
          <a:noFill/>
          <a:ln/>
        </p:spPr>
        <p:txBody>
          <a:bodyPr wrap="square" lIns="0" tIns="0" rIns="0" bIns="0" rtlCol="0" anchor="ctr"/>
          <a:lstStyle/>
          <a:p>
            <a:pPr indent="0" marL="0">
              <a:buNone/>
            </a:pPr>
            <a:r>
              <a:rPr lang="en-US" sz="1100" dirty="0">
                <a:solidFill>
                  <a:srgbClr val="6B7280"/>
                </a:solidFill>
                <a:latin typeface="Inter" pitchFamily="34" charset="0"/>
                <a:ea typeface="Inter" pitchFamily="34" charset="-122"/>
                <a:cs typeface="Inter" pitchFamily="34" charset="-120"/>
              </a:rPr>
              <a:t>Stack composition, architectural guarantees and delivery sequence</a:t>
            </a:r>
            <a:endParaRPr lang="en-US" sz="1100" dirty="0"/>
          </a:p>
        </p:txBody>
      </p:sp>
      <p:sp>
        <p:nvSpPr>
          <p:cNvPr id="4" name="Text 2"/>
          <p:cNvSpPr/>
          <p:nvPr/>
        </p:nvSpPr>
        <p:spPr>
          <a:xfrm>
            <a:off x="457200" y="1188720"/>
            <a:ext cx="2002536" cy="164592"/>
          </a:xfrm>
          <a:prstGeom prst="rect">
            <a:avLst/>
          </a:prstGeom>
          <a:noFill/>
          <a:ln/>
        </p:spPr>
        <p:txBody>
          <a:bodyPr wrap="square" lIns="0" tIns="0" rIns="0" bIns="0" rtlCol="0" anchor="ctr"/>
          <a:lstStyle/>
          <a:p>
            <a:pPr indent="0" marL="0">
              <a:buNone/>
            </a:pPr>
            <a:r>
              <a:rPr lang="en-US" sz="750" b="1" spc="110" kern="0" dirty="0">
                <a:solidFill>
                  <a:srgbClr val="1B3A5C"/>
                </a:solidFill>
                <a:latin typeface="Inter" pitchFamily="34" charset="0"/>
                <a:ea typeface="Inter" pitchFamily="34" charset="-122"/>
                <a:cs typeface="Inter" pitchFamily="34" charset="-120"/>
              </a:rPr>
              <a:t>FRONTEND</a:t>
            </a:r>
            <a:endParaRPr lang="en-US" sz="750" dirty="0"/>
          </a:p>
        </p:txBody>
      </p:sp>
      <p:sp>
        <p:nvSpPr>
          <p:cNvPr id="5" name="Shape 3"/>
          <p:cNvSpPr/>
          <p:nvPr/>
        </p:nvSpPr>
        <p:spPr>
          <a:xfrm>
            <a:off x="457200" y="1399032"/>
            <a:ext cx="2002536" cy="310896"/>
          </a:xfrm>
          <a:prstGeom prst="rect">
            <a:avLst/>
          </a:prstGeom>
          <a:solidFill>
            <a:srgbClr val="FFFFFF"/>
          </a:solidFill>
          <a:ln w="9525">
            <a:solidFill>
              <a:srgbClr val="D5DAE1"/>
            </a:solidFill>
            <a:prstDash val="solid"/>
          </a:ln>
        </p:spPr>
      </p:sp>
      <p:sp>
        <p:nvSpPr>
          <p:cNvPr id="6" name="Text 4"/>
          <p:cNvSpPr/>
          <p:nvPr/>
        </p:nvSpPr>
        <p:spPr>
          <a:xfrm>
            <a:off x="457200" y="1399032"/>
            <a:ext cx="2002536" cy="310896"/>
          </a:xfrm>
          <a:prstGeom prst="rect">
            <a:avLst/>
          </a:prstGeom>
          <a:noFill/>
          <a:ln/>
        </p:spPr>
        <p:txBody>
          <a:bodyPr wrap="square" lIns="254" tIns="254" rIns="254" bIns="254" rtlCol="0" anchor="ctr"/>
          <a:lstStyle/>
          <a:p>
            <a:pPr algn="ctr" indent="0" marL="0">
              <a:buNone/>
            </a:pPr>
            <a:r>
              <a:rPr lang="en-US" sz="850" dirty="0">
                <a:solidFill>
                  <a:srgbClr val="2B303A"/>
                </a:solidFill>
                <a:latin typeface="Inter" pitchFamily="34" charset="0"/>
                <a:ea typeface="Inter" pitchFamily="34" charset="-122"/>
                <a:cs typeface="Inter" pitchFamily="34" charset="-120"/>
              </a:rPr>
              <a:t>React.js</a:t>
            </a:r>
            <a:endParaRPr lang="en-US" sz="850" dirty="0"/>
          </a:p>
        </p:txBody>
      </p:sp>
      <p:sp>
        <p:nvSpPr>
          <p:cNvPr id="7" name="Shape 5"/>
          <p:cNvSpPr/>
          <p:nvPr/>
        </p:nvSpPr>
        <p:spPr>
          <a:xfrm>
            <a:off x="457200" y="1773936"/>
            <a:ext cx="2002536" cy="310896"/>
          </a:xfrm>
          <a:prstGeom prst="rect">
            <a:avLst/>
          </a:prstGeom>
          <a:solidFill>
            <a:srgbClr val="FFFFFF"/>
          </a:solidFill>
          <a:ln w="9525">
            <a:solidFill>
              <a:srgbClr val="D5DAE1"/>
            </a:solidFill>
            <a:prstDash val="solid"/>
          </a:ln>
        </p:spPr>
      </p:sp>
      <p:sp>
        <p:nvSpPr>
          <p:cNvPr id="8" name="Text 6"/>
          <p:cNvSpPr/>
          <p:nvPr/>
        </p:nvSpPr>
        <p:spPr>
          <a:xfrm>
            <a:off x="457200" y="1773936"/>
            <a:ext cx="2002536" cy="310896"/>
          </a:xfrm>
          <a:prstGeom prst="rect">
            <a:avLst/>
          </a:prstGeom>
          <a:noFill/>
          <a:ln/>
        </p:spPr>
        <p:txBody>
          <a:bodyPr wrap="square" lIns="254" tIns="254" rIns="254" bIns="254" rtlCol="0" anchor="ctr"/>
          <a:lstStyle/>
          <a:p>
            <a:pPr algn="ctr" indent="0" marL="0">
              <a:buNone/>
            </a:pPr>
            <a:r>
              <a:rPr lang="en-US" sz="850" dirty="0">
                <a:solidFill>
                  <a:srgbClr val="2B303A"/>
                </a:solidFill>
                <a:latin typeface="Inter" pitchFamily="34" charset="0"/>
                <a:ea typeface="Inter" pitchFamily="34" charset="-122"/>
                <a:cs typeface="Inter" pitchFamily="34" charset="-120"/>
              </a:rPr>
              <a:t>Tailwind CSS</a:t>
            </a:r>
            <a:endParaRPr lang="en-US" sz="850" dirty="0"/>
          </a:p>
        </p:txBody>
      </p:sp>
      <p:sp>
        <p:nvSpPr>
          <p:cNvPr id="9" name="Shape 7"/>
          <p:cNvSpPr/>
          <p:nvPr/>
        </p:nvSpPr>
        <p:spPr>
          <a:xfrm>
            <a:off x="457200" y="2148840"/>
            <a:ext cx="2002536" cy="310896"/>
          </a:xfrm>
          <a:prstGeom prst="rect">
            <a:avLst/>
          </a:prstGeom>
          <a:solidFill>
            <a:srgbClr val="FFFFFF"/>
          </a:solidFill>
          <a:ln w="9525">
            <a:solidFill>
              <a:srgbClr val="D5DAE1"/>
            </a:solidFill>
            <a:prstDash val="solid"/>
          </a:ln>
        </p:spPr>
      </p:sp>
      <p:sp>
        <p:nvSpPr>
          <p:cNvPr id="10" name="Text 8"/>
          <p:cNvSpPr/>
          <p:nvPr/>
        </p:nvSpPr>
        <p:spPr>
          <a:xfrm>
            <a:off x="457200" y="2148840"/>
            <a:ext cx="2002536" cy="310896"/>
          </a:xfrm>
          <a:prstGeom prst="rect">
            <a:avLst/>
          </a:prstGeom>
          <a:noFill/>
          <a:ln/>
        </p:spPr>
        <p:txBody>
          <a:bodyPr wrap="square" lIns="254" tIns="254" rIns="254" bIns="254" rtlCol="0" anchor="ctr"/>
          <a:lstStyle/>
          <a:p>
            <a:pPr algn="ctr" indent="0" marL="0">
              <a:buNone/>
            </a:pPr>
            <a:r>
              <a:rPr lang="en-US" sz="850" dirty="0">
                <a:solidFill>
                  <a:srgbClr val="2B303A"/>
                </a:solidFill>
                <a:latin typeface="Inter" pitchFamily="34" charset="0"/>
                <a:ea typeface="Inter" pitchFamily="34" charset="-122"/>
                <a:cs typeface="Inter" pitchFamily="34" charset="-120"/>
              </a:rPr>
              <a:t>Redux / Context</a:t>
            </a:r>
            <a:endParaRPr lang="en-US" sz="850" dirty="0"/>
          </a:p>
        </p:txBody>
      </p:sp>
      <p:sp>
        <p:nvSpPr>
          <p:cNvPr id="11" name="Shape 9"/>
          <p:cNvSpPr/>
          <p:nvPr/>
        </p:nvSpPr>
        <p:spPr>
          <a:xfrm>
            <a:off x="457200" y="2523744"/>
            <a:ext cx="2002536" cy="310896"/>
          </a:xfrm>
          <a:prstGeom prst="rect">
            <a:avLst/>
          </a:prstGeom>
          <a:solidFill>
            <a:srgbClr val="FFFFFF"/>
          </a:solidFill>
          <a:ln w="9525">
            <a:solidFill>
              <a:srgbClr val="D5DAE1"/>
            </a:solidFill>
            <a:prstDash val="solid"/>
          </a:ln>
        </p:spPr>
      </p:sp>
      <p:sp>
        <p:nvSpPr>
          <p:cNvPr id="12" name="Text 10"/>
          <p:cNvSpPr/>
          <p:nvPr/>
        </p:nvSpPr>
        <p:spPr>
          <a:xfrm>
            <a:off x="457200" y="2523744"/>
            <a:ext cx="2002536" cy="310896"/>
          </a:xfrm>
          <a:prstGeom prst="rect">
            <a:avLst/>
          </a:prstGeom>
          <a:noFill/>
          <a:ln/>
        </p:spPr>
        <p:txBody>
          <a:bodyPr wrap="square" lIns="254" tIns="254" rIns="254" bIns="254" rtlCol="0" anchor="ctr"/>
          <a:lstStyle/>
          <a:p>
            <a:pPr algn="ctr" indent="0" marL="0">
              <a:buNone/>
            </a:pPr>
            <a:r>
              <a:rPr lang="en-US" sz="850" dirty="0">
                <a:solidFill>
                  <a:srgbClr val="2B303A"/>
                </a:solidFill>
                <a:latin typeface="Inter" pitchFamily="34" charset="0"/>
                <a:ea typeface="Inter" pitchFamily="34" charset="-122"/>
                <a:cs typeface="Inter" pitchFamily="34" charset="-120"/>
              </a:rPr>
              <a:t>D3.js · Chart.js</a:t>
            </a:r>
            <a:endParaRPr lang="en-US" sz="850" dirty="0"/>
          </a:p>
        </p:txBody>
      </p:sp>
      <p:sp>
        <p:nvSpPr>
          <p:cNvPr id="13" name="Text 11"/>
          <p:cNvSpPr/>
          <p:nvPr/>
        </p:nvSpPr>
        <p:spPr>
          <a:xfrm>
            <a:off x="2660904" y="1188720"/>
            <a:ext cx="2002536" cy="164592"/>
          </a:xfrm>
          <a:prstGeom prst="rect">
            <a:avLst/>
          </a:prstGeom>
          <a:noFill/>
          <a:ln/>
        </p:spPr>
        <p:txBody>
          <a:bodyPr wrap="square" lIns="0" tIns="0" rIns="0" bIns="0" rtlCol="0" anchor="ctr"/>
          <a:lstStyle/>
          <a:p>
            <a:pPr indent="0" marL="0">
              <a:buNone/>
            </a:pPr>
            <a:r>
              <a:rPr lang="en-US" sz="750" b="1" spc="110" kern="0" dirty="0">
                <a:solidFill>
                  <a:srgbClr val="1B3A5C"/>
                </a:solidFill>
                <a:latin typeface="Inter" pitchFamily="34" charset="0"/>
                <a:ea typeface="Inter" pitchFamily="34" charset="-122"/>
                <a:cs typeface="Inter" pitchFamily="34" charset="-120"/>
              </a:rPr>
              <a:t>BACKEND</a:t>
            </a:r>
            <a:endParaRPr lang="en-US" sz="750" dirty="0"/>
          </a:p>
        </p:txBody>
      </p:sp>
      <p:sp>
        <p:nvSpPr>
          <p:cNvPr id="14" name="Shape 12"/>
          <p:cNvSpPr/>
          <p:nvPr/>
        </p:nvSpPr>
        <p:spPr>
          <a:xfrm>
            <a:off x="2660904" y="1399032"/>
            <a:ext cx="2002536" cy="310896"/>
          </a:xfrm>
          <a:prstGeom prst="rect">
            <a:avLst/>
          </a:prstGeom>
          <a:solidFill>
            <a:srgbClr val="FFFFFF"/>
          </a:solidFill>
          <a:ln w="9525">
            <a:solidFill>
              <a:srgbClr val="D5DAE1"/>
            </a:solidFill>
            <a:prstDash val="solid"/>
          </a:ln>
        </p:spPr>
      </p:sp>
      <p:sp>
        <p:nvSpPr>
          <p:cNvPr id="15" name="Text 13"/>
          <p:cNvSpPr/>
          <p:nvPr/>
        </p:nvSpPr>
        <p:spPr>
          <a:xfrm>
            <a:off x="2660904" y="1399032"/>
            <a:ext cx="2002536" cy="310896"/>
          </a:xfrm>
          <a:prstGeom prst="rect">
            <a:avLst/>
          </a:prstGeom>
          <a:noFill/>
          <a:ln/>
        </p:spPr>
        <p:txBody>
          <a:bodyPr wrap="square" lIns="254" tIns="254" rIns="254" bIns="254" rtlCol="0" anchor="ctr"/>
          <a:lstStyle/>
          <a:p>
            <a:pPr algn="ctr" indent="0" marL="0">
              <a:buNone/>
            </a:pPr>
            <a:r>
              <a:rPr lang="en-US" sz="850" dirty="0">
                <a:solidFill>
                  <a:srgbClr val="2B303A"/>
                </a:solidFill>
                <a:latin typeface="Inter" pitchFamily="34" charset="0"/>
                <a:ea typeface="Inter" pitchFamily="34" charset="-122"/>
                <a:cs typeface="Inter" pitchFamily="34" charset="-120"/>
              </a:rPr>
              <a:t>FastAPI</a:t>
            </a:r>
            <a:endParaRPr lang="en-US" sz="850" dirty="0"/>
          </a:p>
        </p:txBody>
      </p:sp>
      <p:sp>
        <p:nvSpPr>
          <p:cNvPr id="16" name="Shape 14"/>
          <p:cNvSpPr/>
          <p:nvPr/>
        </p:nvSpPr>
        <p:spPr>
          <a:xfrm>
            <a:off x="2660904" y="1773936"/>
            <a:ext cx="2002536" cy="310896"/>
          </a:xfrm>
          <a:prstGeom prst="rect">
            <a:avLst/>
          </a:prstGeom>
          <a:solidFill>
            <a:srgbClr val="FFFFFF"/>
          </a:solidFill>
          <a:ln w="9525">
            <a:solidFill>
              <a:srgbClr val="D5DAE1"/>
            </a:solidFill>
            <a:prstDash val="solid"/>
          </a:ln>
        </p:spPr>
      </p:sp>
      <p:sp>
        <p:nvSpPr>
          <p:cNvPr id="17" name="Text 15"/>
          <p:cNvSpPr/>
          <p:nvPr/>
        </p:nvSpPr>
        <p:spPr>
          <a:xfrm>
            <a:off x="2660904" y="1773936"/>
            <a:ext cx="2002536" cy="310896"/>
          </a:xfrm>
          <a:prstGeom prst="rect">
            <a:avLst/>
          </a:prstGeom>
          <a:noFill/>
          <a:ln/>
        </p:spPr>
        <p:txBody>
          <a:bodyPr wrap="square" lIns="254" tIns="254" rIns="254" bIns="254" rtlCol="0" anchor="ctr"/>
          <a:lstStyle/>
          <a:p>
            <a:pPr algn="ctr" indent="0" marL="0">
              <a:buNone/>
            </a:pPr>
            <a:r>
              <a:rPr lang="en-US" sz="850" dirty="0">
                <a:solidFill>
                  <a:srgbClr val="2B303A"/>
                </a:solidFill>
                <a:latin typeface="Inter" pitchFamily="34" charset="0"/>
                <a:ea typeface="Inter" pitchFamily="34" charset="-122"/>
                <a:cs typeface="Inter" pitchFamily="34" charset="-120"/>
              </a:rPr>
              <a:t>Python</a:t>
            </a:r>
            <a:endParaRPr lang="en-US" sz="850" dirty="0"/>
          </a:p>
        </p:txBody>
      </p:sp>
      <p:sp>
        <p:nvSpPr>
          <p:cNvPr id="18" name="Shape 16"/>
          <p:cNvSpPr/>
          <p:nvPr/>
        </p:nvSpPr>
        <p:spPr>
          <a:xfrm>
            <a:off x="2660904" y="2148840"/>
            <a:ext cx="2002536" cy="310896"/>
          </a:xfrm>
          <a:prstGeom prst="rect">
            <a:avLst/>
          </a:prstGeom>
          <a:solidFill>
            <a:srgbClr val="FFFFFF"/>
          </a:solidFill>
          <a:ln w="9525">
            <a:solidFill>
              <a:srgbClr val="D5DAE1"/>
            </a:solidFill>
            <a:prstDash val="solid"/>
          </a:ln>
        </p:spPr>
      </p:sp>
      <p:sp>
        <p:nvSpPr>
          <p:cNvPr id="19" name="Text 17"/>
          <p:cNvSpPr/>
          <p:nvPr/>
        </p:nvSpPr>
        <p:spPr>
          <a:xfrm>
            <a:off x="2660904" y="2148840"/>
            <a:ext cx="2002536" cy="310896"/>
          </a:xfrm>
          <a:prstGeom prst="rect">
            <a:avLst/>
          </a:prstGeom>
          <a:noFill/>
          <a:ln/>
        </p:spPr>
        <p:txBody>
          <a:bodyPr wrap="square" lIns="254" tIns="254" rIns="254" bIns="254" rtlCol="0" anchor="ctr"/>
          <a:lstStyle/>
          <a:p>
            <a:pPr algn="ctr" indent="0" marL="0">
              <a:buNone/>
            </a:pPr>
            <a:r>
              <a:rPr lang="en-US" sz="850" dirty="0">
                <a:solidFill>
                  <a:srgbClr val="2B303A"/>
                </a:solidFill>
                <a:latin typeface="Inter" pitchFamily="34" charset="0"/>
                <a:ea typeface="Inter" pitchFamily="34" charset="-122"/>
                <a:cs typeface="Inter" pitchFamily="34" charset="-120"/>
              </a:rPr>
              <a:t>LangChain</a:t>
            </a:r>
            <a:endParaRPr lang="en-US" sz="850" dirty="0"/>
          </a:p>
        </p:txBody>
      </p:sp>
      <p:sp>
        <p:nvSpPr>
          <p:cNvPr id="20" name="Text 18"/>
          <p:cNvSpPr/>
          <p:nvPr/>
        </p:nvSpPr>
        <p:spPr>
          <a:xfrm>
            <a:off x="4864608" y="1188720"/>
            <a:ext cx="2002536" cy="164592"/>
          </a:xfrm>
          <a:prstGeom prst="rect">
            <a:avLst/>
          </a:prstGeom>
          <a:noFill/>
          <a:ln/>
        </p:spPr>
        <p:txBody>
          <a:bodyPr wrap="square" lIns="0" tIns="0" rIns="0" bIns="0" rtlCol="0" anchor="ctr"/>
          <a:lstStyle/>
          <a:p>
            <a:pPr indent="0" marL="0">
              <a:buNone/>
            </a:pPr>
            <a:r>
              <a:rPr lang="en-US" sz="750" b="1" spc="110" kern="0" dirty="0">
                <a:solidFill>
                  <a:srgbClr val="1B3A5C"/>
                </a:solidFill>
                <a:latin typeface="Inter" pitchFamily="34" charset="0"/>
                <a:ea typeface="Inter" pitchFamily="34" charset="-122"/>
                <a:cs typeface="Inter" pitchFamily="34" charset="-120"/>
              </a:rPr>
              <a:t>AI / DATA</a:t>
            </a:r>
            <a:endParaRPr lang="en-US" sz="750" dirty="0"/>
          </a:p>
        </p:txBody>
      </p:sp>
      <p:sp>
        <p:nvSpPr>
          <p:cNvPr id="21" name="Shape 19"/>
          <p:cNvSpPr/>
          <p:nvPr/>
        </p:nvSpPr>
        <p:spPr>
          <a:xfrm>
            <a:off x="4864608" y="1399032"/>
            <a:ext cx="2002536" cy="310896"/>
          </a:xfrm>
          <a:prstGeom prst="rect">
            <a:avLst/>
          </a:prstGeom>
          <a:solidFill>
            <a:srgbClr val="FFFFFF"/>
          </a:solidFill>
          <a:ln w="9525">
            <a:solidFill>
              <a:srgbClr val="D5DAE1"/>
            </a:solidFill>
            <a:prstDash val="solid"/>
          </a:ln>
        </p:spPr>
      </p:sp>
      <p:sp>
        <p:nvSpPr>
          <p:cNvPr id="22" name="Text 20"/>
          <p:cNvSpPr/>
          <p:nvPr/>
        </p:nvSpPr>
        <p:spPr>
          <a:xfrm>
            <a:off x="4864608" y="1399032"/>
            <a:ext cx="2002536" cy="310896"/>
          </a:xfrm>
          <a:prstGeom prst="rect">
            <a:avLst/>
          </a:prstGeom>
          <a:noFill/>
          <a:ln/>
        </p:spPr>
        <p:txBody>
          <a:bodyPr wrap="square" lIns="254" tIns="254" rIns="254" bIns="254" rtlCol="0" anchor="ctr"/>
          <a:lstStyle/>
          <a:p>
            <a:pPr algn="ctr" indent="0" marL="0">
              <a:buNone/>
            </a:pPr>
            <a:r>
              <a:rPr lang="en-US" sz="850" dirty="0">
                <a:solidFill>
                  <a:srgbClr val="2B303A"/>
                </a:solidFill>
                <a:latin typeface="Inter" pitchFamily="34" charset="0"/>
                <a:ea typeface="Inter" pitchFamily="34" charset="-122"/>
                <a:cs typeface="Inter" pitchFamily="34" charset="-120"/>
              </a:rPr>
              <a:t>FAISS</a:t>
            </a:r>
            <a:endParaRPr lang="en-US" sz="850" dirty="0"/>
          </a:p>
        </p:txBody>
      </p:sp>
      <p:sp>
        <p:nvSpPr>
          <p:cNvPr id="23" name="Shape 21"/>
          <p:cNvSpPr/>
          <p:nvPr/>
        </p:nvSpPr>
        <p:spPr>
          <a:xfrm>
            <a:off x="4864608" y="1773936"/>
            <a:ext cx="2002536" cy="310896"/>
          </a:xfrm>
          <a:prstGeom prst="rect">
            <a:avLst/>
          </a:prstGeom>
          <a:solidFill>
            <a:srgbClr val="FFFFFF"/>
          </a:solidFill>
          <a:ln w="9525">
            <a:solidFill>
              <a:srgbClr val="D5DAE1"/>
            </a:solidFill>
            <a:prstDash val="solid"/>
          </a:ln>
        </p:spPr>
      </p:sp>
      <p:sp>
        <p:nvSpPr>
          <p:cNvPr id="24" name="Text 22"/>
          <p:cNvSpPr/>
          <p:nvPr/>
        </p:nvSpPr>
        <p:spPr>
          <a:xfrm>
            <a:off x="4864608" y="1773936"/>
            <a:ext cx="2002536" cy="310896"/>
          </a:xfrm>
          <a:prstGeom prst="rect">
            <a:avLst/>
          </a:prstGeom>
          <a:noFill/>
          <a:ln/>
        </p:spPr>
        <p:txBody>
          <a:bodyPr wrap="square" lIns="254" tIns="254" rIns="254" bIns="254" rtlCol="0" anchor="ctr"/>
          <a:lstStyle/>
          <a:p>
            <a:pPr algn="ctr" indent="0" marL="0">
              <a:buNone/>
            </a:pPr>
            <a:r>
              <a:rPr lang="en-US" sz="850" dirty="0">
                <a:solidFill>
                  <a:srgbClr val="2B303A"/>
                </a:solidFill>
                <a:latin typeface="Inter" pitchFamily="34" charset="0"/>
                <a:ea typeface="Inter" pitchFamily="34" charset="-122"/>
                <a:cs typeface="Inter" pitchFamily="34" charset="-120"/>
              </a:rPr>
              <a:t>OpenAI Embeddings</a:t>
            </a:r>
            <a:endParaRPr lang="en-US" sz="850" dirty="0"/>
          </a:p>
        </p:txBody>
      </p:sp>
      <p:sp>
        <p:nvSpPr>
          <p:cNvPr id="25" name="Shape 23"/>
          <p:cNvSpPr/>
          <p:nvPr/>
        </p:nvSpPr>
        <p:spPr>
          <a:xfrm>
            <a:off x="4864608" y="2148840"/>
            <a:ext cx="2002536" cy="310896"/>
          </a:xfrm>
          <a:prstGeom prst="rect">
            <a:avLst/>
          </a:prstGeom>
          <a:solidFill>
            <a:srgbClr val="FFFFFF"/>
          </a:solidFill>
          <a:ln w="9525">
            <a:solidFill>
              <a:srgbClr val="D5DAE1"/>
            </a:solidFill>
            <a:prstDash val="solid"/>
          </a:ln>
        </p:spPr>
      </p:sp>
      <p:sp>
        <p:nvSpPr>
          <p:cNvPr id="26" name="Text 24"/>
          <p:cNvSpPr/>
          <p:nvPr/>
        </p:nvSpPr>
        <p:spPr>
          <a:xfrm>
            <a:off x="4864608" y="2148840"/>
            <a:ext cx="2002536" cy="310896"/>
          </a:xfrm>
          <a:prstGeom prst="rect">
            <a:avLst/>
          </a:prstGeom>
          <a:noFill/>
          <a:ln/>
        </p:spPr>
        <p:txBody>
          <a:bodyPr wrap="square" lIns="254" tIns="254" rIns="254" bIns="254" rtlCol="0" anchor="ctr"/>
          <a:lstStyle/>
          <a:p>
            <a:pPr algn="ctr" indent="0" marL="0">
              <a:buNone/>
            </a:pPr>
            <a:r>
              <a:rPr lang="en-US" sz="850" dirty="0">
                <a:solidFill>
                  <a:srgbClr val="2B303A"/>
                </a:solidFill>
                <a:latin typeface="Inter" pitchFamily="34" charset="0"/>
                <a:ea typeface="Inter" pitchFamily="34" charset="-122"/>
                <a:cs typeface="Inter" pitchFamily="34" charset="-120"/>
              </a:rPr>
              <a:t>LLM Generation</a:t>
            </a:r>
            <a:endParaRPr lang="en-US" sz="850" dirty="0"/>
          </a:p>
        </p:txBody>
      </p:sp>
      <p:sp>
        <p:nvSpPr>
          <p:cNvPr id="27" name="Shape 25"/>
          <p:cNvSpPr/>
          <p:nvPr/>
        </p:nvSpPr>
        <p:spPr>
          <a:xfrm>
            <a:off x="4864608" y="2523744"/>
            <a:ext cx="2002536" cy="310896"/>
          </a:xfrm>
          <a:prstGeom prst="rect">
            <a:avLst/>
          </a:prstGeom>
          <a:solidFill>
            <a:srgbClr val="FFFFFF"/>
          </a:solidFill>
          <a:ln w="9525">
            <a:solidFill>
              <a:srgbClr val="D5DAE1"/>
            </a:solidFill>
            <a:prstDash val="solid"/>
          </a:ln>
        </p:spPr>
      </p:sp>
      <p:sp>
        <p:nvSpPr>
          <p:cNvPr id="28" name="Text 26"/>
          <p:cNvSpPr/>
          <p:nvPr/>
        </p:nvSpPr>
        <p:spPr>
          <a:xfrm>
            <a:off x="4864608" y="2523744"/>
            <a:ext cx="2002536" cy="310896"/>
          </a:xfrm>
          <a:prstGeom prst="rect">
            <a:avLst/>
          </a:prstGeom>
          <a:noFill/>
          <a:ln/>
        </p:spPr>
        <p:txBody>
          <a:bodyPr wrap="square" lIns="254" tIns="254" rIns="254" bIns="254" rtlCol="0" anchor="ctr"/>
          <a:lstStyle/>
          <a:p>
            <a:pPr algn="ctr" indent="0" marL="0">
              <a:buNone/>
            </a:pPr>
            <a:r>
              <a:rPr lang="en-US" sz="850" dirty="0">
                <a:solidFill>
                  <a:srgbClr val="2B303A"/>
                </a:solidFill>
                <a:latin typeface="Inter" pitchFamily="34" charset="0"/>
                <a:ea typeface="Inter" pitchFamily="34" charset="-122"/>
                <a:cs typeface="Inter" pitchFamily="34" charset="-120"/>
              </a:rPr>
              <a:t>PostgreSQL / Supabase</a:t>
            </a:r>
            <a:endParaRPr lang="en-US" sz="850" dirty="0"/>
          </a:p>
        </p:txBody>
      </p:sp>
      <p:sp>
        <p:nvSpPr>
          <p:cNvPr id="29" name="Text 27"/>
          <p:cNvSpPr/>
          <p:nvPr/>
        </p:nvSpPr>
        <p:spPr>
          <a:xfrm>
            <a:off x="7068312" y="1188720"/>
            <a:ext cx="2002536" cy="164592"/>
          </a:xfrm>
          <a:prstGeom prst="rect">
            <a:avLst/>
          </a:prstGeom>
          <a:noFill/>
          <a:ln/>
        </p:spPr>
        <p:txBody>
          <a:bodyPr wrap="square" lIns="0" tIns="0" rIns="0" bIns="0" rtlCol="0" anchor="ctr"/>
          <a:lstStyle/>
          <a:p>
            <a:pPr indent="0" marL="0">
              <a:buNone/>
            </a:pPr>
            <a:r>
              <a:rPr lang="en-US" sz="750" b="1" spc="110" kern="0" dirty="0">
                <a:solidFill>
                  <a:srgbClr val="1B3A5C"/>
                </a:solidFill>
                <a:latin typeface="Inter" pitchFamily="34" charset="0"/>
                <a:ea typeface="Inter" pitchFamily="34" charset="-122"/>
                <a:cs typeface="Inter" pitchFamily="34" charset="-120"/>
              </a:rPr>
              <a:t>DATA SOURCES</a:t>
            </a:r>
            <a:endParaRPr lang="en-US" sz="750" dirty="0"/>
          </a:p>
        </p:txBody>
      </p:sp>
      <p:sp>
        <p:nvSpPr>
          <p:cNvPr id="30" name="Shape 28"/>
          <p:cNvSpPr/>
          <p:nvPr/>
        </p:nvSpPr>
        <p:spPr>
          <a:xfrm>
            <a:off x="7068312" y="1399032"/>
            <a:ext cx="2002536" cy="310896"/>
          </a:xfrm>
          <a:prstGeom prst="rect">
            <a:avLst/>
          </a:prstGeom>
          <a:solidFill>
            <a:srgbClr val="FFFFFF"/>
          </a:solidFill>
          <a:ln w="9525">
            <a:solidFill>
              <a:srgbClr val="D5DAE1"/>
            </a:solidFill>
            <a:prstDash val="solid"/>
          </a:ln>
        </p:spPr>
      </p:sp>
      <p:sp>
        <p:nvSpPr>
          <p:cNvPr id="31" name="Text 29"/>
          <p:cNvSpPr/>
          <p:nvPr/>
        </p:nvSpPr>
        <p:spPr>
          <a:xfrm>
            <a:off x="7068312" y="1399032"/>
            <a:ext cx="2002536" cy="310896"/>
          </a:xfrm>
          <a:prstGeom prst="rect">
            <a:avLst/>
          </a:prstGeom>
          <a:noFill/>
          <a:ln/>
        </p:spPr>
        <p:txBody>
          <a:bodyPr wrap="square" lIns="254" tIns="254" rIns="254" bIns="254" rtlCol="0" anchor="ctr"/>
          <a:lstStyle/>
          <a:p>
            <a:pPr algn="ctr" indent="0" marL="0">
              <a:buNone/>
            </a:pPr>
            <a:r>
              <a:rPr lang="en-US" sz="850" dirty="0">
                <a:solidFill>
                  <a:srgbClr val="2B303A"/>
                </a:solidFill>
                <a:latin typeface="Inter" pitchFamily="34" charset="0"/>
                <a:ea typeface="Inter" pitchFamily="34" charset="-122"/>
                <a:cs typeface="Inter" pitchFamily="34" charset="-120"/>
              </a:rPr>
              <a:t>RBI</a:t>
            </a:r>
            <a:endParaRPr lang="en-US" sz="850" dirty="0"/>
          </a:p>
        </p:txBody>
      </p:sp>
      <p:sp>
        <p:nvSpPr>
          <p:cNvPr id="32" name="Shape 30"/>
          <p:cNvSpPr/>
          <p:nvPr/>
        </p:nvSpPr>
        <p:spPr>
          <a:xfrm>
            <a:off x="7068312" y="1773936"/>
            <a:ext cx="2002536" cy="310896"/>
          </a:xfrm>
          <a:prstGeom prst="rect">
            <a:avLst/>
          </a:prstGeom>
          <a:solidFill>
            <a:srgbClr val="FFFFFF"/>
          </a:solidFill>
          <a:ln w="9525">
            <a:solidFill>
              <a:srgbClr val="D5DAE1"/>
            </a:solidFill>
            <a:prstDash val="solid"/>
          </a:ln>
        </p:spPr>
      </p:sp>
      <p:sp>
        <p:nvSpPr>
          <p:cNvPr id="33" name="Text 31"/>
          <p:cNvSpPr/>
          <p:nvPr/>
        </p:nvSpPr>
        <p:spPr>
          <a:xfrm>
            <a:off x="7068312" y="1773936"/>
            <a:ext cx="2002536" cy="310896"/>
          </a:xfrm>
          <a:prstGeom prst="rect">
            <a:avLst/>
          </a:prstGeom>
          <a:noFill/>
          <a:ln/>
        </p:spPr>
        <p:txBody>
          <a:bodyPr wrap="square" lIns="254" tIns="254" rIns="254" bIns="254" rtlCol="0" anchor="ctr"/>
          <a:lstStyle/>
          <a:p>
            <a:pPr algn="ctr" indent="0" marL="0">
              <a:buNone/>
            </a:pPr>
            <a:r>
              <a:rPr lang="en-US" sz="850" dirty="0">
                <a:solidFill>
                  <a:srgbClr val="2B303A"/>
                </a:solidFill>
                <a:latin typeface="Inter" pitchFamily="34" charset="0"/>
                <a:ea typeface="Inter" pitchFamily="34" charset="-122"/>
                <a:cs typeface="Inter" pitchFamily="34" charset="-120"/>
              </a:rPr>
              <a:t>SEBI</a:t>
            </a:r>
            <a:endParaRPr lang="en-US" sz="850" dirty="0"/>
          </a:p>
        </p:txBody>
      </p:sp>
      <p:sp>
        <p:nvSpPr>
          <p:cNvPr id="34" name="Shape 32"/>
          <p:cNvSpPr/>
          <p:nvPr/>
        </p:nvSpPr>
        <p:spPr>
          <a:xfrm>
            <a:off x="7068312" y="2148840"/>
            <a:ext cx="2002536" cy="310896"/>
          </a:xfrm>
          <a:prstGeom prst="rect">
            <a:avLst/>
          </a:prstGeom>
          <a:solidFill>
            <a:srgbClr val="FFFFFF"/>
          </a:solidFill>
          <a:ln w="9525">
            <a:solidFill>
              <a:srgbClr val="D5DAE1"/>
            </a:solidFill>
            <a:prstDash val="solid"/>
          </a:ln>
        </p:spPr>
      </p:sp>
      <p:sp>
        <p:nvSpPr>
          <p:cNvPr id="35" name="Text 33"/>
          <p:cNvSpPr/>
          <p:nvPr/>
        </p:nvSpPr>
        <p:spPr>
          <a:xfrm>
            <a:off x="7068312" y="2148840"/>
            <a:ext cx="2002536" cy="310896"/>
          </a:xfrm>
          <a:prstGeom prst="rect">
            <a:avLst/>
          </a:prstGeom>
          <a:noFill/>
          <a:ln/>
        </p:spPr>
        <p:txBody>
          <a:bodyPr wrap="square" lIns="254" tIns="254" rIns="254" bIns="254" rtlCol="0" anchor="ctr"/>
          <a:lstStyle/>
          <a:p>
            <a:pPr algn="ctr" indent="0" marL="0">
              <a:buNone/>
            </a:pPr>
            <a:r>
              <a:rPr lang="en-US" sz="850" dirty="0">
                <a:solidFill>
                  <a:srgbClr val="2B303A"/>
                </a:solidFill>
                <a:latin typeface="Inter" pitchFamily="34" charset="0"/>
                <a:ea typeface="Inter" pitchFamily="34" charset="-122"/>
                <a:cs typeface="Inter" pitchFamily="34" charset="-120"/>
              </a:rPr>
              <a:t>NCFE</a:t>
            </a:r>
            <a:endParaRPr lang="en-US" sz="850" dirty="0"/>
          </a:p>
        </p:txBody>
      </p:sp>
      <p:sp>
        <p:nvSpPr>
          <p:cNvPr id="36" name="Shape 34"/>
          <p:cNvSpPr/>
          <p:nvPr/>
        </p:nvSpPr>
        <p:spPr>
          <a:xfrm>
            <a:off x="7068312" y="2523744"/>
            <a:ext cx="2002536" cy="310896"/>
          </a:xfrm>
          <a:prstGeom prst="rect">
            <a:avLst/>
          </a:prstGeom>
          <a:solidFill>
            <a:srgbClr val="FFFFFF"/>
          </a:solidFill>
          <a:ln w="9525">
            <a:solidFill>
              <a:srgbClr val="D5DAE1"/>
            </a:solidFill>
            <a:prstDash val="solid"/>
          </a:ln>
        </p:spPr>
      </p:sp>
      <p:sp>
        <p:nvSpPr>
          <p:cNvPr id="37" name="Text 35"/>
          <p:cNvSpPr/>
          <p:nvPr/>
        </p:nvSpPr>
        <p:spPr>
          <a:xfrm>
            <a:off x="7068312" y="2523744"/>
            <a:ext cx="2002536" cy="310896"/>
          </a:xfrm>
          <a:prstGeom prst="rect">
            <a:avLst/>
          </a:prstGeom>
          <a:noFill/>
          <a:ln/>
        </p:spPr>
        <p:txBody>
          <a:bodyPr wrap="square" lIns="254" tIns="254" rIns="254" bIns="254" rtlCol="0" anchor="ctr"/>
          <a:lstStyle/>
          <a:p>
            <a:pPr algn="ctr" indent="0" marL="0">
              <a:buNone/>
            </a:pPr>
            <a:r>
              <a:rPr lang="en-US" sz="850" dirty="0">
                <a:solidFill>
                  <a:srgbClr val="2B303A"/>
                </a:solidFill>
                <a:latin typeface="Inter" pitchFamily="34" charset="0"/>
                <a:ea typeface="Inter" pitchFamily="34" charset="-122"/>
                <a:cs typeface="Inter" pitchFamily="34" charset="-120"/>
              </a:rPr>
              <a:t>Sahamati AA</a:t>
            </a:r>
            <a:endParaRPr lang="en-US" sz="850" dirty="0"/>
          </a:p>
        </p:txBody>
      </p:sp>
      <p:sp>
        <p:nvSpPr>
          <p:cNvPr id="38" name="Text 36"/>
          <p:cNvSpPr/>
          <p:nvPr/>
        </p:nvSpPr>
        <p:spPr>
          <a:xfrm>
            <a:off x="457200" y="3035808"/>
            <a:ext cx="3657600" cy="182880"/>
          </a:xfrm>
          <a:prstGeom prst="rect">
            <a:avLst/>
          </a:prstGeom>
          <a:noFill/>
          <a:ln/>
        </p:spPr>
        <p:txBody>
          <a:bodyPr wrap="square" lIns="0" tIns="0" rIns="0" bIns="0" rtlCol="0" anchor="ctr"/>
          <a:lstStyle/>
          <a:p>
            <a:pPr indent="0" marL="0">
              <a:buNone/>
            </a:pPr>
            <a:r>
              <a:rPr lang="en-US" sz="800" b="1" spc="140" kern="0" dirty="0">
                <a:solidFill>
                  <a:srgbClr val="1B3A5C"/>
                </a:solidFill>
                <a:latin typeface="Inter" pitchFamily="34" charset="0"/>
                <a:ea typeface="Inter" pitchFamily="34" charset="-122"/>
                <a:cs typeface="Inter" pitchFamily="34" charset="-120"/>
              </a:rPr>
              <a:t>ARCHITECTURAL GUARANTEES</a:t>
            </a:r>
            <a:endParaRPr lang="en-US" sz="800" dirty="0"/>
          </a:p>
        </p:txBody>
      </p:sp>
      <p:sp>
        <p:nvSpPr>
          <p:cNvPr id="39" name="Shape 37"/>
          <p:cNvSpPr/>
          <p:nvPr/>
        </p:nvSpPr>
        <p:spPr>
          <a:xfrm>
            <a:off x="457200" y="3255264"/>
            <a:ext cx="2688336" cy="603504"/>
          </a:xfrm>
          <a:prstGeom prst="rect">
            <a:avLst/>
          </a:prstGeom>
          <a:solidFill>
            <a:srgbClr val="F4F6F8"/>
          </a:solidFill>
          <a:ln w="9525">
            <a:solidFill>
              <a:srgbClr val="D5DAE1"/>
            </a:solidFill>
            <a:prstDash val="solid"/>
          </a:ln>
        </p:spPr>
      </p:sp>
      <p:sp>
        <p:nvSpPr>
          <p:cNvPr id="40" name="Text 38"/>
          <p:cNvSpPr/>
          <p:nvPr/>
        </p:nvSpPr>
        <p:spPr>
          <a:xfrm>
            <a:off x="585216" y="3328416"/>
            <a:ext cx="2432304" cy="182880"/>
          </a:xfrm>
          <a:prstGeom prst="rect">
            <a:avLst/>
          </a:prstGeom>
          <a:noFill/>
          <a:ln/>
        </p:spPr>
        <p:txBody>
          <a:bodyPr wrap="square" lIns="0" tIns="0" rIns="0" bIns="0" rtlCol="0" anchor="ctr"/>
          <a:lstStyle/>
          <a:p>
            <a:pPr indent="0" marL="0">
              <a:buNone/>
            </a:pPr>
            <a:r>
              <a:rPr lang="en-US" sz="950" b="1" dirty="0">
                <a:solidFill>
                  <a:srgbClr val="12151B"/>
                </a:solidFill>
                <a:latin typeface="Inter" pitchFamily="34" charset="0"/>
                <a:ea typeface="Inter" pitchFamily="34" charset="-122"/>
                <a:cs typeface="Inter" pitchFamily="34" charset="-120"/>
              </a:rPr>
              <a:t>Async API Architecture</a:t>
            </a:r>
            <a:endParaRPr lang="en-US" sz="950" dirty="0"/>
          </a:p>
        </p:txBody>
      </p:sp>
      <p:sp>
        <p:nvSpPr>
          <p:cNvPr id="41" name="Text 39"/>
          <p:cNvSpPr/>
          <p:nvPr/>
        </p:nvSpPr>
        <p:spPr>
          <a:xfrm>
            <a:off x="585216" y="3520440"/>
            <a:ext cx="2432304" cy="274320"/>
          </a:xfrm>
          <a:prstGeom prst="rect">
            <a:avLst/>
          </a:prstGeom>
          <a:noFill/>
          <a:ln/>
        </p:spPr>
        <p:txBody>
          <a:bodyPr wrap="square" lIns="0" tIns="0" rIns="0" bIns="0" rtlCol="0" anchor="ctr"/>
          <a:lstStyle/>
          <a:p>
            <a:pPr indent="0" marL="0">
              <a:lnSpc>
                <a:spcPts val="1000"/>
              </a:lnSpc>
              <a:buNone/>
            </a:pPr>
            <a:r>
              <a:rPr lang="en-US" sz="800" dirty="0">
                <a:solidFill>
                  <a:srgbClr val="6B7280"/>
                </a:solidFill>
                <a:latin typeface="Inter" pitchFamily="34" charset="0"/>
                <a:ea typeface="Inter" pitchFamily="34" charset="-122"/>
                <a:cs typeface="Inter" pitchFamily="34" charset="-120"/>
              </a:rPr>
              <a:t>FastAPI handles concurrent AI requests without blocking.</a:t>
            </a:r>
            <a:endParaRPr lang="en-US" sz="800" dirty="0"/>
          </a:p>
        </p:txBody>
      </p:sp>
      <p:sp>
        <p:nvSpPr>
          <p:cNvPr id="42" name="Shape 40"/>
          <p:cNvSpPr/>
          <p:nvPr/>
        </p:nvSpPr>
        <p:spPr>
          <a:xfrm>
            <a:off x="3227832" y="3255264"/>
            <a:ext cx="2688336" cy="603504"/>
          </a:xfrm>
          <a:prstGeom prst="rect">
            <a:avLst/>
          </a:prstGeom>
          <a:solidFill>
            <a:srgbClr val="F4F6F8"/>
          </a:solidFill>
          <a:ln w="9525">
            <a:solidFill>
              <a:srgbClr val="D5DAE1"/>
            </a:solidFill>
            <a:prstDash val="solid"/>
          </a:ln>
        </p:spPr>
      </p:sp>
      <p:sp>
        <p:nvSpPr>
          <p:cNvPr id="43" name="Text 41"/>
          <p:cNvSpPr/>
          <p:nvPr/>
        </p:nvSpPr>
        <p:spPr>
          <a:xfrm>
            <a:off x="3355848" y="3328416"/>
            <a:ext cx="2432304" cy="182880"/>
          </a:xfrm>
          <a:prstGeom prst="rect">
            <a:avLst/>
          </a:prstGeom>
          <a:noFill/>
          <a:ln/>
        </p:spPr>
        <p:txBody>
          <a:bodyPr wrap="square" lIns="0" tIns="0" rIns="0" bIns="0" rtlCol="0" anchor="ctr"/>
          <a:lstStyle/>
          <a:p>
            <a:pPr indent="0" marL="0">
              <a:buNone/>
            </a:pPr>
            <a:r>
              <a:rPr lang="en-US" sz="950" b="1" dirty="0">
                <a:solidFill>
                  <a:srgbClr val="12151B"/>
                </a:solidFill>
                <a:latin typeface="Inter" pitchFamily="34" charset="0"/>
                <a:ea typeface="Inter" pitchFamily="34" charset="-122"/>
                <a:cs typeface="Inter" pitchFamily="34" charset="-120"/>
              </a:rPr>
              <a:t>Financial-Grade Persistence</a:t>
            </a:r>
            <a:endParaRPr lang="en-US" sz="950" dirty="0"/>
          </a:p>
        </p:txBody>
      </p:sp>
      <p:sp>
        <p:nvSpPr>
          <p:cNvPr id="44" name="Text 42"/>
          <p:cNvSpPr/>
          <p:nvPr/>
        </p:nvSpPr>
        <p:spPr>
          <a:xfrm>
            <a:off x="3355848" y="3520440"/>
            <a:ext cx="2432304" cy="274320"/>
          </a:xfrm>
          <a:prstGeom prst="rect">
            <a:avLst/>
          </a:prstGeom>
          <a:noFill/>
          <a:ln/>
        </p:spPr>
        <p:txBody>
          <a:bodyPr wrap="square" lIns="0" tIns="0" rIns="0" bIns="0" rtlCol="0" anchor="ctr"/>
          <a:lstStyle/>
          <a:p>
            <a:pPr indent="0" marL="0">
              <a:lnSpc>
                <a:spcPts val="1000"/>
              </a:lnSpc>
              <a:buNone/>
            </a:pPr>
            <a:r>
              <a:rPr lang="en-US" sz="800" dirty="0">
                <a:solidFill>
                  <a:srgbClr val="6B7280"/>
                </a:solidFill>
                <a:latin typeface="Inter" pitchFamily="34" charset="0"/>
                <a:ea typeface="Inter" pitchFamily="34" charset="-122"/>
                <a:cs typeface="Inter" pitchFamily="34" charset="-120"/>
              </a:rPr>
              <a:t>PostgreSQL / Supabase provides ACID-compliant storage.</a:t>
            </a:r>
            <a:endParaRPr lang="en-US" sz="800" dirty="0"/>
          </a:p>
        </p:txBody>
      </p:sp>
      <p:sp>
        <p:nvSpPr>
          <p:cNvPr id="45" name="Shape 43"/>
          <p:cNvSpPr/>
          <p:nvPr/>
        </p:nvSpPr>
        <p:spPr>
          <a:xfrm>
            <a:off x="5998464" y="3255264"/>
            <a:ext cx="2688336" cy="603504"/>
          </a:xfrm>
          <a:prstGeom prst="rect">
            <a:avLst/>
          </a:prstGeom>
          <a:solidFill>
            <a:srgbClr val="F4F6F8"/>
          </a:solidFill>
          <a:ln w="9525">
            <a:solidFill>
              <a:srgbClr val="D5DAE1"/>
            </a:solidFill>
            <a:prstDash val="solid"/>
          </a:ln>
        </p:spPr>
      </p:sp>
      <p:sp>
        <p:nvSpPr>
          <p:cNvPr id="46" name="Text 44"/>
          <p:cNvSpPr/>
          <p:nvPr/>
        </p:nvSpPr>
        <p:spPr>
          <a:xfrm>
            <a:off x="6126480" y="3328416"/>
            <a:ext cx="2432304" cy="182880"/>
          </a:xfrm>
          <a:prstGeom prst="rect">
            <a:avLst/>
          </a:prstGeom>
          <a:noFill/>
          <a:ln/>
        </p:spPr>
        <p:txBody>
          <a:bodyPr wrap="square" lIns="0" tIns="0" rIns="0" bIns="0" rtlCol="0" anchor="ctr"/>
          <a:lstStyle/>
          <a:p>
            <a:pPr indent="0" marL="0">
              <a:buNone/>
            </a:pPr>
            <a:r>
              <a:rPr lang="en-US" sz="950" b="1" dirty="0">
                <a:solidFill>
                  <a:srgbClr val="12151B"/>
                </a:solidFill>
                <a:latin typeface="Inter" pitchFamily="34" charset="0"/>
                <a:ea typeface="Inter" pitchFamily="34" charset="-122"/>
                <a:cs typeface="Inter" pitchFamily="34" charset="-120"/>
              </a:rPr>
              <a:t>Consent-Driven Data</a:t>
            </a:r>
            <a:endParaRPr lang="en-US" sz="950" dirty="0"/>
          </a:p>
        </p:txBody>
      </p:sp>
      <p:sp>
        <p:nvSpPr>
          <p:cNvPr id="47" name="Text 45"/>
          <p:cNvSpPr/>
          <p:nvPr/>
        </p:nvSpPr>
        <p:spPr>
          <a:xfrm>
            <a:off x="6126480" y="3520440"/>
            <a:ext cx="2432304" cy="274320"/>
          </a:xfrm>
          <a:prstGeom prst="rect">
            <a:avLst/>
          </a:prstGeom>
          <a:noFill/>
          <a:ln/>
        </p:spPr>
        <p:txBody>
          <a:bodyPr wrap="square" lIns="0" tIns="0" rIns="0" bIns="0" rtlCol="0" anchor="ctr"/>
          <a:lstStyle/>
          <a:p>
            <a:pPr indent="0" marL="0">
              <a:lnSpc>
                <a:spcPts val="1000"/>
              </a:lnSpc>
              <a:buNone/>
            </a:pPr>
            <a:r>
              <a:rPr lang="en-US" sz="800" dirty="0">
                <a:solidFill>
                  <a:srgbClr val="6B7280"/>
                </a:solidFill>
                <a:latin typeface="Inter" pitchFamily="34" charset="0"/>
                <a:ea typeface="Inter" pitchFamily="34" charset="-122"/>
                <a:cs typeface="Inter" pitchFamily="34" charset="-120"/>
              </a:rPr>
              <a:t>Sahamati AA framework rather than SMS scraping.</a:t>
            </a:r>
            <a:endParaRPr lang="en-US" sz="800" dirty="0"/>
          </a:p>
        </p:txBody>
      </p:sp>
      <p:sp>
        <p:nvSpPr>
          <p:cNvPr id="48" name="Text 46"/>
          <p:cNvSpPr/>
          <p:nvPr/>
        </p:nvSpPr>
        <p:spPr>
          <a:xfrm>
            <a:off x="457200" y="4005072"/>
            <a:ext cx="3657600" cy="182880"/>
          </a:xfrm>
          <a:prstGeom prst="rect">
            <a:avLst/>
          </a:prstGeom>
          <a:noFill/>
          <a:ln/>
        </p:spPr>
        <p:txBody>
          <a:bodyPr wrap="square" lIns="0" tIns="0" rIns="0" bIns="0" rtlCol="0" anchor="ctr"/>
          <a:lstStyle/>
          <a:p>
            <a:pPr indent="0" marL="0">
              <a:buNone/>
            </a:pPr>
            <a:r>
              <a:rPr lang="en-US" sz="800" b="1" spc="140" kern="0" dirty="0">
                <a:solidFill>
                  <a:srgbClr val="1B3A5C"/>
                </a:solidFill>
                <a:latin typeface="Inter" pitchFamily="34" charset="0"/>
                <a:ea typeface="Inter" pitchFamily="34" charset="-122"/>
                <a:cs typeface="Inter" pitchFamily="34" charset="-120"/>
              </a:rPr>
              <a:t>IMPLEMENTATION SEQUENCE</a:t>
            </a:r>
            <a:endParaRPr lang="en-US" sz="800" dirty="0"/>
          </a:p>
        </p:txBody>
      </p:sp>
      <p:sp>
        <p:nvSpPr>
          <p:cNvPr id="49" name="Text 47"/>
          <p:cNvSpPr/>
          <p:nvPr/>
        </p:nvSpPr>
        <p:spPr>
          <a:xfrm>
            <a:off x="457200" y="4206240"/>
            <a:ext cx="1463040" cy="146304"/>
          </a:xfrm>
          <a:prstGeom prst="rect">
            <a:avLst/>
          </a:prstGeom>
          <a:noFill/>
          <a:ln/>
        </p:spPr>
        <p:txBody>
          <a:bodyPr wrap="square" lIns="0" tIns="0" rIns="0" bIns="0" rtlCol="0" anchor="ctr"/>
          <a:lstStyle/>
          <a:p>
            <a:pPr indent="0" marL="0">
              <a:buNone/>
            </a:pPr>
            <a:r>
              <a:rPr lang="en-US" sz="680" b="1" spc="50" kern="0" dirty="0">
                <a:solidFill>
                  <a:srgbClr val="2E7D8F"/>
                </a:solidFill>
                <a:latin typeface="Inter" pitchFamily="34" charset="0"/>
                <a:ea typeface="Inter" pitchFamily="34" charset="-122"/>
                <a:cs typeface="Inter" pitchFamily="34" charset="-120"/>
              </a:rPr>
              <a:t>M1–2</a:t>
            </a:r>
            <a:endParaRPr lang="en-US" sz="680" dirty="0"/>
          </a:p>
        </p:txBody>
      </p:sp>
      <p:sp>
        <p:nvSpPr>
          <p:cNvPr id="50" name="Text 48"/>
          <p:cNvSpPr/>
          <p:nvPr/>
        </p:nvSpPr>
        <p:spPr>
          <a:xfrm>
            <a:off x="457200" y="4361688"/>
            <a:ext cx="1463040" cy="201168"/>
          </a:xfrm>
          <a:prstGeom prst="rect">
            <a:avLst/>
          </a:prstGeom>
          <a:noFill/>
          <a:ln/>
        </p:spPr>
        <p:txBody>
          <a:bodyPr wrap="square" lIns="0" tIns="0" rIns="0" bIns="0" rtlCol="0" anchor="ctr"/>
          <a:lstStyle/>
          <a:p>
            <a:pPr indent="0" marL="0">
              <a:buNone/>
            </a:pPr>
            <a:r>
              <a:rPr lang="en-US" sz="1000" b="1" dirty="0">
                <a:solidFill>
                  <a:srgbClr val="2B303A"/>
                </a:solidFill>
                <a:latin typeface="Inter" pitchFamily="34" charset="0"/>
                <a:ea typeface="Inter" pitchFamily="34" charset="-122"/>
                <a:cs typeface="Inter" pitchFamily="34" charset="-120"/>
              </a:rPr>
              <a:t>Dataset</a:t>
            </a:r>
            <a:endParaRPr lang="en-US" sz="1000" dirty="0"/>
          </a:p>
        </p:txBody>
      </p:sp>
      <p:sp>
        <p:nvSpPr>
          <p:cNvPr id="51" name="Shape 49"/>
          <p:cNvSpPr/>
          <p:nvPr/>
        </p:nvSpPr>
        <p:spPr>
          <a:xfrm>
            <a:off x="1600200" y="4443984"/>
            <a:ext cx="502920" cy="0"/>
          </a:xfrm>
          <a:prstGeom prst="line">
            <a:avLst/>
          </a:prstGeom>
          <a:noFill/>
          <a:ln w="12700">
            <a:solidFill>
              <a:srgbClr val="AEB6C0"/>
            </a:solidFill>
            <a:prstDash val="solid"/>
            <a:tailEnd type="triangle"/>
          </a:ln>
        </p:spPr>
      </p:sp>
      <p:sp>
        <p:nvSpPr>
          <p:cNvPr id="52" name="Text 50"/>
          <p:cNvSpPr/>
          <p:nvPr/>
        </p:nvSpPr>
        <p:spPr>
          <a:xfrm>
            <a:off x="2148840" y="4206240"/>
            <a:ext cx="1463040" cy="146304"/>
          </a:xfrm>
          <a:prstGeom prst="rect">
            <a:avLst/>
          </a:prstGeom>
          <a:noFill/>
          <a:ln/>
        </p:spPr>
        <p:txBody>
          <a:bodyPr wrap="square" lIns="0" tIns="0" rIns="0" bIns="0" rtlCol="0" anchor="ctr"/>
          <a:lstStyle/>
          <a:p>
            <a:pPr indent="0" marL="0">
              <a:buNone/>
            </a:pPr>
            <a:r>
              <a:rPr lang="en-US" sz="680" b="1" spc="50" kern="0" dirty="0">
                <a:solidFill>
                  <a:srgbClr val="2E7D8F"/>
                </a:solidFill>
                <a:latin typeface="Inter" pitchFamily="34" charset="0"/>
                <a:ea typeface="Inter" pitchFamily="34" charset="-122"/>
                <a:cs typeface="Inter" pitchFamily="34" charset="-120"/>
              </a:rPr>
              <a:t>M2–3</a:t>
            </a:r>
            <a:endParaRPr lang="en-US" sz="680" dirty="0"/>
          </a:p>
        </p:txBody>
      </p:sp>
      <p:sp>
        <p:nvSpPr>
          <p:cNvPr id="53" name="Text 51"/>
          <p:cNvSpPr/>
          <p:nvPr/>
        </p:nvSpPr>
        <p:spPr>
          <a:xfrm>
            <a:off x="2148840" y="4361688"/>
            <a:ext cx="1463040" cy="201168"/>
          </a:xfrm>
          <a:prstGeom prst="rect">
            <a:avLst/>
          </a:prstGeom>
          <a:noFill/>
          <a:ln/>
        </p:spPr>
        <p:txBody>
          <a:bodyPr wrap="square" lIns="0" tIns="0" rIns="0" bIns="0" rtlCol="0" anchor="ctr"/>
          <a:lstStyle/>
          <a:p>
            <a:pPr indent="0" marL="0">
              <a:buNone/>
            </a:pPr>
            <a:r>
              <a:rPr lang="en-US" sz="1000" b="1" dirty="0">
                <a:solidFill>
                  <a:srgbClr val="2B303A"/>
                </a:solidFill>
                <a:latin typeface="Inter" pitchFamily="34" charset="0"/>
                <a:ea typeface="Inter" pitchFamily="34" charset="-122"/>
                <a:cs typeface="Inter" pitchFamily="34" charset="-120"/>
              </a:rPr>
              <a:t>MVP</a:t>
            </a:r>
            <a:endParaRPr lang="en-US" sz="1000" dirty="0"/>
          </a:p>
        </p:txBody>
      </p:sp>
      <p:sp>
        <p:nvSpPr>
          <p:cNvPr id="54" name="Shape 52"/>
          <p:cNvSpPr/>
          <p:nvPr/>
        </p:nvSpPr>
        <p:spPr>
          <a:xfrm>
            <a:off x="3291840" y="4443984"/>
            <a:ext cx="502920" cy="0"/>
          </a:xfrm>
          <a:prstGeom prst="line">
            <a:avLst/>
          </a:prstGeom>
          <a:noFill/>
          <a:ln w="12700">
            <a:solidFill>
              <a:srgbClr val="AEB6C0"/>
            </a:solidFill>
            <a:prstDash val="solid"/>
            <a:tailEnd type="triangle"/>
          </a:ln>
        </p:spPr>
      </p:sp>
      <p:sp>
        <p:nvSpPr>
          <p:cNvPr id="55" name="Text 53"/>
          <p:cNvSpPr/>
          <p:nvPr/>
        </p:nvSpPr>
        <p:spPr>
          <a:xfrm>
            <a:off x="3840480" y="4206240"/>
            <a:ext cx="1463040" cy="146304"/>
          </a:xfrm>
          <a:prstGeom prst="rect">
            <a:avLst/>
          </a:prstGeom>
          <a:noFill/>
          <a:ln/>
        </p:spPr>
        <p:txBody>
          <a:bodyPr wrap="square" lIns="0" tIns="0" rIns="0" bIns="0" rtlCol="0" anchor="ctr"/>
          <a:lstStyle/>
          <a:p>
            <a:pPr indent="0" marL="0">
              <a:buNone/>
            </a:pPr>
            <a:r>
              <a:rPr lang="en-US" sz="680" b="1" spc="50" kern="0" dirty="0">
                <a:solidFill>
                  <a:srgbClr val="2E7D8F"/>
                </a:solidFill>
                <a:latin typeface="Inter" pitchFamily="34" charset="0"/>
                <a:ea typeface="Inter" pitchFamily="34" charset="-122"/>
                <a:cs typeface="Inter" pitchFamily="34" charset="-120"/>
              </a:rPr>
              <a:t>M4</a:t>
            </a:r>
            <a:endParaRPr lang="en-US" sz="680" dirty="0"/>
          </a:p>
        </p:txBody>
      </p:sp>
      <p:sp>
        <p:nvSpPr>
          <p:cNvPr id="56" name="Text 54"/>
          <p:cNvSpPr/>
          <p:nvPr/>
        </p:nvSpPr>
        <p:spPr>
          <a:xfrm>
            <a:off x="3840480" y="4361688"/>
            <a:ext cx="1463040" cy="201168"/>
          </a:xfrm>
          <a:prstGeom prst="rect">
            <a:avLst/>
          </a:prstGeom>
          <a:noFill/>
          <a:ln/>
        </p:spPr>
        <p:txBody>
          <a:bodyPr wrap="square" lIns="0" tIns="0" rIns="0" bIns="0" rtlCol="0" anchor="ctr"/>
          <a:lstStyle/>
          <a:p>
            <a:pPr indent="0" marL="0">
              <a:buNone/>
            </a:pPr>
            <a:r>
              <a:rPr lang="en-US" sz="1000" b="1" dirty="0">
                <a:solidFill>
                  <a:srgbClr val="2B303A"/>
                </a:solidFill>
                <a:latin typeface="Inter" pitchFamily="34" charset="0"/>
                <a:ea typeface="Inter" pitchFamily="34" charset="-122"/>
                <a:cs typeface="Inter" pitchFamily="34" charset="-120"/>
              </a:rPr>
              <a:t>Alpha</a:t>
            </a:r>
            <a:endParaRPr lang="en-US" sz="1000" dirty="0"/>
          </a:p>
        </p:txBody>
      </p:sp>
      <p:sp>
        <p:nvSpPr>
          <p:cNvPr id="57" name="Shape 55"/>
          <p:cNvSpPr/>
          <p:nvPr/>
        </p:nvSpPr>
        <p:spPr>
          <a:xfrm>
            <a:off x="4983480" y="4443984"/>
            <a:ext cx="502920" cy="0"/>
          </a:xfrm>
          <a:prstGeom prst="line">
            <a:avLst/>
          </a:prstGeom>
          <a:noFill/>
          <a:ln w="12700">
            <a:solidFill>
              <a:srgbClr val="AEB6C0"/>
            </a:solidFill>
            <a:prstDash val="solid"/>
            <a:tailEnd type="triangle"/>
          </a:ln>
        </p:spPr>
      </p:sp>
      <p:sp>
        <p:nvSpPr>
          <p:cNvPr id="58" name="Text 56"/>
          <p:cNvSpPr/>
          <p:nvPr/>
        </p:nvSpPr>
        <p:spPr>
          <a:xfrm>
            <a:off x="5532120" y="4206240"/>
            <a:ext cx="1463040" cy="146304"/>
          </a:xfrm>
          <a:prstGeom prst="rect">
            <a:avLst/>
          </a:prstGeom>
          <a:noFill/>
          <a:ln/>
        </p:spPr>
        <p:txBody>
          <a:bodyPr wrap="square" lIns="0" tIns="0" rIns="0" bIns="0" rtlCol="0" anchor="ctr"/>
          <a:lstStyle/>
          <a:p>
            <a:pPr indent="0" marL="0">
              <a:buNone/>
            </a:pPr>
            <a:r>
              <a:rPr lang="en-US" sz="680" b="1" spc="50" kern="0" dirty="0">
                <a:solidFill>
                  <a:srgbClr val="2E7D8F"/>
                </a:solidFill>
                <a:latin typeface="Inter" pitchFamily="34" charset="0"/>
                <a:ea typeface="Inter" pitchFamily="34" charset="-122"/>
                <a:cs typeface="Inter" pitchFamily="34" charset="-120"/>
              </a:rPr>
              <a:t>M5</a:t>
            </a:r>
            <a:endParaRPr lang="en-US" sz="680" dirty="0"/>
          </a:p>
        </p:txBody>
      </p:sp>
      <p:sp>
        <p:nvSpPr>
          <p:cNvPr id="59" name="Text 57"/>
          <p:cNvSpPr/>
          <p:nvPr/>
        </p:nvSpPr>
        <p:spPr>
          <a:xfrm>
            <a:off x="5532120" y="4361688"/>
            <a:ext cx="1463040" cy="201168"/>
          </a:xfrm>
          <a:prstGeom prst="rect">
            <a:avLst/>
          </a:prstGeom>
          <a:noFill/>
          <a:ln/>
        </p:spPr>
        <p:txBody>
          <a:bodyPr wrap="square" lIns="0" tIns="0" rIns="0" bIns="0" rtlCol="0" anchor="ctr"/>
          <a:lstStyle/>
          <a:p>
            <a:pPr indent="0" marL="0">
              <a:buNone/>
            </a:pPr>
            <a:r>
              <a:rPr lang="en-US" sz="1000" b="1" dirty="0">
                <a:solidFill>
                  <a:srgbClr val="2B303A"/>
                </a:solidFill>
                <a:latin typeface="Inter" pitchFamily="34" charset="0"/>
                <a:ea typeface="Inter" pitchFamily="34" charset="-122"/>
                <a:cs typeface="Inter" pitchFamily="34" charset="-120"/>
              </a:rPr>
              <a:t>Beta</a:t>
            </a:r>
            <a:endParaRPr lang="en-US" sz="1000" dirty="0"/>
          </a:p>
        </p:txBody>
      </p:sp>
      <p:sp>
        <p:nvSpPr>
          <p:cNvPr id="60" name="Shape 58"/>
          <p:cNvSpPr/>
          <p:nvPr/>
        </p:nvSpPr>
        <p:spPr>
          <a:xfrm>
            <a:off x="6675120" y="4443984"/>
            <a:ext cx="502920" cy="0"/>
          </a:xfrm>
          <a:prstGeom prst="line">
            <a:avLst/>
          </a:prstGeom>
          <a:noFill/>
          <a:ln w="12700">
            <a:solidFill>
              <a:srgbClr val="AEB6C0"/>
            </a:solidFill>
            <a:prstDash val="solid"/>
            <a:tailEnd type="triangle"/>
          </a:ln>
        </p:spPr>
      </p:sp>
      <p:sp>
        <p:nvSpPr>
          <p:cNvPr id="61" name="Text 59"/>
          <p:cNvSpPr/>
          <p:nvPr/>
        </p:nvSpPr>
        <p:spPr>
          <a:xfrm>
            <a:off x="7223760" y="4206240"/>
            <a:ext cx="1463040" cy="146304"/>
          </a:xfrm>
          <a:prstGeom prst="rect">
            <a:avLst/>
          </a:prstGeom>
          <a:noFill/>
          <a:ln/>
        </p:spPr>
        <p:txBody>
          <a:bodyPr wrap="square" lIns="0" tIns="0" rIns="0" bIns="0" rtlCol="0" anchor="ctr"/>
          <a:lstStyle/>
          <a:p>
            <a:pPr indent="0" marL="0">
              <a:buNone/>
            </a:pPr>
            <a:r>
              <a:rPr lang="en-US" sz="680" b="1" spc="50" kern="0" dirty="0">
                <a:solidFill>
                  <a:srgbClr val="2E7D8F"/>
                </a:solidFill>
                <a:latin typeface="Inter" pitchFamily="34" charset="0"/>
                <a:ea typeface="Inter" pitchFamily="34" charset="-122"/>
                <a:cs typeface="Inter" pitchFamily="34" charset="-120"/>
              </a:rPr>
              <a:t>M6</a:t>
            </a:r>
            <a:endParaRPr lang="en-US" sz="680" dirty="0"/>
          </a:p>
        </p:txBody>
      </p:sp>
      <p:sp>
        <p:nvSpPr>
          <p:cNvPr id="62" name="Text 60"/>
          <p:cNvSpPr/>
          <p:nvPr/>
        </p:nvSpPr>
        <p:spPr>
          <a:xfrm>
            <a:off x="7223760" y="4361688"/>
            <a:ext cx="1463040" cy="201168"/>
          </a:xfrm>
          <a:prstGeom prst="rect">
            <a:avLst/>
          </a:prstGeom>
          <a:noFill/>
          <a:ln/>
        </p:spPr>
        <p:txBody>
          <a:bodyPr wrap="square" lIns="0" tIns="0" rIns="0" bIns="0" rtlCol="0" anchor="ctr"/>
          <a:lstStyle/>
          <a:p>
            <a:pPr indent="0" marL="0">
              <a:buNone/>
            </a:pPr>
            <a:r>
              <a:rPr lang="en-US" sz="1000" b="1" dirty="0">
                <a:solidFill>
                  <a:srgbClr val="2B303A"/>
                </a:solidFill>
                <a:latin typeface="Inter" pitchFamily="34" charset="0"/>
                <a:ea typeface="Inter" pitchFamily="34" charset="-122"/>
                <a:cs typeface="Inter" pitchFamily="34" charset="-120"/>
              </a:rPr>
              <a:t>Launch</a:t>
            </a:r>
            <a:endParaRPr lang="en-US" sz="1000" dirty="0"/>
          </a:p>
        </p:txBody>
      </p:sp>
      <p:sp>
        <p:nvSpPr>
          <p:cNvPr id="63" name="Text 61"/>
          <p:cNvSpPr/>
          <p:nvPr/>
        </p:nvSpPr>
        <p:spPr>
          <a:xfrm>
            <a:off x="457200" y="4777740"/>
            <a:ext cx="5486400" cy="201168"/>
          </a:xfrm>
          <a:prstGeom prst="rect">
            <a:avLst/>
          </a:prstGeom>
          <a:noFill/>
          <a:ln/>
        </p:spPr>
        <p:txBody>
          <a:bodyPr wrap="square" lIns="0" tIns="0" rIns="0" bIns="0" rtlCol="0" anchor="ctr"/>
          <a:lstStyle/>
          <a:p>
            <a:pPr indent="0" marL="0">
              <a:buNone/>
            </a:pPr>
            <a:r>
              <a:rPr lang="en-US" sz="800" spc="120" kern="0" dirty="0">
                <a:solidFill>
                  <a:srgbClr val="9BA3AE"/>
                </a:solidFill>
                <a:latin typeface="Inter" pitchFamily="34" charset="0"/>
                <a:ea typeface="Inter" pitchFamily="34" charset="-122"/>
                <a:cs typeface="Inter" pitchFamily="34" charset="-120"/>
              </a:rPr>
              <a:t>FINPATH INDIA  ·  TECHNICAL ARCHITECTURE</a:t>
            </a:r>
            <a:endParaRPr lang="en-US" sz="800" dirty="0"/>
          </a:p>
        </p:txBody>
      </p:sp>
      <p:sp>
        <p:nvSpPr>
          <p:cNvPr id="64" name="Text 62"/>
          <p:cNvSpPr/>
          <p:nvPr/>
        </p:nvSpPr>
        <p:spPr>
          <a:xfrm>
            <a:off x="8138160" y="4777740"/>
            <a:ext cx="548640" cy="201168"/>
          </a:xfrm>
          <a:prstGeom prst="rect">
            <a:avLst/>
          </a:prstGeom>
          <a:noFill/>
          <a:ln/>
        </p:spPr>
        <p:txBody>
          <a:bodyPr wrap="square" lIns="0" tIns="0" rIns="0" bIns="0" rtlCol="0" anchor="ctr"/>
          <a:lstStyle/>
          <a:p>
            <a:pPr algn="r" indent="0" marL="0">
              <a:buNone/>
            </a:pPr>
            <a:r>
              <a:rPr lang="en-US" sz="800" dirty="0">
                <a:solidFill>
                  <a:srgbClr val="9BA3AE"/>
                </a:solidFill>
                <a:latin typeface="Inter" pitchFamily="34" charset="0"/>
                <a:ea typeface="Inter" pitchFamily="34" charset="-122"/>
                <a:cs typeface="Inter"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384048"/>
          </a:xfrm>
          <a:prstGeom prst="rect">
            <a:avLst/>
          </a:prstGeom>
          <a:noFill/>
          <a:ln/>
        </p:spPr>
        <p:txBody>
          <a:bodyPr wrap="square" lIns="0" tIns="0" rIns="0" bIns="0" rtlCol="0" anchor="ctr"/>
          <a:lstStyle/>
          <a:p>
            <a:pPr indent="0" marL="0">
              <a:buNone/>
            </a:pPr>
            <a:r>
              <a:rPr lang="en-US" sz="2400" b="1" dirty="0">
                <a:solidFill>
                  <a:srgbClr val="12151B"/>
                </a:solidFill>
                <a:latin typeface="Inter" pitchFamily="34" charset="0"/>
                <a:ea typeface="Inter" pitchFamily="34" charset="-122"/>
                <a:cs typeface="Inter" pitchFamily="34" charset="-120"/>
              </a:rPr>
              <a:t>From Student Literacy to National Impact</a:t>
            </a:r>
            <a:endParaRPr lang="en-US" sz="2400" dirty="0"/>
          </a:p>
        </p:txBody>
      </p:sp>
      <p:sp>
        <p:nvSpPr>
          <p:cNvPr id="3" name="Text 1"/>
          <p:cNvSpPr/>
          <p:nvPr/>
        </p:nvSpPr>
        <p:spPr>
          <a:xfrm>
            <a:off x="457200" y="786384"/>
            <a:ext cx="8229600" cy="237744"/>
          </a:xfrm>
          <a:prstGeom prst="rect">
            <a:avLst/>
          </a:prstGeom>
          <a:noFill/>
          <a:ln/>
        </p:spPr>
        <p:txBody>
          <a:bodyPr wrap="square" lIns="0" tIns="0" rIns="0" bIns="0" rtlCol="0" anchor="ctr"/>
          <a:lstStyle/>
          <a:p>
            <a:pPr indent="0" marL="0">
              <a:buNone/>
            </a:pPr>
            <a:r>
              <a:rPr lang="en-US" sz="1100" dirty="0">
                <a:solidFill>
                  <a:srgbClr val="6B7280"/>
                </a:solidFill>
                <a:latin typeface="Inter" pitchFamily="34" charset="0"/>
                <a:ea typeface="Inter" pitchFamily="34" charset="-122"/>
                <a:cs typeface="Inter" pitchFamily="34" charset="-120"/>
              </a:rPr>
              <a:t>Three concentric layers of impact, one regulatory pathway</a:t>
            </a:r>
            <a:endParaRPr lang="en-US" sz="1100" dirty="0"/>
          </a:p>
        </p:txBody>
      </p:sp>
      <p:sp>
        <p:nvSpPr>
          <p:cNvPr id="4" name="Shape 2"/>
          <p:cNvSpPr/>
          <p:nvPr/>
        </p:nvSpPr>
        <p:spPr>
          <a:xfrm>
            <a:off x="457200" y="1261872"/>
            <a:ext cx="2688336" cy="1371600"/>
          </a:xfrm>
          <a:prstGeom prst="rect">
            <a:avLst/>
          </a:prstGeom>
          <a:solidFill>
            <a:srgbClr val="FFFFFF"/>
          </a:solidFill>
          <a:ln w="9525">
            <a:solidFill>
              <a:srgbClr val="D5DAE1"/>
            </a:solidFill>
            <a:prstDash val="solid"/>
          </a:ln>
        </p:spPr>
      </p:sp>
      <p:sp>
        <p:nvSpPr>
          <p:cNvPr id="5" name="Text 3"/>
          <p:cNvSpPr/>
          <p:nvPr/>
        </p:nvSpPr>
        <p:spPr>
          <a:xfrm>
            <a:off x="603504" y="1389888"/>
            <a:ext cx="2395728" cy="182880"/>
          </a:xfrm>
          <a:prstGeom prst="rect">
            <a:avLst/>
          </a:prstGeom>
          <a:noFill/>
          <a:ln/>
        </p:spPr>
        <p:txBody>
          <a:bodyPr wrap="square" lIns="0" tIns="0" rIns="0" bIns="0" rtlCol="0" anchor="ctr"/>
          <a:lstStyle/>
          <a:p>
            <a:pPr indent="0" marL="0">
              <a:buNone/>
            </a:pPr>
            <a:r>
              <a:rPr lang="en-US" sz="750" b="1" spc="140" kern="0" dirty="0">
                <a:solidFill>
                  <a:srgbClr val="2E7D8F"/>
                </a:solidFill>
                <a:latin typeface="Inter" pitchFamily="34" charset="0"/>
                <a:ea typeface="Inter" pitchFamily="34" charset="-122"/>
                <a:cs typeface="Inter" pitchFamily="34" charset="-120"/>
              </a:rPr>
              <a:t>STUDENT</a:t>
            </a:r>
            <a:endParaRPr lang="en-US" sz="750" dirty="0"/>
          </a:p>
        </p:txBody>
      </p:sp>
      <p:sp>
        <p:nvSpPr>
          <p:cNvPr id="6" name="Text 4"/>
          <p:cNvSpPr/>
          <p:nvPr/>
        </p:nvSpPr>
        <p:spPr>
          <a:xfrm>
            <a:off x="603504" y="1645920"/>
            <a:ext cx="2395728" cy="914400"/>
          </a:xfrm>
          <a:prstGeom prst="rect">
            <a:avLst/>
          </a:prstGeom>
          <a:noFill/>
          <a:ln/>
        </p:spPr>
        <p:txBody>
          <a:bodyPr wrap="square" lIns="0" tIns="0" rIns="0" bIns="0" rtlCol="0" anchor="t"/>
          <a:lstStyle/>
          <a:p>
            <a:pPr marL="152400" indent="-152400">
              <a:spcAft>
                <a:spcPts val="500"/>
              </a:spcAft>
              <a:buSzPct val="100000"/>
              <a:buChar char="•"/>
            </a:pPr>
            <a:r>
              <a:rPr lang="en-US" sz="900" dirty="0">
                <a:solidFill>
                  <a:srgbClr val="2B303A"/>
                </a:solidFill>
                <a:latin typeface="Inter" pitchFamily="34" charset="0"/>
                <a:ea typeface="Inter" pitchFamily="34" charset="-122"/>
                <a:cs typeface="Inter" pitchFamily="34" charset="-120"/>
              </a:rPr>
              <a:t>Financial literacy</a:t>
            </a:r>
            <a:endParaRPr lang="en-US" sz="900" dirty="0"/>
          </a:p>
          <a:p>
            <a:pPr marL="152400" indent="-152400">
              <a:spcAft>
                <a:spcPts val="500"/>
              </a:spcAft>
              <a:buSzPct val="100000"/>
              <a:buChar char="•"/>
            </a:pPr>
            <a:r>
              <a:rPr lang="en-US" sz="900" dirty="0">
                <a:solidFill>
                  <a:srgbClr val="2B303A"/>
                </a:solidFill>
                <a:latin typeface="Inter" pitchFamily="34" charset="0"/>
                <a:ea typeface="Inter" pitchFamily="34" charset="-122"/>
                <a:cs typeface="Inter" pitchFamily="34" charset="-120"/>
              </a:rPr>
              <a:t>Better spending behaviour</a:t>
            </a:r>
            <a:endParaRPr lang="en-US" sz="900" dirty="0"/>
          </a:p>
          <a:p>
            <a:pPr marL="152400" indent="-152400">
              <a:spcAft>
                <a:spcPts val="500"/>
              </a:spcAft>
              <a:buSzPct val="100000"/>
              <a:buChar char="•"/>
            </a:pPr>
            <a:r>
              <a:rPr lang="en-US" sz="900" dirty="0">
                <a:solidFill>
                  <a:srgbClr val="2B303A"/>
                </a:solidFill>
                <a:latin typeface="Inter" pitchFamily="34" charset="0"/>
                <a:ea typeface="Inter" pitchFamily="34" charset="-122"/>
                <a:cs typeface="Inter" pitchFamily="34" charset="-120"/>
              </a:rPr>
              <a:t>Informed first investment</a:t>
            </a:r>
            <a:endParaRPr lang="en-US" sz="900" dirty="0"/>
          </a:p>
        </p:txBody>
      </p:sp>
      <p:sp>
        <p:nvSpPr>
          <p:cNvPr id="7" name="Shape 5"/>
          <p:cNvSpPr/>
          <p:nvPr/>
        </p:nvSpPr>
        <p:spPr>
          <a:xfrm>
            <a:off x="3227832" y="1261872"/>
            <a:ext cx="2688336" cy="1371600"/>
          </a:xfrm>
          <a:prstGeom prst="rect">
            <a:avLst/>
          </a:prstGeom>
          <a:solidFill>
            <a:srgbClr val="FFFFFF"/>
          </a:solidFill>
          <a:ln w="9525">
            <a:solidFill>
              <a:srgbClr val="D5DAE1"/>
            </a:solidFill>
            <a:prstDash val="solid"/>
          </a:ln>
        </p:spPr>
      </p:sp>
      <p:sp>
        <p:nvSpPr>
          <p:cNvPr id="8" name="Text 6"/>
          <p:cNvSpPr/>
          <p:nvPr/>
        </p:nvSpPr>
        <p:spPr>
          <a:xfrm>
            <a:off x="3374136" y="1389888"/>
            <a:ext cx="2395728" cy="182880"/>
          </a:xfrm>
          <a:prstGeom prst="rect">
            <a:avLst/>
          </a:prstGeom>
          <a:noFill/>
          <a:ln/>
        </p:spPr>
        <p:txBody>
          <a:bodyPr wrap="square" lIns="0" tIns="0" rIns="0" bIns="0" rtlCol="0" anchor="ctr"/>
          <a:lstStyle/>
          <a:p>
            <a:pPr indent="0" marL="0">
              <a:buNone/>
            </a:pPr>
            <a:r>
              <a:rPr lang="en-US" sz="750" b="1" spc="140" kern="0" dirty="0">
                <a:solidFill>
                  <a:srgbClr val="2E7D8F"/>
                </a:solidFill>
                <a:latin typeface="Inter" pitchFamily="34" charset="0"/>
                <a:ea typeface="Inter" pitchFamily="34" charset="-122"/>
                <a:cs typeface="Inter" pitchFamily="34" charset="-120"/>
              </a:rPr>
              <a:t>CAMPUS</a:t>
            </a:r>
            <a:endParaRPr lang="en-US" sz="750" dirty="0"/>
          </a:p>
        </p:txBody>
      </p:sp>
      <p:sp>
        <p:nvSpPr>
          <p:cNvPr id="9" name="Text 7"/>
          <p:cNvSpPr/>
          <p:nvPr/>
        </p:nvSpPr>
        <p:spPr>
          <a:xfrm>
            <a:off x="3374136" y="1645920"/>
            <a:ext cx="2395728" cy="914400"/>
          </a:xfrm>
          <a:prstGeom prst="rect">
            <a:avLst/>
          </a:prstGeom>
          <a:noFill/>
          <a:ln/>
        </p:spPr>
        <p:txBody>
          <a:bodyPr wrap="square" lIns="0" tIns="0" rIns="0" bIns="0" rtlCol="0" anchor="t"/>
          <a:lstStyle/>
          <a:p>
            <a:pPr marL="152400" indent="-152400">
              <a:spcAft>
                <a:spcPts val="500"/>
              </a:spcAft>
              <a:buSzPct val="100000"/>
              <a:buChar char="•"/>
            </a:pPr>
            <a:r>
              <a:rPr lang="en-US" sz="900" dirty="0">
                <a:solidFill>
                  <a:srgbClr val="2B303A"/>
                </a:solidFill>
                <a:latin typeface="Inter" pitchFamily="34" charset="0"/>
                <a:ea typeface="Inter" pitchFamily="34" charset="-122"/>
                <a:cs typeface="Inter" pitchFamily="34" charset="-120"/>
              </a:rPr>
              <a:t>College ERP integration</a:t>
            </a:r>
            <a:endParaRPr lang="en-US" sz="900" dirty="0"/>
          </a:p>
          <a:p>
            <a:pPr marL="152400" indent="-152400">
              <a:spcAft>
                <a:spcPts val="500"/>
              </a:spcAft>
              <a:buSzPct val="100000"/>
              <a:buChar char="•"/>
            </a:pPr>
            <a:r>
              <a:rPr lang="en-US" sz="900" dirty="0">
                <a:solidFill>
                  <a:srgbClr val="2B303A"/>
                </a:solidFill>
                <a:latin typeface="Inter" pitchFamily="34" charset="0"/>
                <a:ea typeface="Inter" pitchFamily="34" charset="-122"/>
                <a:cs typeface="Inter" pitchFamily="34" charset="-120"/>
              </a:rPr>
              <a:t>Thousands of students per campus</a:t>
            </a:r>
            <a:endParaRPr lang="en-US" sz="900" dirty="0"/>
          </a:p>
          <a:p>
            <a:pPr marL="152400" indent="-152400">
              <a:spcAft>
                <a:spcPts val="500"/>
              </a:spcAft>
              <a:buSzPct val="100000"/>
              <a:buChar char="•"/>
            </a:pPr>
            <a:r>
              <a:rPr lang="en-US" sz="900" dirty="0">
                <a:solidFill>
                  <a:srgbClr val="2B303A"/>
                </a:solidFill>
                <a:latin typeface="Inter" pitchFamily="34" charset="0"/>
                <a:ea typeface="Inter" pitchFamily="34" charset="-122"/>
                <a:cs typeface="Inter" pitchFamily="34" charset="-120"/>
              </a:rPr>
              <a:t>Curriculum integration</a:t>
            </a:r>
            <a:endParaRPr lang="en-US" sz="900" dirty="0"/>
          </a:p>
        </p:txBody>
      </p:sp>
      <p:sp>
        <p:nvSpPr>
          <p:cNvPr id="10" name="Shape 8"/>
          <p:cNvSpPr/>
          <p:nvPr/>
        </p:nvSpPr>
        <p:spPr>
          <a:xfrm>
            <a:off x="5998464" y="1261872"/>
            <a:ext cx="2688336" cy="1371600"/>
          </a:xfrm>
          <a:prstGeom prst="rect">
            <a:avLst/>
          </a:prstGeom>
          <a:solidFill>
            <a:srgbClr val="FFFFFF"/>
          </a:solidFill>
          <a:ln w="9525">
            <a:solidFill>
              <a:srgbClr val="D5DAE1"/>
            </a:solidFill>
            <a:prstDash val="solid"/>
          </a:ln>
        </p:spPr>
      </p:sp>
      <p:sp>
        <p:nvSpPr>
          <p:cNvPr id="11" name="Text 9"/>
          <p:cNvSpPr/>
          <p:nvPr/>
        </p:nvSpPr>
        <p:spPr>
          <a:xfrm>
            <a:off x="6144768" y="1389888"/>
            <a:ext cx="2395728" cy="182880"/>
          </a:xfrm>
          <a:prstGeom prst="rect">
            <a:avLst/>
          </a:prstGeom>
          <a:noFill/>
          <a:ln/>
        </p:spPr>
        <p:txBody>
          <a:bodyPr wrap="square" lIns="0" tIns="0" rIns="0" bIns="0" rtlCol="0" anchor="ctr"/>
          <a:lstStyle/>
          <a:p>
            <a:pPr indent="0" marL="0">
              <a:buNone/>
            </a:pPr>
            <a:r>
              <a:rPr lang="en-US" sz="750" b="1" spc="140" kern="0" dirty="0">
                <a:solidFill>
                  <a:srgbClr val="2E7D8F"/>
                </a:solidFill>
                <a:latin typeface="Inter" pitchFamily="34" charset="0"/>
                <a:ea typeface="Inter" pitchFamily="34" charset="-122"/>
                <a:cs typeface="Inter" pitchFamily="34" charset="-120"/>
              </a:rPr>
              <a:t>ECOSYSTEM</a:t>
            </a:r>
            <a:endParaRPr lang="en-US" sz="750" dirty="0"/>
          </a:p>
        </p:txBody>
      </p:sp>
      <p:sp>
        <p:nvSpPr>
          <p:cNvPr id="12" name="Text 10"/>
          <p:cNvSpPr/>
          <p:nvPr/>
        </p:nvSpPr>
        <p:spPr>
          <a:xfrm>
            <a:off x="6144768" y="1645920"/>
            <a:ext cx="2395728" cy="914400"/>
          </a:xfrm>
          <a:prstGeom prst="rect">
            <a:avLst/>
          </a:prstGeom>
          <a:noFill/>
          <a:ln/>
        </p:spPr>
        <p:txBody>
          <a:bodyPr wrap="square" lIns="0" tIns="0" rIns="0" bIns="0" rtlCol="0" anchor="t"/>
          <a:lstStyle/>
          <a:p>
            <a:pPr marL="152400" indent="-152400">
              <a:spcAft>
                <a:spcPts val="500"/>
              </a:spcAft>
              <a:buSzPct val="100000"/>
              <a:buChar char="•"/>
            </a:pPr>
            <a:r>
              <a:rPr lang="en-US" sz="900" dirty="0">
                <a:solidFill>
                  <a:srgbClr val="2B303A"/>
                </a:solidFill>
                <a:latin typeface="Inter" pitchFamily="34" charset="0"/>
                <a:ea typeface="Inter" pitchFamily="34" charset="-122"/>
                <a:cs typeface="Inter" pitchFamily="34" charset="-120"/>
              </a:rPr>
              <a:t>FinTech partnerships</a:t>
            </a:r>
            <a:endParaRPr lang="en-US" sz="900" dirty="0"/>
          </a:p>
          <a:p>
            <a:pPr marL="152400" indent="-152400">
              <a:spcAft>
                <a:spcPts val="500"/>
              </a:spcAft>
              <a:buSzPct val="100000"/>
              <a:buChar char="•"/>
            </a:pPr>
            <a:r>
              <a:rPr lang="en-US" sz="900" dirty="0">
                <a:solidFill>
                  <a:srgbClr val="2B303A"/>
                </a:solidFill>
                <a:latin typeface="Inter" pitchFamily="34" charset="0"/>
                <a:ea typeface="Inter" pitchFamily="34" charset="-122"/>
                <a:cs typeface="Inter" pitchFamily="34" charset="-120"/>
              </a:rPr>
              <a:t>SEBI Sandbox pathway</a:t>
            </a:r>
            <a:endParaRPr lang="en-US" sz="900" dirty="0"/>
          </a:p>
          <a:p>
            <a:pPr marL="152400" indent="-152400">
              <a:spcAft>
                <a:spcPts val="500"/>
              </a:spcAft>
              <a:buSzPct val="100000"/>
              <a:buChar char="•"/>
            </a:pPr>
            <a:r>
              <a:rPr lang="en-US" sz="900" dirty="0">
                <a:solidFill>
                  <a:srgbClr val="2B303A"/>
                </a:solidFill>
                <a:latin typeface="Inter" pitchFamily="34" charset="0"/>
                <a:ea typeface="Inter" pitchFamily="34" charset="-122"/>
                <a:cs typeface="Inter" pitchFamily="34" charset="-120"/>
              </a:rPr>
              <a:t>National financial inclusion</a:t>
            </a:r>
            <a:endParaRPr lang="en-US" sz="900" dirty="0"/>
          </a:p>
        </p:txBody>
      </p:sp>
      <p:sp>
        <p:nvSpPr>
          <p:cNvPr id="13" name="Text 11"/>
          <p:cNvSpPr/>
          <p:nvPr/>
        </p:nvSpPr>
        <p:spPr>
          <a:xfrm>
            <a:off x="457200" y="2889504"/>
            <a:ext cx="3657600" cy="182880"/>
          </a:xfrm>
          <a:prstGeom prst="rect">
            <a:avLst/>
          </a:prstGeom>
          <a:noFill/>
          <a:ln/>
        </p:spPr>
        <p:txBody>
          <a:bodyPr wrap="square" lIns="0" tIns="0" rIns="0" bIns="0" rtlCol="0" anchor="ctr"/>
          <a:lstStyle/>
          <a:p>
            <a:pPr indent="0" marL="0">
              <a:buNone/>
            </a:pPr>
            <a:r>
              <a:rPr lang="en-US" sz="800" b="1" spc="140" kern="0" dirty="0">
                <a:solidFill>
                  <a:srgbClr val="9BA3AE"/>
                </a:solidFill>
                <a:latin typeface="Inter" pitchFamily="34" charset="0"/>
                <a:ea typeface="Inter" pitchFamily="34" charset="-122"/>
                <a:cs typeface="Inter" pitchFamily="34" charset="-120"/>
              </a:rPr>
              <a:t>SIX-MONTH PATHWAY</a:t>
            </a:r>
            <a:endParaRPr lang="en-US" sz="800" dirty="0"/>
          </a:p>
        </p:txBody>
      </p:sp>
      <p:sp>
        <p:nvSpPr>
          <p:cNvPr id="14" name="Shape 12"/>
          <p:cNvSpPr/>
          <p:nvPr/>
        </p:nvSpPr>
        <p:spPr>
          <a:xfrm>
            <a:off x="457200" y="3108960"/>
            <a:ext cx="1280160" cy="402336"/>
          </a:xfrm>
          <a:prstGeom prst="rect">
            <a:avLst/>
          </a:prstGeom>
          <a:solidFill>
            <a:srgbClr val="F4F6F8"/>
          </a:solidFill>
          <a:ln w="9525">
            <a:solidFill>
              <a:srgbClr val="D5DAE1"/>
            </a:solidFill>
            <a:prstDash val="solid"/>
          </a:ln>
        </p:spPr>
      </p:sp>
      <p:sp>
        <p:nvSpPr>
          <p:cNvPr id="15" name="Text 13"/>
          <p:cNvSpPr/>
          <p:nvPr/>
        </p:nvSpPr>
        <p:spPr>
          <a:xfrm>
            <a:off x="457200" y="3108960"/>
            <a:ext cx="1280160" cy="402336"/>
          </a:xfrm>
          <a:prstGeom prst="rect">
            <a:avLst/>
          </a:prstGeom>
          <a:noFill/>
          <a:ln/>
        </p:spPr>
        <p:txBody>
          <a:bodyPr wrap="square" lIns="254" tIns="254" rIns="254" bIns="254" rtlCol="0" anchor="ctr"/>
          <a:lstStyle/>
          <a:p>
            <a:pPr algn="ctr" indent="0" marL="0">
              <a:buNone/>
            </a:pPr>
            <a:r>
              <a:rPr lang="en-US" sz="760" b="1" spc="40" kern="0" dirty="0">
                <a:solidFill>
                  <a:srgbClr val="2B303A"/>
                </a:solidFill>
                <a:latin typeface="Inter" pitchFamily="34" charset="0"/>
                <a:ea typeface="Inter" pitchFamily="34" charset="-122"/>
                <a:cs typeface="Inter" pitchFamily="34" charset="-120"/>
              </a:rPr>
              <a:t>DATASET</a:t>
            </a:r>
            <a:endParaRPr lang="en-US" sz="760" dirty="0"/>
          </a:p>
        </p:txBody>
      </p:sp>
      <p:sp>
        <p:nvSpPr>
          <p:cNvPr id="16" name="Shape 14"/>
          <p:cNvSpPr/>
          <p:nvPr/>
        </p:nvSpPr>
        <p:spPr>
          <a:xfrm>
            <a:off x="1737360" y="3310128"/>
            <a:ext cx="109728" cy="0"/>
          </a:xfrm>
          <a:prstGeom prst="line">
            <a:avLst/>
          </a:prstGeom>
          <a:noFill/>
          <a:ln w="12700">
            <a:solidFill>
              <a:srgbClr val="AEB6C0"/>
            </a:solidFill>
            <a:prstDash val="solid"/>
            <a:tailEnd type="triangle"/>
          </a:ln>
        </p:spPr>
      </p:sp>
      <p:sp>
        <p:nvSpPr>
          <p:cNvPr id="17" name="Shape 15"/>
          <p:cNvSpPr/>
          <p:nvPr/>
        </p:nvSpPr>
        <p:spPr>
          <a:xfrm>
            <a:off x="1847088" y="3108960"/>
            <a:ext cx="1280160" cy="402336"/>
          </a:xfrm>
          <a:prstGeom prst="rect">
            <a:avLst/>
          </a:prstGeom>
          <a:solidFill>
            <a:srgbClr val="F4F6F8"/>
          </a:solidFill>
          <a:ln w="9525">
            <a:solidFill>
              <a:srgbClr val="D5DAE1"/>
            </a:solidFill>
            <a:prstDash val="solid"/>
          </a:ln>
        </p:spPr>
      </p:sp>
      <p:sp>
        <p:nvSpPr>
          <p:cNvPr id="18" name="Text 16"/>
          <p:cNvSpPr/>
          <p:nvPr/>
        </p:nvSpPr>
        <p:spPr>
          <a:xfrm>
            <a:off x="1847088" y="3108960"/>
            <a:ext cx="1280160" cy="402336"/>
          </a:xfrm>
          <a:prstGeom prst="rect">
            <a:avLst/>
          </a:prstGeom>
          <a:noFill/>
          <a:ln/>
        </p:spPr>
        <p:txBody>
          <a:bodyPr wrap="square" lIns="254" tIns="254" rIns="254" bIns="254" rtlCol="0" anchor="ctr"/>
          <a:lstStyle/>
          <a:p>
            <a:pPr algn="ctr" indent="0" marL="0">
              <a:buNone/>
            </a:pPr>
            <a:r>
              <a:rPr lang="en-US" sz="760" b="1" spc="40" kern="0" dirty="0">
                <a:solidFill>
                  <a:srgbClr val="2B303A"/>
                </a:solidFill>
                <a:latin typeface="Inter" pitchFamily="34" charset="0"/>
                <a:ea typeface="Inter" pitchFamily="34" charset="-122"/>
                <a:cs typeface="Inter" pitchFamily="34" charset="-120"/>
              </a:rPr>
              <a:t>MVP</a:t>
            </a:r>
            <a:endParaRPr lang="en-US" sz="760" dirty="0"/>
          </a:p>
        </p:txBody>
      </p:sp>
      <p:sp>
        <p:nvSpPr>
          <p:cNvPr id="19" name="Shape 17"/>
          <p:cNvSpPr/>
          <p:nvPr/>
        </p:nvSpPr>
        <p:spPr>
          <a:xfrm>
            <a:off x="3127248" y="3310128"/>
            <a:ext cx="109728" cy="0"/>
          </a:xfrm>
          <a:prstGeom prst="line">
            <a:avLst/>
          </a:prstGeom>
          <a:noFill/>
          <a:ln w="12700">
            <a:solidFill>
              <a:srgbClr val="AEB6C0"/>
            </a:solidFill>
            <a:prstDash val="solid"/>
            <a:tailEnd type="triangle"/>
          </a:ln>
        </p:spPr>
      </p:sp>
      <p:sp>
        <p:nvSpPr>
          <p:cNvPr id="20" name="Shape 18"/>
          <p:cNvSpPr/>
          <p:nvPr/>
        </p:nvSpPr>
        <p:spPr>
          <a:xfrm>
            <a:off x="3236976" y="3108960"/>
            <a:ext cx="1280160" cy="402336"/>
          </a:xfrm>
          <a:prstGeom prst="rect">
            <a:avLst/>
          </a:prstGeom>
          <a:solidFill>
            <a:srgbClr val="F4F6F8"/>
          </a:solidFill>
          <a:ln w="9525">
            <a:solidFill>
              <a:srgbClr val="D5DAE1"/>
            </a:solidFill>
            <a:prstDash val="solid"/>
          </a:ln>
        </p:spPr>
      </p:sp>
      <p:sp>
        <p:nvSpPr>
          <p:cNvPr id="21" name="Text 19"/>
          <p:cNvSpPr/>
          <p:nvPr/>
        </p:nvSpPr>
        <p:spPr>
          <a:xfrm>
            <a:off x="3236976" y="3108960"/>
            <a:ext cx="1280160" cy="402336"/>
          </a:xfrm>
          <a:prstGeom prst="rect">
            <a:avLst/>
          </a:prstGeom>
          <a:noFill/>
          <a:ln/>
        </p:spPr>
        <p:txBody>
          <a:bodyPr wrap="square" lIns="254" tIns="254" rIns="254" bIns="254" rtlCol="0" anchor="ctr"/>
          <a:lstStyle/>
          <a:p>
            <a:pPr algn="ctr" indent="0" marL="0">
              <a:buNone/>
            </a:pPr>
            <a:r>
              <a:rPr lang="en-US" sz="760" b="1" spc="40" kern="0" dirty="0">
                <a:solidFill>
                  <a:srgbClr val="2B303A"/>
                </a:solidFill>
                <a:latin typeface="Inter" pitchFamily="34" charset="0"/>
                <a:ea typeface="Inter" pitchFamily="34" charset="-122"/>
                <a:cs typeface="Inter" pitchFamily="34" charset="-120"/>
              </a:rPr>
              <a:t>ALPHA</a:t>
            </a:r>
            <a:endParaRPr lang="en-US" sz="760" dirty="0"/>
          </a:p>
        </p:txBody>
      </p:sp>
      <p:sp>
        <p:nvSpPr>
          <p:cNvPr id="22" name="Shape 20"/>
          <p:cNvSpPr/>
          <p:nvPr/>
        </p:nvSpPr>
        <p:spPr>
          <a:xfrm>
            <a:off x="4517136" y="3310128"/>
            <a:ext cx="109728" cy="0"/>
          </a:xfrm>
          <a:prstGeom prst="line">
            <a:avLst/>
          </a:prstGeom>
          <a:noFill/>
          <a:ln w="12700">
            <a:solidFill>
              <a:srgbClr val="AEB6C0"/>
            </a:solidFill>
            <a:prstDash val="solid"/>
            <a:tailEnd type="triangle"/>
          </a:ln>
        </p:spPr>
      </p:sp>
      <p:sp>
        <p:nvSpPr>
          <p:cNvPr id="23" name="Shape 21"/>
          <p:cNvSpPr/>
          <p:nvPr/>
        </p:nvSpPr>
        <p:spPr>
          <a:xfrm>
            <a:off x="4626864" y="3108960"/>
            <a:ext cx="1280160" cy="402336"/>
          </a:xfrm>
          <a:prstGeom prst="rect">
            <a:avLst/>
          </a:prstGeom>
          <a:solidFill>
            <a:srgbClr val="F4F6F8"/>
          </a:solidFill>
          <a:ln w="9525">
            <a:solidFill>
              <a:srgbClr val="D5DAE1"/>
            </a:solidFill>
            <a:prstDash val="solid"/>
          </a:ln>
        </p:spPr>
      </p:sp>
      <p:sp>
        <p:nvSpPr>
          <p:cNvPr id="24" name="Text 22"/>
          <p:cNvSpPr/>
          <p:nvPr/>
        </p:nvSpPr>
        <p:spPr>
          <a:xfrm>
            <a:off x="4626864" y="3108960"/>
            <a:ext cx="1280160" cy="402336"/>
          </a:xfrm>
          <a:prstGeom prst="rect">
            <a:avLst/>
          </a:prstGeom>
          <a:noFill/>
          <a:ln/>
        </p:spPr>
        <p:txBody>
          <a:bodyPr wrap="square" lIns="254" tIns="254" rIns="254" bIns="254" rtlCol="0" anchor="ctr"/>
          <a:lstStyle/>
          <a:p>
            <a:pPr algn="ctr" indent="0" marL="0">
              <a:buNone/>
            </a:pPr>
            <a:r>
              <a:rPr lang="en-US" sz="760" b="1" spc="40" kern="0" dirty="0">
                <a:solidFill>
                  <a:srgbClr val="2B303A"/>
                </a:solidFill>
                <a:latin typeface="Inter" pitchFamily="34" charset="0"/>
                <a:ea typeface="Inter" pitchFamily="34" charset="-122"/>
                <a:cs typeface="Inter" pitchFamily="34" charset="-120"/>
              </a:rPr>
              <a:t>200+ BETA</a:t>
            </a:r>
            <a:endParaRPr lang="en-US" sz="760" dirty="0"/>
          </a:p>
        </p:txBody>
      </p:sp>
      <p:sp>
        <p:nvSpPr>
          <p:cNvPr id="25" name="Shape 23"/>
          <p:cNvSpPr/>
          <p:nvPr/>
        </p:nvSpPr>
        <p:spPr>
          <a:xfrm>
            <a:off x="5907024" y="3310128"/>
            <a:ext cx="109728" cy="0"/>
          </a:xfrm>
          <a:prstGeom prst="line">
            <a:avLst/>
          </a:prstGeom>
          <a:noFill/>
          <a:ln w="12700">
            <a:solidFill>
              <a:srgbClr val="AEB6C0"/>
            </a:solidFill>
            <a:prstDash val="solid"/>
            <a:tailEnd type="triangle"/>
          </a:ln>
        </p:spPr>
      </p:sp>
      <p:sp>
        <p:nvSpPr>
          <p:cNvPr id="26" name="Shape 24"/>
          <p:cNvSpPr/>
          <p:nvPr/>
        </p:nvSpPr>
        <p:spPr>
          <a:xfrm>
            <a:off x="6016752" y="3108960"/>
            <a:ext cx="1280160" cy="402336"/>
          </a:xfrm>
          <a:prstGeom prst="rect">
            <a:avLst/>
          </a:prstGeom>
          <a:solidFill>
            <a:srgbClr val="F4F6F8"/>
          </a:solidFill>
          <a:ln w="9525">
            <a:solidFill>
              <a:srgbClr val="D5DAE1"/>
            </a:solidFill>
            <a:prstDash val="solid"/>
          </a:ln>
        </p:spPr>
      </p:sp>
      <p:sp>
        <p:nvSpPr>
          <p:cNvPr id="27" name="Text 25"/>
          <p:cNvSpPr/>
          <p:nvPr/>
        </p:nvSpPr>
        <p:spPr>
          <a:xfrm>
            <a:off x="6016752" y="3108960"/>
            <a:ext cx="1280160" cy="402336"/>
          </a:xfrm>
          <a:prstGeom prst="rect">
            <a:avLst/>
          </a:prstGeom>
          <a:noFill/>
          <a:ln/>
        </p:spPr>
        <p:txBody>
          <a:bodyPr wrap="square" lIns="254" tIns="254" rIns="254" bIns="254" rtlCol="0" anchor="ctr"/>
          <a:lstStyle/>
          <a:p>
            <a:pPr algn="ctr" indent="0" marL="0">
              <a:buNone/>
            </a:pPr>
            <a:r>
              <a:rPr lang="en-US" sz="760" b="1" spc="40" kern="0" dirty="0">
                <a:solidFill>
                  <a:srgbClr val="2B303A"/>
                </a:solidFill>
                <a:latin typeface="Inter" pitchFamily="34" charset="0"/>
                <a:ea typeface="Inter" pitchFamily="34" charset="-122"/>
                <a:cs typeface="Inter" pitchFamily="34" charset="-120"/>
              </a:rPr>
              <a:t>SEBI SANDBOX</a:t>
            </a:r>
            <a:endParaRPr lang="en-US" sz="760" dirty="0"/>
          </a:p>
        </p:txBody>
      </p:sp>
      <p:sp>
        <p:nvSpPr>
          <p:cNvPr id="28" name="Shape 26"/>
          <p:cNvSpPr/>
          <p:nvPr/>
        </p:nvSpPr>
        <p:spPr>
          <a:xfrm>
            <a:off x="7296912" y="3310128"/>
            <a:ext cx="109728" cy="0"/>
          </a:xfrm>
          <a:prstGeom prst="line">
            <a:avLst/>
          </a:prstGeom>
          <a:noFill/>
          <a:ln w="12700">
            <a:solidFill>
              <a:srgbClr val="AEB6C0"/>
            </a:solidFill>
            <a:prstDash val="solid"/>
            <a:tailEnd type="triangle"/>
          </a:ln>
        </p:spPr>
      </p:sp>
      <p:sp>
        <p:nvSpPr>
          <p:cNvPr id="29" name="Shape 27"/>
          <p:cNvSpPr/>
          <p:nvPr/>
        </p:nvSpPr>
        <p:spPr>
          <a:xfrm>
            <a:off x="7406640" y="3108960"/>
            <a:ext cx="1280160" cy="402336"/>
          </a:xfrm>
          <a:prstGeom prst="rect">
            <a:avLst/>
          </a:prstGeom>
          <a:solidFill>
            <a:srgbClr val="EAF1F3"/>
          </a:solidFill>
          <a:ln w="12700">
            <a:solidFill>
              <a:srgbClr val="2E7D8F"/>
            </a:solidFill>
            <a:prstDash val="solid"/>
          </a:ln>
        </p:spPr>
      </p:sp>
      <p:sp>
        <p:nvSpPr>
          <p:cNvPr id="30" name="Text 28"/>
          <p:cNvSpPr/>
          <p:nvPr/>
        </p:nvSpPr>
        <p:spPr>
          <a:xfrm>
            <a:off x="7406640" y="3108960"/>
            <a:ext cx="1280160" cy="402336"/>
          </a:xfrm>
          <a:prstGeom prst="rect">
            <a:avLst/>
          </a:prstGeom>
          <a:noFill/>
          <a:ln/>
        </p:spPr>
        <p:txBody>
          <a:bodyPr wrap="square" lIns="254" tIns="254" rIns="254" bIns="254" rtlCol="0" anchor="ctr"/>
          <a:lstStyle/>
          <a:p>
            <a:pPr algn="ctr" indent="0" marL="0">
              <a:buNone/>
            </a:pPr>
            <a:r>
              <a:rPr lang="en-US" sz="760" b="1" spc="40" kern="0" dirty="0">
                <a:solidFill>
                  <a:srgbClr val="1B3A5C"/>
                </a:solidFill>
                <a:latin typeface="Inter" pitchFamily="34" charset="0"/>
                <a:ea typeface="Inter" pitchFamily="34" charset="-122"/>
                <a:cs typeface="Inter" pitchFamily="34" charset="-120"/>
              </a:rPr>
              <a:t>SCALE</a:t>
            </a:r>
            <a:endParaRPr lang="en-US" sz="760" dirty="0"/>
          </a:p>
        </p:txBody>
      </p:sp>
      <p:sp>
        <p:nvSpPr>
          <p:cNvPr id="31" name="Text 29"/>
          <p:cNvSpPr/>
          <p:nvPr/>
        </p:nvSpPr>
        <p:spPr>
          <a:xfrm>
            <a:off x="457200" y="3840480"/>
            <a:ext cx="8229600" cy="457200"/>
          </a:xfrm>
          <a:prstGeom prst="rect">
            <a:avLst/>
          </a:prstGeom>
          <a:noFill/>
          <a:ln/>
        </p:spPr>
        <p:txBody>
          <a:bodyPr wrap="square" lIns="0" tIns="0" rIns="0" bIns="0" rtlCol="0" anchor="ctr"/>
          <a:lstStyle/>
          <a:p>
            <a:pPr algn="ctr" indent="0" marL="0">
              <a:buNone/>
            </a:pPr>
            <a:r>
              <a:rPr lang="en-US" sz="1900" i="1" dirty="0">
                <a:solidFill>
                  <a:srgbClr val="1B3A5C"/>
                </a:solidFill>
                <a:latin typeface="Inter" pitchFamily="34" charset="0"/>
                <a:ea typeface="Inter" pitchFamily="34" charset="-122"/>
                <a:cs typeface="Inter" pitchFamily="34" charset="-120"/>
              </a:rPr>
              <a:t>“From zero savings to the first informed SIP.”</a:t>
            </a:r>
            <a:endParaRPr lang="en-US" sz="1900" dirty="0"/>
          </a:p>
        </p:txBody>
      </p:sp>
      <p:sp>
        <p:nvSpPr>
          <p:cNvPr id="32" name="Text 30"/>
          <p:cNvSpPr/>
          <p:nvPr/>
        </p:nvSpPr>
        <p:spPr>
          <a:xfrm>
            <a:off x="457200" y="4777740"/>
            <a:ext cx="5486400" cy="201168"/>
          </a:xfrm>
          <a:prstGeom prst="rect">
            <a:avLst/>
          </a:prstGeom>
          <a:noFill/>
          <a:ln/>
        </p:spPr>
        <p:txBody>
          <a:bodyPr wrap="square" lIns="0" tIns="0" rIns="0" bIns="0" rtlCol="0" anchor="ctr"/>
          <a:lstStyle/>
          <a:p>
            <a:pPr indent="0" marL="0">
              <a:buNone/>
            </a:pPr>
            <a:r>
              <a:rPr lang="en-US" sz="800" spc="120" kern="0" dirty="0">
                <a:solidFill>
                  <a:srgbClr val="9BA3AE"/>
                </a:solidFill>
                <a:latin typeface="Inter" pitchFamily="34" charset="0"/>
                <a:ea typeface="Inter" pitchFamily="34" charset="-122"/>
                <a:cs typeface="Inter" pitchFamily="34" charset="-120"/>
              </a:rPr>
              <a:t>FINPATH INDIA  ·  TECHNICAL ARCHITECTURE</a:t>
            </a:r>
            <a:endParaRPr lang="en-US" sz="800" dirty="0"/>
          </a:p>
        </p:txBody>
      </p:sp>
      <p:sp>
        <p:nvSpPr>
          <p:cNvPr id="33" name="Text 31"/>
          <p:cNvSpPr/>
          <p:nvPr/>
        </p:nvSpPr>
        <p:spPr>
          <a:xfrm>
            <a:off x="8138160" y="4777740"/>
            <a:ext cx="548640" cy="201168"/>
          </a:xfrm>
          <a:prstGeom prst="rect">
            <a:avLst/>
          </a:prstGeom>
          <a:noFill/>
          <a:ln/>
        </p:spPr>
        <p:txBody>
          <a:bodyPr wrap="square" lIns="0" tIns="0" rIns="0" bIns="0" rtlCol="0" anchor="ctr"/>
          <a:lstStyle/>
          <a:p>
            <a:pPr algn="r" indent="0" marL="0">
              <a:buNone/>
            </a:pPr>
            <a:r>
              <a:rPr lang="en-US" sz="800" dirty="0">
                <a:solidFill>
                  <a:srgbClr val="9BA3AE"/>
                </a:solidFill>
                <a:latin typeface="Inter" pitchFamily="34" charset="0"/>
                <a:ea typeface="Inter" pitchFamily="34" charset="-122"/>
                <a:cs typeface="Inter" pitchFamily="34" charset="-120"/>
              </a:rPr>
              <a:t>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2026-08-25T20:10:15Z</dcterms:created>
  <dcterms:modified xsi:type="dcterms:W3CDTF">2026-08-25T20:10:15Z</dcterms:modified>
</cp:coreProperties>
</file>